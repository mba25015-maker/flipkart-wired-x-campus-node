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.dat" ContentType="application/x-fontdata"/>
  <Override PartName="/ppt/fonts/font2.dat" ContentType="application/x-fontdata"/>
  <Override PartName="/ppt/fonts/font3.dat" ContentType="application/x-fontdata"/>
  <Override PartName="/ppt/fonts/font4.dat" ContentType="application/x-fontdata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624b2527f63f4439" Type="http://schemas.openxmlformats.org/officeDocument/2006/relationships/officeDocument" Target="ppt/presentation.xml"/><Relationship Id="Rcfb5e924296a43f1" Type="http://schemas.openxmlformats.org/officeDocument/2006/relationships/extended-properties" Target="docProps/app.xml"/><Relationship Id="Rd544924a56814263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73f97300c1b4ed0"/>
  </p:sldMasterIdLst>
  <p:notesMasterIdLst>
    <p:notesMasterId xmlns:r="http://schemas.openxmlformats.org/officeDocument/2006/relationships" r:id="R1fd1eda699684b4a"/>
  </p:notesMasterIdLst>
  <p:sldIdLst>
    <p:sldId xmlns:r="http://schemas.openxmlformats.org/officeDocument/2006/relationships" id="256" r:id="R950497376459471f"/>
    <p:sldId xmlns:r="http://schemas.openxmlformats.org/officeDocument/2006/relationships" id="257" r:id="R59e3f7ae940b40d9"/>
    <p:sldId xmlns:r="http://schemas.openxmlformats.org/officeDocument/2006/relationships" id="258" r:id="Re41c6328ab7948b3"/>
    <p:sldId xmlns:r="http://schemas.openxmlformats.org/officeDocument/2006/relationships" id="259" r:id="Rac6e8afc66df4884"/>
    <p:sldId xmlns:r="http://schemas.openxmlformats.org/officeDocument/2006/relationships" id="260" r:id="R06bfe99f1ae44268"/>
    <p:sldId xmlns:r="http://schemas.openxmlformats.org/officeDocument/2006/relationships" id="261" r:id="R6eb13eddd65b415f"/>
    <p:sldId xmlns:r="http://schemas.openxmlformats.org/officeDocument/2006/relationships" id="262" r:id="Rc88a835ff6fd40fd"/>
    <p:sldId xmlns:r="http://schemas.openxmlformats.org/officeDocument/2006/relationships" id="263" r:id="R31bf2ae9929640e7"/>
    <p:sldId xmlns:r="http://schemas.openxmlformats.org/officeDocument/2006/relationships" id="264" r:id="R8368bbac88ce40c1"/>
    <p:sldId xmlns:r="http://schemas.openxmlformats.org/officeDocument/2006/relationships" id="265" r:id="Rc1c06d237ddb4fc2"/>
    <p:sldId xmlns:r="http://schemas.openxmlformats.org/officeDocument/2006/relationships" id="266" r:id="R4c51325a2bd049ea"/>
    <p:sldId xmlns:r="http://schemas.openxmlformats.org/officeDocument/2006/relationships" id="267" r:id="Rb7e9d95a82cd47de"/>
    <p:sldId xmlns:r="http://schemas.openxmlformats.org/officeDocument/2006/relationships" id="268" r:id="R76888d314ddf4dd4"/>
    <p:sldId xmlns:r="http://schemas.openxmlformats.org/officeDocument/2006/relationships" id="269" r:id="R7c34843662994098"/>
    <p:sldId xmlns:r="http://schemas.openxmlformats.org/officeDocument/2006/relationships" id="270" r:id="Rd942e0b0a5a04a59"/>
    <p:sldId xmlns:r="http://schemas.openxmlformats.org/officeDocument/2006/relationships" id="271" r:id="Rbc0786e91c674e1a"/>
    <p:sldId xmlns:r="http://schemas.openxmlformats.org/officeDocument/2006/relationships" id="272" r:id="R778e7712981641df"/>
    <p:sldId xmlns:r="http://schemas.openxmlformats.org/officeDocument/2006/relationships" id="273" r:id="R68dc9715c04141e6"/>
    <p:sldId xmlns:r="http://schemas.openxmlformats.org/officeDocument/2006/relationships" id="274" r:id="R1d4eb185c30f4e10"/>
    <p:sldId xmlns:r="http://schemas.openxmlformats.org/officeDocument/2006/relationships" id="275" r:id="R4710e835c8e843b9"/>
    <p:sldId xmlns:r="http://schemas.openxmlformats.org/officeDocument/2006/relationships" id="276" r:id="R1cbc58ffbe5a40fd"/>
    <p:sldId xmlns:r="http://schemas.openxmlformats.org/officeDocument/2006/relationships" id="277" r:id="Rd4ae90bcbe6b4853"/>
    <p:sldId xmlns:r="http://schemas.openxmlformats.org/officeDocument/2006/relationships" id="278" r:id="R2890fe8e925840d2"/>
  </p:sldIdLst>
  <p:sldSz cx="9144000" cy="5143500"/>
  <p:notesSz cx="6858000" cy="9144000"/>
  <p:embeddedFontLst>
    <p:embeddedFont>
      <p:font typeface="Inter"/>
      <p:regular xmlns:r="http://schemas.openxmlformats.org/officeDocument/2006/relationships" r:id="R750b393e811a4bb1"/>
      <p:bold xmlns:r="http://schemas.openxmlformats.org/officeDocument/2006/relationships" r:id="R8cbca0f3357747b3"/>
      <p:italic xmlns:r="http://schemas.openxmlformats.org/officeDocument/2006/relationships" r:id="R28ffd07e39494d9f"/>
      <p:boldItalic xmlns:r="http://schemas.openxmlformats.org/officeDocument/2006/relationships" r:id="Rd1b9e86fac9041d6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6bfe99f1ae44268" Type="http://schemas.openxmlformats.org/officeDocument/2006/relationships/slide" Target="slides/slide5.xml"/><Relationship Id="R1cbc58ffbe5a40fd" Type="http://schemas.openxmlformats.org/officeDocument/2006/relationships/slide" Target="slides/slide21.xml"/><Relationship Id="R1d4eb185c30f4e10" Type="http://schemas.openxmlformats.org/officeDocument/2006/relationships/slide" Target="slides/slide19.xml"/><Relationship Id="R1fd1eda699684b4a" Type="http://schemas.openxmlformats.org/officeDocument/2006/relationships/notesMaster" Target="notesMasters/notesMaster1.xml"/><Relationship Id="R2890fe8e925840d2" Type="http://schemas.openxmlformats.org/officeDocument/2006/relationships/slide" Target="slides/slide23.xml"/><Relationship Id="R28ffd07e39494d9f" Type="http://schemas.openxmlformats.org/officeDocument/2006/relationships/font" Target="fonts/font3.dat"/><Relationship Id="R31bf2ae9929640e7" Type="http://schemas.openxmlformats.org/officeDocument/2006/relationships/slide" Target="slides/slide8.xml"/><Relationship Id="R4710e835c8e843b9" Type="http://schemas.openxmlformats.org/officeDocument/2006/relationships/slide" Target="slides/slide20.xml"/><Relationship Id="R473f97300c1b4ed0" Type="http://schemas.openxmlformats.org/officeDocument/2006/relationships/slideMaster" Target="slideMasters/slideMaster1.xml"/><Relationship Id="R494009cfe8394e74" Type="http://schemas.openxmlformats.org/officeDocument/2006/relationships/presProps" Target="presProps.xml"/><Relationship Id="R4c51325a2bd049ea" Type="http://schemas.openxmlformats.org/officeDocument/2006/relationships/slide" Target="slides/slide11.xml"/><Relationship Id="R59e3f7ae940b40d9" Type="http://schemas.openxmlformats.org/officeDocument/2006/relationships/slide" Target="slides/slide2.xml"/><Relationship Id="R6792b4db4d014c18" Type="http://schemas.openxmlformats.org/officeDocument/2006/relationships/viewProps" Target="viewProps.xml"/><Relationship Id="R68dc9715c04141e6" Type="http://schemas.openxmlformats.org/officeDocument/2006/relationships/slide" Target="slides/slide18.xml"/><Relationship Id="R6eb13eddd65b415f" Type="http://schemas.openxmlformats.org/officeDocument/2006/relationships/slide" Target="slides/slide6.xml"/><Relationship Id="R750b393e811a4bb1" Type="http://schemas.openxmlformats.org/officeDocument/2006/relationships/font" Target="fonts/font.dat"/><Relationship Id="R76888d314ddf4dd4" Type="http://schemas.openxmlformats.org/officeDocument/2006/relationships/slide" Target="slides/slide13.xml"/><Relationship Id="R778e7712981641df" Type="http://schemas.openxmlformats.org/officeDocument/2006/relationships/slide" Target="slides/slide17.xml"/><Relationship Id="R79976254a79a4f3b" Type="http://schemas.openxmlformats.org/officeDocument/2006/relationships/theme" Target="theme/theme1.xml"/><Relationship Id="R7c34843662994098" Type="http://schemas.openxmlformats.org/officeDocument/2006/relationships/slide" Target="slides/slide14.xml"/><Relationship Id="R8368bbac88ce40c1" Type="http://schemas.openxmlformats.org/officeDocument/2006/relationships/slide" Target="slides/slide9.xml"/><Relationship Id="R8cbca0f3357747b3" Type="http://schemas.openxmlformats.org/officeDocument/2006/relationships/font" Target="fonts/font2.dat"/><Relationship Id="R950497376459471f" Type="http://schemas.openxmlformats.org/officeDocument/2006/relationships/slide" Target="slides/slide1.xml"/><Relationship Id="Rac6e8afc66df4884" Type="http://schemas.openxmlformats.org/officeDocument/2006/relationships/slide" Target="slides/slide4.xml"/><Relationship Id="Rb002771ffa3740ef" Type="http://schemas.openxmlformats.org/officeDocument/2006/relationships/tableStyles" Target="tableStyles.xml"/><Relationship Id="Rb7e9d95a82cd47de" Type="http://schemas.openxmlformats.org/officeDocument/2006/relationships/slide" Target="slides/slide12.xml"/><Relationship Id="Rbc0786e91c674e1a" Type="http://schemas.openxmlformats.org/officeDocument/2006/relationships/slide" Target="slides/slide16.xml"/><Relationship Id="Rc1c06d237ddb4fc2" Type="http://schemas.openxmlformats.org/officeDocument/2006/relationships/slide" Target="slides/slide10.xml"/><Relationship Id="Rc88a835ff6fd40fd" Type="http://schemas.openxmlformats.org/officeDocument/2006/relationships/slide" Target="slides/slide7.xml"/><Relationship Id="Rd1b9e86fac9041d6" Type="http://schemas.openxmlformats.org/officeDocument/2006/relationships/font" Target="fonts/font4.dat"/><Relationship Id="Rd4ae90bcbe6b4853" Type="http://schemas.openxmlformats.org/officeDocument/2006/relationships/slide" Target="slides/slide22.xml"/><Relationship Id="Rd942e0b0a5a04a59" Type="http://schemas.openxmlformats.org/officeDocument/2006/relationships/slide" Target="slides/slide15.xml"/><Relationship Id="Re41c6328ab7948b3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c6dbe02f61544704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ebcda5918954f2a" Type="http://schemas.openxmlformats.org/officeDocument/2006/relationships/notesMaster" Target="../notesMasters/notesMaster1.xml"/><Relationship Id="Raf5898e083b24f7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83f02e0af8d64b2b" Type="http://schemas.openxmlformats.org/officeDocument/2006/relationships/notesMaster" Target="../notesMasters/notesMaster1.xml"/><Relationship Id="Ra789dd760b0e44f8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08dc83b6b7564ddf" Type="http://schemas.openxmlformats.org/officeDocument/2006/relationships/slide" Target="../slides/slide3.xml"/><Relationship Id="Rca193faf1f864ea9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6443a3f9aa7549b3" Type="http://schemas.openxmlformats.org/officeDocument/2006/relationships/notesMaster" Target="../notesMasters/notesMaster1.xml"/><Relationship Id="Rd6e62aeb620f4c00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c32a5fd33e345d0" Type="http://schemas.openxmlformats.org/officeDocument/2006/relationships/slide" Target="../slides/slide5.xml"/><Relationship Id="Rb8f566068a2e476c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113e5410d4064541" Type="http://schemas.openxmlformats.org/officeDocument/2006/relationships/notesMaster" Target="../notesMasters/notesMaster1.xml"/><Relationship Id="Rc960f157be65402e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71770ab824354693" Type="http://schemas.openxmlformats.org/officeDocument/2006/relationships/slide" Target="../slides/slide7.xml"/><Relationship Id="Rf8d335ec1d81470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13e1291e31154b91" Type="http://schemas.openxmlformats.org/officeDocument/2006/relationships/slide" Target="../slides/slide8.xml"/><Relationship Id="R5b005a4a5a10400e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6cc6a1f049704960" Type="http://schemas.openxmlformats.org/officeDocument/2006/relationships/notesMaster" Target="../notesMasters/notesMaster1.xml"/><Relationship Id="R9b4a9bb6c4a04f99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64c7ae5fe7894638" Type="http://schemas.openxmlformats.org/officeDocument/2006/relationships/notesMaster" Target="../notesMasters/notesMaster1.xml"/><Relationship Id="R9b898c74029b4414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c46f140b47f9416c" Type="http://schemas.openxmlformats.org/officeDocument/2006/relationships/notesMaster" Target="../notesMasters/notesMaster1.xml"/><Relationship Id="Rd87059ff9a1841a8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5325a8b180264bdc" Type="http://schemas.openxmlformats.org/officeDocument/2006/relationships/notesMaster" Target="../notesMasters/notesMaster1.xml"/><Relationship Id="R7b6459c22a1b41b9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8c411c141a7e418d" Type="http://schemas.openxmlformats.org/officeDocument/2006/relationships/notesMaster" Target="../notesMasters/notesMaster1.xml"/><Relationship Id="Ra304c237765f4e97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5d95983d36064491" Type="http://schemas.openxmlformats.org/officeDocument/2006/relationships/slide" Target="../slides/slide14.xml"/><Relationship Id="R6598d1cb9d8446a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85d48364dba4423e" Type="http://schemas.openxmlformats.org/officeDocument/2006/relationships/slide" Target="../slides/slide15.xml"/><Relationship Id="R9c45f27d8d0b40c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9e4282a95a624969" Type="http://schemas.openxmlformats.org/officeDocument/2006/relationships/notesMaster" Target="../notesMasters/notesMaster1.xml"/><Relationship Id="Rc1f3b49d646a4266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b97218054070405e" Type="http://schemas.openxmlformats.org/officeDocument/2006/relationships/notesMaster" Target="../notesMasters/notesMaster1.xml"/><Relationship Id="Rd0f114101c114c1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cb914874fc4e4358" Type="http://schemas.openxmlformats.org/officeDocument/2006/relationships/notesMaster" Target="../notesMasters/notesMaster1.xml"/><Relationship Id="Re141c428a8bd4e9f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1852bab2dd4a4704" Type="http://schemas.openxmlformats.org/officeDocument/2006/relationships/slide" Target="../slides/slide19.xml"/><Relationship Id="R29372caf9108412e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a2f79c66ec3f45ae" Type="http://schemas.openxmlformats.org/officeDocument/2006/relationships/slide" Target="../slides/slide20.xml"/><Relationship Id="Rafa6b45d7d8e424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7930aeee50b64260" Type="http://schemas.openxmlformats.org/officeDocument/2006/relationships/slide" Target="../slides/slide21.xml"/><Relationship Id="Rd675b7dc154d4a7d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2905d15441a54399" Type="http://schemas.openxmlformats.org/officeDocument/2006/relationships/notesMaster" Target="../notesMasters/notesMaster1.xml"/><Relationship Id="R707bb2cdd55c44d3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3af046e62322462b" Type="http://schemas.openxmlformats.org/officeDocument/2006/relationships/notesMaster" Target="../notesMasters/notesMaster1.xml"/><Relationship Id="R502ec752c6df4e64" Type="http://schemas.openxmlformats.org/officeDocument/2006/relationships/slide" Target="../slides/slide23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01734be575f84486" Type="http://schemas.openxmlformats.org/officeDocument/2006/relationships/image" Target="../media/image2.png"/><Relationship Id="R95cdaec53fe44673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8fba7334cd214c3b" Type="http://schemas.openxmlformats.org/officeDocument/2006/relationships/slideMaster" Target="../slideMasters/slideMaster1.xml"/><Relationship Id="R8fedf5d8c4dc452e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00f7c12091e043b0" Type="http://schemas.openxmlformats.org/officeDocument/2006/relationships/slideMaster" Target="../slideMasters/slideMaster1.xml"/><Relationship Id="R146ccba106874f77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4ad4b824114c4e62" Type="http://schemas.openxmlformats.org/officeDocument/2006/relationships/image" Target="../media/image5.png"/><Relationship Id="Rd3da43d48ea94ab7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9a167d0dee324ab2" Type="http://schemas.openxmlformats.org/officeDocument/2006/relationships/image" Target="../media/image6.png"/><Relationship Id="Rc81a1f679a4841e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matchingName="Title and two columns">
  <p:cSld name="TITLE_AND_TWO_COLUMNS">
    <p:bg>
      <p:bgPr>
        <a:blipFill xmlns:a="http://schemas.openxmlformats.org/drawingml/2006/main">
          <a:blip xmlns:r="http://schemas.openxmlformats.org/officeDocument/2006/relationships" r:embed="R01734be575f84486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5">
            <a:extLst xmlns:a="http://schemas.openxmlformats.org/drawingml/2006/main">
              <a:ext uri="{FF2B5EF4-FFF2-40B4-BE49-F238E27FC236}">
                <a16:creationId xmlns:a16="http://schemas.microsoft.com/office/drawing/2014/main" id="{6E406217-5831-4786-942B-AADE860AA6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62225" y="471250"/>
            <a:ext cx="63732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300"/>
              <a:buFont typeface="Inter"/>
              <a:buChar char="●"/>
              <a:defRPr sz="2300" b="1">
                <a:latin typeface="Inter"/>
                <a:ea typeface="Inter"/>
                <a:cs typeface="Inter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 b="1"/>
            </a:lvl2pPr>
            <a:lvl3pPr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 b="1"/>
            </a:lvl3pPr>
            <a:lvl4pPr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 b="1"/>
            </a:lvl4pPr>
            <a:lvl5pPr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 b="1"/>
            </a:lvl5pPr>
            <a:lvl6pPr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 b="1"/>
            </a:lvl6pPr>
            <a:lvl7pPr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 b="1"/>
            </a:lvl7pPr>
            <a:lvl8pPr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 b="1"/>
            </a:lvl8pPr>
            <a:lvl9pPr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 b="1"/>
            </a:lvl9pPr>
          </a:lstStyle>
          <a:p xmlns:a="http://schemas.openxmlformats.org/drawingml/2006/main">
            <a:endParaRPr/>
          </a:p>
        </p:txBody>
      </p:sp>
      <p:sp>
        <p:nvSpPr>
          <p:cNvPr id="18" name="Google Shape;18;p5">
            <a:extLst xmlns:a="http://schemas.openxmlformats.org/drawingml/2006/main">
              <a:ext uri="{FF2B5EF4-FFF2-40B4-BE49-F238E27FC236}">
                <a16:creationId xmlns:a16="http://schemas.microsoft.com/office/drawing/2014/main" id="{5A6389D9-691B-49E0-874E-77FF88FF7A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5">
            <a:extLst xmlns:a="http://schemas.openxmlformats.org/drawingml/2006/main">
              <a:ext uri="{FF2B5EF4-FFF2-40B4-BE49-F238E27FC236}">
                <a16:creationId xmlns:a16="http://schemas.microsoft.com/office/drawing/2014/main" id="{89C2E3C8-0EE4-414B-A1E7-ED2796555C1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218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20" name="Google Shape;20;p5">
            <a:extLst xmlns:a="http://schemas.openxmlformats.org/drawingml/2006/main">
              <a:ext uri="{FF2B5EF4-FFF2-40B4-BE49-F238E27FC236}">
                <a16:creationId xmlns:a16="http://schemas.microsoft.com/office/drawing/2014/main" id="{9614B229-782F-4EB3-85DA-17A75DC314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Caption 1">
  <p:cSld name="CAPTION_ONLY_1">
    <p:bg>
      <p:bgPr>
        <a:blipFill xmlns:a="http://schemas.openxmlformats.org/drawingml/2006/main">
          <a:blip xmlns:r="http://schemas.openxmlformats.org/officeDocument/2006/relationships" r:embed="R8fedf5d8c4dc452e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10">
            <a:extLst xmlns:a="http://schemas.openxmlformats.org/drawingml/2006/main">
              <a:ext uri="{FF2B5EF4-FFF2-40B4-BE49-F238E27FC236}">
                <a16:creationId xmlns:a16="http://schemas.microsoft.com/office/drawing/2014/main" id="{0862D5D1-5C03-4966-82F8-C3748895BF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35" name="Google Shape;35;p10">
            <a:extLst xmlns:a="http://schemas.openxmlformats.org/drawingml/2006/main">
              <a:ext uri="{FF2B5EF4-FFF2-40B4-BE49-F238E27FC236}">
                <a16:creationId xmlns:a16="http://schemas.microsoft.com/office/drawing/2014/main" id="{E9590742-154A-4E52-A44E-4EFFA06C91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76475" y="2417100"/>
            <a:ext cx="6648300" cy="120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 sz="2400" b="1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Char char="○"/>
              <a:defRPr sz="3500" b="1"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Char char="■"/>
              <a:defRPr sz="3500" b="1"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Char char="●"/>
              <a:defRPr sz="3500" b="1"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Char char="○"/>
              <a:defRPr sz="3500" b="1"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Char char="■"/>
              <a:defRPr sz="3500" b="1"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Char char="●"/>
              <a:defRPr sz="3500" b="1"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Char char="○"/>
              <a:defRPr sz="3500" b="1"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Char char="■"/>
              <a:defRPr sz="3500" b="1"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Custom Layout 1">
  <p:cSld name="CUSTOM">
    <p:bg>
      <p:bgPr>
        <a:blipFill xmlns:a="http://schemas.openxmlformats.org/drawingml/2006/main">
          <a:blip xmlns:r="http://schemas.openxmlformats.org/officeDocument/2006/relationships" r:embed="R146ccba106874f77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matchingName="Custom Layout 2">
  <p:cSld name="CUSTOM_2">
    <p:bg>
      <p:bgPr>
        <a:blipFill xmlns:a="http://schemas.openxmlformats.org/drawingml/2006/main">
          <a:blip xmlns:r="http://schemas.openxmlformats.org/officeDocument/2006/relationships" r:embed="R4ad4b824114c4e62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3">
            <a:extLst xmlns:a="http://schemas.openxmlformats.org/drawingml/2006/main">
              <a:ext uri="{FF2B5EF4-FFF2-40B4-BE49-F238E27FC236}">
                <a16:creationId xmlns:a16="http://schemas.microsoft.com/office/drawing/2014/main" id="{C03AD1AB-17BB-4E3F-8290-88C2B9BC5D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5475" y="920400"/>
            <a:ext cx="7893000" cy="366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 sz="2400" b="1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Char char="○"/>
              <a:defRPr sz="3500" b="1"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Char char="■"/>
              <a:defRPr sz="3500" b="1"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Char char="●"/>
              <a:defRPr sz="3500" b="1"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Char char="○"/>
              <a:defRPr sz="3500" b="1"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Char char="■"/>
              <a:defRPr sz="3500" b="1"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Char char="●"/>
              <a:defRPr sz="3500" b="1"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Char char="○"/>
              <a:defRPr sz="3500" b="1"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Char char="■"/>
              <a:defRPr sz="3500" b="1"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Custom Layout 3">
  <p:cSld name="CUSTOM_3">
    <p:bg>
      <p:bgPr>
        <a:blipFill xmlns:a="http://schemas.openxmlformats.org/drawingml/2006/main">
          <a:blip xmlns:r="http://schemas.openxmlformats.org/officeDocument/2006/relationships" r:embed="R9a167d0dee324ab2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14">
            <a:extLst xmlns:a="http://schemas.openxmlformats.org/drawingml/2006/main">
              <a:ext uri="{FF2B5EF4-FFF2-40B4-BE49-F238E27FC236}">
                <a16:creationId xmlns:a16="http://schemas.microsoft.com/office/drawing/2014/main" id="{FFDD134B-AD12-4ACD-B448-6F1FE53A8A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5475" y="920400"/>
            <a:ext cx="7893000" cy="366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 b="1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○"/>
              <a:defRPr sz="3500" b="1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■"/>
              <a:defRPr sz="3500" b="1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  <a:defRPr sz="3500" b="1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○"/>
              <a:defRPr sz="3500" b="1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■"/>
              <a:defRPr sz="3500" b="1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  <a:defRPr sz="3500" b="1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○"/>
              <a:defRPr sz="3500" b="1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■"/>
              <a:defRPr sz="3500" b="1"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433d51b5878c4b80" Type="http://schemas.openxmlformats.org/officeDocument/2006/relationships/image" Target="../media/image.png"/><Relationship Id="R768b3221eb054677" Type="http://schemas.openxmlformats.org/officeDocument/2006/relationships/slideLayout" Target="../slideLayouts/slideLayout1.xml"/><Relationship Id="R86d894dba6fd41c7" Type="http://schemas.openxmlformats.org/officeDocument/2006/relationships/slideLayout" Target="../slideLayouts/slideLayout2.xml"/><Relationship Id="R93887714492e46d7" Type="http://schemas.openxmlformats.org/officeDocument/2006/relationships/slideLayout" Target="../slideLayouts/slideLayout5.xml"/><Relationship Id="R974a649873c548c0" Type="http://schemas.openxmlformats.org/officeDocument/2006/relationships/slideLayout" Target="../slideLayouts/slideLayout4.xml"/><Relationship Id="Ra48f4ec733db4dbe" Type="http://schemas.openxmlformats.org/officeDocument/2006/relationships/theme" Target="theme/theme2.xml"/><Relationship Id="Rabd3d149b92b4631" Type="http://schemas.openxmlformats.org/officeDocument/2006/relationships/slideLayout" Target="../slideLayouts/slideLayout3.xml"/></Relationships>
</file>

<file path=ppt/slideMasters/slideMaster1.xml><?xml version="1.0" encoding="utf-8"?>
<p:sldMaster xmlns:p="http://schemas.openxmlformats.org/presentationml/2006/main">
  <p:cSld name="simple-light-2">
    <p:bg>
      <p:bgPr>
        <a:blipFill xmlns:a="http://schemas.openxmlformats.org/drawingml/2006/main">
          <a:blip xmlns:r="http://schemas.openxmlformats.org/officeDocument/2006/relationships" r:embed="R433d51b5878c4b80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07DBE5F-92F5-4BDA-AA84-7F08199EF0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8b3221eb054677"/>
    <p:sldLayoutId xmlns:r="http://schemas.openxmlformats.org/officeDocument/2006/relationships" id="2147483650" r:id="R86d894dba6fd41c7"/>
    <p:sldLayoutId xmlns:r="http://schemas.openxmlformats.org/officeDocument/2006/relationships" id="2147483651" r:id="Rabd3d149b92b4631"/>
    <p:sldLayoutId xmlns:r="http://schemas.openxmlformats.org/officeDocument/2006/relationships" id="2147483652" r:id="R974a649873c548c0"/>
    <p:sldLayoutId xmlns:r="http://schemas.openxmlformats.org/officeDocument/2006/relationships" id="2147483653" r:id="R93887714492e46d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6bff3729cdac48a7" Type="http://schemas.openxmlformats.org/officeDocument/2006/relationships/notesSlide" Target="../notesSlides/notesSlide1.xml"/><Relationship Id="Raecdc49ad6af4d7c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66672559763f4a2a" Type="http://schemas.openxmlformats.org/officeDocument/2006/relationships/notesSlide" Target="../notesSlides/notesSlide2.xml"/><Relationship Id="Rd0c4d5d3b0da45a2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13ee6769d9944acc" Type="http://schemas.openxmlformats.org/officeDocument/2006/relationships/image" Target="../media/image7.png"/><Relationship Id="R94c8de9f8c1d4b6b" Type="http://schemas.openxmlformats.org/officeDocument/2006/relationships/slideLayout" Target="../slideLayouts/slideLayout5.xml"/><Relationship Id="Rcafa53d5070f4423" Type="http://schemas.openxmlformats.org/officeDocument/2006/relationships/notesSlide" Target="../notesSlides/notesSlide3.xml"/><Relationship Id="Rdf7d7cc1e78a457b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2239c4e50cac4512" Type="http://schemas.openxmlformats.org/officeDocument/2006/relationships/image" Target="../media/image9.png"/><Relationship Id="R3132036379ee48f8" Type="http://schemas.openxmlformats.org/officeDocument/2006/relationships/slideLayout" Target="../slideLayouts/slideLayout5.xml"/><Relationship Id="Rba6bcd37d4da473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589844bf0d1e4ac6" Type="http://schemas.openxmlformats.org/officeDocument/2006/relationships/notesSlide" Target="../notesSlides/notesSlide5.xml"/><Relationship Id="R854a8abaff4f4488" Type="http://schemas.openxmlformats.org/officeDocument/2006/relationships/chart" Target="charts/chart1.xml"/><Relationship Id="Rc0837c3f020e45ee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036f69c622ab44f3" Type="http://schemas.openxmlformats.org/officeDocument/2006/relationships/slideLayout" Target="../slideLayouts/slideLayout5.xml"/><Relationship Id="Rb3f1e3cd35d04795" Type="http://schemas.openxmlformats.org/officeDocument/2006/relationships/notesSlide" Target="../notesSlides/notesSlide6.xml"/><Relationship Id="Rfbe0b90d5ee24f07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10e06974d2764905" Type="http://schemas.openxmlformats.org/officeDocument/2006/relationships/slideLayout" Target="../slideLayouts/slideLayout5.xml"/><Relationship Id="R293125d19274460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3b1578931c7d4a1f" Type="http://schemas.openxmlformats.org/officeDocument/2006/relationships/slideLayout" Target="../slideLayouts/slideLayout5.xml"/><Relationship Id="R3d83468df1e14da3" Type="http://schemas.openxmlformats.org/officeDocument/2006/relationships/notesSlide" Target="../notesSlides/notesSlide8.xml"/><Relationship Id="Ra46dc7490a6e4ee3" Type="http://schemas.openxmlformats.org/officeDocument/2006/relationships/image" Target="../media/image11.png"/><Relationship Id="Recc2132ba8b746ac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5ff556df8bd04324" Type="http://schemas.openxmlformats.org/officeDocument/2006/relationships/notesSlide" Target="../notesSlides/notesSlide9.xml"/><Relationship Id="R9f29a99842b943ab" Type="http://schemas.openxmlformats.org/officeDocument/2006/relationships/slideLayout" Target="../slideLayouts/slideLayout5.xml"/><Relationship Id="Rfd17c4bc1b104bb7" Type="http://schemas.openxmlformats.org/officeDocument/2006/relationships/chart" Target="charts/chart2.xml"/></Relationships>
</file>

<file path=ppt/slides/_rels/slide10.xml.rels><?xml version='1.0' encoding='UTF-8' standalone='yes'?>
<Relationships xmlns="http://schemas.openxmlformats.org/package/2006/relationships"><Relationship Id="R4143655c4f3f4105" Type="http://schemas.openxmlformats.org/officeDocument/2006/relationships/slideLayout" Target="../slideLayouts/slideLayout4.xml"/><Relationship Id="Rd01b9ac64e954c8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227613ceada0493c" Type="http://schemas.openxmlformats.org/officeDocument/2006/relationships/notesSlide" Target="../notesSlides/notesSlide11.xml"/><Relationship Id="R769341f0b7904756" Type="http://schemas.openxmlformats.org/officeDocument/2006/relationships/image" Target="../media/image14.png"/><Relationship Id="Ra1e2616657a3469c" Type="http://schemas.openxmlformats.org/officeDocument/2006/relationships/image" Target="../media/image13.png"/><Relationship Id="Rae19f766f0c24cc5" Type="http://schemas.openxmlformats.org/officeDocument/2006/relationships/image" Target="../media/image15.png"/><Relationship Id="Rc857aefb00944efe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63e1115a0a2244d1" Type="http://schemas.openxmlformats.org/officeDocument/2006/relationships/notesSlide" Target="../notesSlides/notesSlide12.xml"/><Relationship Id="Re5fa6b67483a40cb" Type="http://schemas.openxmlformats.org/officeDocument/2006/relationships/slideLayout" Target="../slideLayouts/slideLayout4.xml"/><Relationship Id="Rfc2280ae139e4cea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0f74b71dca6a47de" Type="http://schemas.openxmlformats.org/officeDocument/2006/relationships/notesSlide" Target="../notesSlides/notesSlide13.xml"/><Relationship Id="Rcf8775b770a44819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2b607dc0d0794157" Type="http://schemas.openxmlformats.org/officeDocument/2006/relationships/notesSlide" Target="../notesSlides/notesSlide14.xml"/><Relationship Id="R34b315b34bde4087" Type="http://schemas.openxmlformats.org/officeDocument/2006/relationships/image" Target="../media/image18.png"/><Relationship Id="R9d2b61c87ee44fea" Type="http://schemas.openxmlformats.org/officeDocument/2006/relationships/image" Target="../media/image17.png"/><Relationship Id="Re0f80d8dbb7f44ef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1492fe098a4a4587" Type="http://schemas.openxmlformats.org/officeDocument/2006/relationships/image" Target="../media/image19.png"/><Relationship Id="R4b4a1e17c93e45cf" Type="http://schemas.openxmlformats.org/officeDocument/2006/relationships/notesSlide" Target="../notesSlides/notesSlide15.xml"/><Relationship Id="R5f6c58d970d44d20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15916a3d4b7d40ed" Type="http://schemas.openxmlformats.org/officeDocument/2006/relationships/notesSlide" Target="../notesSlides/notesSlide16.xml"/><Relationship Id="R8a295cd107f94f98" Type="http://schemas.openxmlformats.org/officeDocument/2006/relationships/image" Target="../media/image19.png"/><Relationship Id="R8abcb24c331e4f45" Type="http://schemas.openxmlformats.org/officeDocument/2006/relationships/slideLayout" Target="../slideLayouts/slideLayout4.xml"/><Relationship Id="R91d2e35b5d6c48b6" Type="http://schemas.openxmlformats.org/officeDocument/2006/relationships/chart" Target="charts/chart3.xml"/></Relationships>
</file>

<file path=ppt/slides/_rels/slide17.xml.rels><?xml version='1.0' encoding='UTF-8' standalone='yes'?>
<Relationships xmlns="http://schemas.openxmlformats.org/package/2006/relationships"><Relationship Id="R12bebd26aa824df2" Type="http://schemas.openxmlformats.org/officeDocument/2006/relationships/image" Target="../media/image20.png"/><Relationship Id="R483f786994d043ae" Type="http://schemas.openxmlformats.org/officeDocument/2006/relationships/image" Target="../media/image21.png"/><Relationship Id="R6ce5e089205b446d" Type="http://schemas.openxmlformats.org/officeDocument/2006/relationships/notesSlide" Target="../notesSlides/notesSlide17.xml"/><Relationship Id="Re4d53bf69e3d4726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0afd8317ef5b45a9" Type="http://schemas.openxmlformats.org/officeDocument/2006/relationships/notesSlide" Target="../notesSlides/notesSlide18.xml"/><Relationship Id="R4a84d42d24554fbc" Type="http://schemas.openxmlformats.org/officeDocument/2006/relationships/image" Target="../media/image22.png"/><Relationship Id="Rc1696fe4cf444862" Type="http://schemas.openxmlformats.org/officeDocument/2006/relationships/image" Target="../media/image23.png"/><Relationship Id="Rf9cb4019bba245ed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1da54db68d1b4117" Type="http://schemas.openxmlformats.org/officeDocument/2006/relationships/slideLayout" Target="../slideLayouts/slideLayout4.xml"/><Relationship Id="R386b3af998bc452b" Type="http://schemas.openxmlformats.org/officeDocument/2006/relationships/image" Target="../media/image24.png"/><Relationship Id="Rd9060c1c7d424446" Type="http://schemas.openxmlformats.org/officeDocument/2006/relationships/notesSlide" Target="../notesSlides/notesSlide19.xml"/><Relationship Id="Rea4e22837c064785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8ca25de061504142" Type="http://schemas.openxmlformats.org/officeDocument/2006/relationships/notesSlide" Target="../notesSlides/notesSlide20.xml"/><Relationship Id="R94d3853a545345c2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40f9702f0ca44266" Type="http://schemas.openxmlformats.org/officeDocument/2006/relationships/slideLayout" Target="../slideLayouts/slideLayout4.xml"/><Relationship Id="Rccd6701a84c94b1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6fb309bf8da04fe2" Type="http://schemas.openxmlformats.org/officeDocument/2006/relationships/notesSlide" Target="../notesSlides/notesSlide22.xml"/><Relationship Id="R9108fa247113459b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3efb443966bf4128" Type="http://schemas.openxmlformats.org/officeDocument/2006/relationships/notesSlide" Target="../notesSlides/notesSlide23.xml"/><Relationship Id="Rdeec455596f643c4" Type="http://schemas.openxmlformats.org/officeDocument/2006/relationships/slideLayout" Target="../slideLayouts/slideLayout4.xml"/></Relationships>
</file>

<file path=ppt/slides/charts/chart1.xml><?xml version="1.0" encoding="utf-8"?>
<c:chartSpace xmlns:c="http://schemas.openxmlformats.org/drawingml/2006/chart">
  <c:lang val="en-US"/>
  <c:chart>
    <c:autoTitleDeleted val="1"/>
    <c:plotArea>
      <c:layout>
        <c:manualLayout>
          <c:layoutTarget val="inner"/>
          <c:xMode val="edge"/>
          <c:yMode val="edge"/>
          <c:x val="0.115"/>
          <c:y val="0.055"/>
          <c:w val="0.87"/>
          <c:h val="0.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ROCE, pre-tax</c:v>
                </c:pt>
              </c:strCache>
            </c:strRef>
          </c:tx>
          <c:dPt>
            <c:idx val="0"/>
            <c:invertIfNegative val="0"/>
            <c:spPr>
              <a:solidFill xmlns:a="http://schemas.openxmlformats.org/drawingml/2006/main">
                <a:srgbClr val="DFE6F2"/>
              </a:solidFill>
              <a:ln xmlns:a="http://schemas.openxmlformats.org/drawingml/2006/main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B3261E"/>
              </a:solidFill>
              <a:ln xmlns:a="http://schemas.openxmlformats.org/drawingml/2006/main">
                <a:noFill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0575E6"/>
              </a:solidFill>
              <a:ln xmlns:a="http://schemas.openxmlformats.org/drawingml/2006/main">
                <a:noFill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157347"/>
              </a:solidFill>
              <a:ln xmlns:a="http://schemas.openxmlformats.org/drawingml/2006/main">
                <a:noFill/>
              </a:ln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750" b="1">
                        <a:solidFill>
                          <a:srgbClr val="5A6785"/>
                        </a:solidFill>
                        <a:latin typeface="Calibri"/>
                        <a:ea typeface="Calibri"/>
                        <a:cs typeface="Calibri"/>
                      </a:rPr>
                      <a:t>-0.0%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750" b="1">
                      <a:solidFill>
                        <a:srgbClr val="5A6785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750" b="1">
                        <a:solidFill>
                          <a:srgbClr val="B3261E"/>
                        </a:solidFill>
                        <a:latin typeface="Calibri"/>
                        <a:ea typeface="Calibri"/>
                        <a:cs typeface="Calibri"/>
                      </a:rPr>
                      <a:t>14.0%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750" b="1">
                      <a:solidFill>
                        <a:srgbClr val="B3261E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750" b="1">
                        <a:solidFill>
                          <a:srgbClr val="0B1F3A"/>
                        </a:solidFill>
                        <a:latin typeface="Calibri"/>
                        <a:ea typeface="Calibri"/>
                        <a:cs typeface="Calibri"/>
                      </a:rPr>
                      <a:t>34.4%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750" b="1">
                      <a:solidFill>
                        <a:srgbClr val="0B1F3A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750" b="1">
                        <a:solidFill>
                          <a:srgbClr val="157347"/>
                        </a:solidFill>
                        <a:latin typeface="Calibri"/>
                        <a:ea typeface="Calibri"/>
                        <a:cs typeface="Calibri"/>
                      </a:rPr>
                      <a:t>58.8%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750" b="1">
                      <a:solidFill>
                        <a:srgbClr val="157347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underwritten
(breakeven)</c:v>
                </c:pt>
                <c:pt idx="1">
                  <c:v>basket 30%
volume -30%</c:v>
                </c:pt>
                <c:pt idx="2">
                  <c:v>basket 30%
non-grocery</c:v>
                </c:pt>
                <c:pt idx="3">
                  <c:v>basket 40%
non-grocery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</c:v>
                </c:pt>
                <c:pt idx="1">
                  <c:v>14</c:v>
                </c:pt>
                <c:pt idx="2">
                  <c:v>34.4</c:v>
                </c:pt>
                <c:pt idx="3">
                  <c:v>58.8</c:v>
                </c:pt>
              </c:numCache>
            </c:numRef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79456312"/>
        <c:axId val="33489208"/>
      </c:barChart>
      <c:catAx>
        <c:axId val="794563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>
            <a:solidFill>
              <a:srgbClr val="DFE6F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580">
                <a:solidFill>
                  <a:srgbClr val="0B1F3A"/>
                </a:solidFill>
                <a:latin typeface="Calibri"/>
                <a:ea typeface="Calibri"/>
                <a:cs typeface="Calibri"/>
              </a:defRPr>
            </a:pPr>
          </a:p>
        </c:txPr>
        <c:crossAx val="33489208"/>
        <c:crosses val="autoZero"/>
        <c:lblOffset val="100"/>
      </c:catAx>
      <c:valAx>
        <c:axId val="3348920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6350">
              <a:solidFill>
                <a:srgbClr val="DFE6F2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A6785"/>
                </a:solidFill>
                <a:latin typeface="Calibri"/>
                <a:ea typeface="Calibri"/>
                <a:cs typeface="Calibri"/>
              </a:defRPr>
            </a:pPr>
          </a:p>
        </c:txPr>
        <c:crossAx val="79456312"/>
        <c:crosses val="autoZero"/>
        <c:crossBetween val="between"/>
        <c:majorUnit val="20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autoTitleDeleted val="1"/>
    <c:plotArea>
      <c:layout>
        <c:manualLayout>
          <c:layoutTarget val="inner"/>
          <c:xMode val="edge"/>
          <c:yMode val="edge"/>
          <c:x val="0.395"/>
          <c:y val="0.045"/>
          <c:w val="0.56"/>
          <c:h val="0.7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breakeven AOV</c:v>
                </c:pt>
              </c:strCache>
            </c:strRef>
          </c:tx>
          <c:dPt>
            <c:idx val="0"/>
            <c:invertIfNegative val="0"/>
            <c:spPr>
              <a:solidFill xmlns:a="http://schemas.openxmlformats.org/drawingml/2006/main">
                <a:srgbClr val="5A6785"/>
              </a:solidFill>
              <a:ln xmlns:a="http://schemas.openxmlformats.org/drawingml/2006/main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5A6785"/>
              </a:solidFill>
              <a:ln xmlns:a="http://schemas.openxmlformats.org/drawingml/2006/main">
                <a:noFill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5A6785"/>
              </a:solidFill>
              <a:ln xmlns:a="http://schemas.openxmlformats.org/drawingml/2006/main">
                <a:noFill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B3261E"/>
              </a:solidFill>
              <a:ln xmlns:a="http://schemas.openxmlformats.org/drawingml/2006/main">
                <a:noFill/>
              </a:ln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rPr>
                      <a:t>₹582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rPr>
                      <a:t>₹588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rPr>
                      <a:t>₹615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rPr>
                      <a:t>₹640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Fragmentation
SITE-SELECTABLE</c:v>
                </c:pt>
                <c:pt idx="1">
                  <c:v>Gig levy¹⁹
TABLED, NOT PASSED</c:v>
                </c:pt>
                <c:pt idx="2">
                  <c:v>Shrinkage
ALREADY NET OF IT</c:v>
                </c:pt>
                <c:pt idx="3">
                  <c:v>Volume −30%
THE UNKNOWN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582</c:v>
                </c:pt>
                <c:pt idx="1">
                  <c:v>588</c:v>
                </c:pt>
                <c:pt idx="2">
                  <c:v>615</c:v>
                </c:pt>
                <c:pt idx="3">
                  <c:v>640</c:v>
                </c:pt>
              </c:numCache>
            </c:numRef>
          </c:val>
        </c:ser>
        <c:dLbls>
          <c:numFmt formatCode="&quot;₹&quot;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00" b="1"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79456312"/>
        <c:axId val="33489208"/>
      </c:barChart>
      <c:catAx>
        <c:axId val="794563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520">
                <a:solidFill>
                  <a:srgbClr val="0B1F3A"/>
                </a:solidFill>
                <a:latin typeface="Calibri"/>
                <a:ea typeface="Calibri"/>
                <a:cs typeface="Calibri"/>
              </a:defRPr>
            </a:pPr>
          </a:p>
        </c:txPr>
        <c:crossAx val="33489208"/>
        <c:crosses val="autoZero"/>
        <c:lblOffset val="100"/>
      </c:catAx>
      <c:valAx>
        <c:axId val="33489208"/>
        <c:scaling>
          <c:orientation val="minMax"/>
          <c:max val="780"/>
          <c:min val="560"/>
        </c:scaling>
        <c:delete val="0"/>
        <c:axPos val="b"/>
        <c:numFmt formatCode="&quot;₹&quot;#,##0" sourceLinked="0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560">
                <a:solidFill>
                  <a:srgbClr val="5A6785"/>
                </a:solidFill>
                <a:latin typeface="Calibri"/>
                <a:ea typeface="Calibri"/>
                <a:cs typeface="Calibri"/>
              </a:defRPr>
            </a:pPr>
          </a:p>
        </c:txPr>
        <c:crossAx val="79456312"/>
        <c:crosses val="autoZero"/>
        <c:crossBetween val="between"/>
        <c:majorUnit val="40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 the runner floor, 87/day</c:v>
                </c:pt>
              </c:strCache>
            </c:strRef>
          </c:tx>
          <c:spPr>
            <a:ln xmlns:a="http://schemas.openxmlformats.org/drawingml/2006/main" w="19050">
              <a:solidFill>
                <a:srgbClr val="FF9A8B"/>
              </a:solidFill>
            </a:ln>
          </c:spPr>
          <c:marker>
            <c:symbol val="circle"/>
            <c:size val="4"/>
            <c:spPr>
              <a:solidFill xmlns:a="http://schemas.openxmlformats.org/drawingml/2006/main">
                <a:srgbClr val="FF9A8B"/>
              </a:solidFill>
              <a:ln xmlns:a="http://schemas.openxmlformats.org/drawingml/2006/main">
                <a:solidFill>
                  <a:srgbClr val="FF9A8B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0%</c:v>
                </c:pt>
                <c:pt idx="1">
                  <c:v>20%</c:v>
                </c:pt>
                <c:pt idx="2">
                  <c:v>40%</c:v>
                </c:pt>
                <c:pt idx="3">
                  <c:v>60%</c:v>
                </c:pt>
                <c:pt idx="4">
                  <c:v>80%</c:v>
                </c:pt>
                <c:pt idx="5">
                  <c:v>100%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6.66</c:v>
                </c:pt>
                <c:pt idx="1">
                  <c:v>11.96</c:v>
                </c:pt>
                <c:pt idx="2">
                  <c:v>10.63</c:v>
                </c:pt>
                <c:pt idx="3">
                  <c:v>9.3</c:v>
                </c:pt>
                <c:pt idx="4">
                  <c:v>7.96</c:v>
                </c:pt>
                <c:pt idx="5">
                  <c:v>6.63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 the store floor, 681/day</c:v>
                </c:pt>
              </c:strCache>
            </c:strRef>
          </c:tx>
          <c:spPr>
            <a:ln xmlns:a="http://schemas.openxmlformats.org/drawingml/2006/main" w="19050">
              <a:solidFill>
                <a:srgbClr val="A9BEDF"/>
              </a:solidFill>
            </a:ln>
          </c:spPr>
          <c:marker>
            <c:symbol val="circle"/>
            <c:size val="4"/>
            <c:spPr>
              <a:solidFill xmlns:a="http://schemas.openxmlformats.org/drawingml/2006/main">
                <a:srgbClr val="A9BEDF"/>
              </a:solidFill>
              <a:ln xmlns:a="http://schemas.openxmlformats.org/drawingml/2006/main">
                <a:solidFill>
                  <a:srgbClr val="A9BED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0%</c:v>
                </c:pt>
                <c:pt idx="1">
                  <c:v>20%</c:v>
                </c:pt>
                <c:pt idx="2">
                  <c:v>40%</c:v>
                </c:pt>
                <c:pt idx="3">
                  <c:v>60%</c:v>
                </c:pt>
                <c:pt idx="4">
                  <c:v>80%</c:v>
                </c:pt>
                <c:pt idx="5">
                  <c:v>100%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6.66</c:v>
                </c:pt>
                <c:pt idx="1">
                  <c:v>6.18</c:v>
                </c:pt>
                <c:pt idx="2">
                  <c:v>5.69</c:v>
                </c:pt>
                <c:pt idx="3">
                  <c:v>5.21</c:v>
                </c:pt>
                <c:pt idx="4">
                  <c:v>3.87</c:v>
                </c:pt>
                <c:pt idx="5">
                  <c:v>3.39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AT PLAN, one gate, 467/day</c:v>
                </c:pt>
              </c:strCache>
            </c:strRef>
          </c:tx>
          <c:spPr>
            <a:ln xmlns:a="http://schemas.openxmlformats.org/drawingml/2006/main" w="19050">
              <a:solidFill>
                <a:srgbClr val="FFC220"/>
              </a:solidFill>
            </a:ln>
          </c:spPr>
          <c:marker>
            <c:symbol val="circle"/>
            <c:size val="4"/>
            <c:spPr>
              <a:solidFill xmlns:a="http://schemas.openxmlformats.org/drawingml/2006/main">
                <a:srgbClr val="FFC220"/>
              </a:solidFill>
              <a:ln xmlns:a="http://schemas.openxmlformats.org/drawingml/2006/main">
                <a:solidFill>
                  <a:srgbClr val="FFC220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0%</c:v>
                </c:pt>
                <c:pt idx="1">
                  <c:v>20%</c:v>
                </c:pt>
                <c:pt idx="2">
                  <c:v>40%</c:v>
                </c:pt>
                <c:pt idx="3">
                  <c:v>60%</c:v>
                </c:pt>
                <c:pt idx="4">
                  <c:v>80%</c:v>
                </c:pt>
                <c:pt idx="5">
                  <c:v>100%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6.66</c:v>
                </c:pt>
                <c:pt idx="1">
                  <c:v>6.56</c:v>
                </c:pt>
                <c:pt idx="2">
                  <c:v>5.23</c:v>
                </c:pt>
                <c:pt idx="3">
                  <c:v>5.14</c:v>
                </c:pt>
                <c:pt idx="4">
                  <c:v>3.8</c:v>
                </c:pt>
                <c:pt idx="5">
                  <c:v>3.71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pooled upside, all 3 gates, 1,400/day</c:v>
                </c:pt>
              </c:strCache>
            </c:strRef>
          </c:tx>
          <c:spPr>
            <a:ln xmlns:a="http://schemas.openxmlformats.org/drawingml/2006/main" w="19050">
              <a:solidFill>
                <a:srgbClr val="7FD1AE"/>
              </a:solidFill>
            </a:ln>
          </c:spPr>
          <c:marker>
            <c:symbol val="circle"/>
            <c:size val="4"/>
            <c:spPr>
              <a:solidFill xmlns:a="http://schemas.openxmlformats.org/drawingml/2006/main">
                <a:srgbClr val="7FD1AE"/>
              </a:solidFill>
              <a:ln xmlns:a="http://schemas.openxmlformats.org/drawingml/2006/main">
                <a:solidFill>
                  <a:srgbClr val="7FD1AE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0%</c:v>
                </c:pt>
                <c:pt idx="1">
                  <c:v>20%</c:v>
                </c:pt>
                <c:pt idx="2">
                  <c:v>40%</c:v>
                </c:pt>
                <c:pt idx="3">
                  <c:v>60%</c:v>
                </c:pt>
                <c:pt idx="4">
                  <c:v>80%</c:v>
                </c:pt>
                <c:pt idx="5">
                  <c:v>100%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6.66</c:v>
                </c:pt>
                <c:pt idx="1">
                  <c:v>6.15</c:v>
                </c:pt>
                <c:pt idx="2">
                  <c:v>5.23</c:v>
                </c:pt>
                <c:pt idx="3">
                  <c:v>4.72</c:v>
                </c:pt>
                <c:pt idx="4">
                  <c:v>3.8</c:v>
                </c:pt>
                <c:pt idx="5">
                  <c:v>2.88</c:v>
                </c:pt>
              </c:numCache>
            </c:numRef>
          </c:val>
          <c:smooth val="0"/>
        </c:ser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>
            <a:solidFill>
              <a:srgbClr val="2E5AA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580">
                <a:solidFill>
                  <a:srgbClr val="A9BEDF"/>
                </a:solidFill>
                <a:latin typeface="Calibri"/>
                <a:ea typeface="Calibri"/>
                <a:cs typeface="Calibri"/>
              </a:defRPr>
            </a:pPr>
          </a:p>
        </c:txPr>
        <c:crossAx val="2140495176"/>
        <c:crosses val="autoZero"/>
        <c:lblOffset val="100"/>
      </c:catAx>
      <c:valAx>
        <c:axId val="2140495176"/>
        <c:scaling>
          <c:orientation val="minMax"/>
          <c:max val="14"/>
          <c:min val="0"/>
        </c:scaling>
        <c:delete val="0"/>
        <c:axPos val="l"/>
        <c:majorGridlines>
          <c:spPr>
            <a:ln xmlns:a="http://schemas.openxmlformats.org/drawingml/2006/main" w="5080">
              <a:solidFill>
                <a:srgbClr val="2E5AA8"/>
              </a:solidFill>
            </a:ln>
          </c:spPr>
        </c:majorGridlines>
        <c:numFmt formatCode="&quot;₹&quot;0" sourceLinked="0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580">
                <a:solidFill>
                  <a:srgbClr val="A9BEDF"/>
                </a:solidFill>
                <a:latin typeface="Calibri"/>
                <a:ea typeface="Calibri"/>
                <a:cs typeface="Calibri"/>
              </a:defRPr>
            </a:pPr>
          </a:p>
        </c:txPr>
        <c:crossAx val="2118791784"/>
        <c:crosses val="autoZero"/>
        <c:crossBetween val="between"/>
        <c:majorUnit val="2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00">
              <a:solidFill>
                <a:srgbClr val="FFFFFF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C2B4069-AC13-405D-8218-4D517416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858768"/>
            <a:ext cx="38404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</a:pPr>
            <a:r>
              <a:rPr sz="2000" b="1" i="0">
                <a:solidFill>
                  <a:srgbClr val="0D1F5C"/>
                </a:solidFill>
                <a:latin typeface="Calibri"/>
                <a:ea typeface="Calibri"/>
                <a:cs typeface="Calibri"/>
              </a:rPr>
              <a:t>ANAVRIN</a:t>
            </a:r>
          </a:p>
        </p:txBody>
      </p:sp>
    </p:spTree>
    <p:extLst>
      <p:ext uri="{BB962C8B-B14F-4D97-AF65-F5344CB8AC3E}">
        <p14:creationId xmlns:p14="http://schemas.microsoft.com/office/powerpoint/2010/main" val="5630325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D526824-A437-4E20-B22F-49BF1ED7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56032"/>
            <a:ext cx="420624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F346440-AECC-46F8-AA8E-AC4961C5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4FE7678-5579-4464-A823-BC61F30A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A569848-15FE-40CC-9A14-D25611AD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B67F2E6-A34F-474B-A8ED-2E777CD5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F921D0E-7B81-4E41-AE0C-E89E19A0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1C6A5FE-D175-4019-ACD7-480AFC6C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904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ABCE2BE-C419-4134-916B-F092AF1D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09B3DB6-427C-4168-B74B-4C02021C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196596"/>
            <a:ext cx="32918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RECOMMENDATION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828C8E9-37BA-46DF-B1F0-D2BC6CE5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6596"/>
            <a:ext cx="2240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→ where does the cost case break?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F8EF4F5-57CC-4937-B4D1-971A3EA5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5488"/>
            <a:ext cx="749807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</a:pPr>
            <a:r>
              <a:rPr sz="165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Enter on a cluster-plus-catchment node: 94% of a city store's asset productivity, at a site chosen so the break is survivable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F1189ED-17DA-46CA-AB4E-7243DA86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42415"/>
            <a:ext cx="8321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72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One node serves a 3–6 college cluster together with its adjacent non-student catchment. We price the academic calendar into where the node is sited rather than into how it is run. 90-day build, one pilot, ₹324 lakh of capital employed.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74FF08E-B173-4384-BC40-69487E9C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35024"/>
            <a:ext cx="2615184" cy="20574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6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6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DECISION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4A9F833-3EF0-4EF7-84DE-EF863925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595628"/>
            <a:ext cx="65836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1" i="0">
                <a:solidFill>
                  <a:srgbClr val="8A5F00"/>
                </a:solidFill>
                <a:latin typeface="Calibri"/>
                <a:ea typeface="Calibri"/>
                <a:cs typeface="Calibri"/>
              </a:rPr>
              <a:t>BUILD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E94CE4B-58BF-461E-8CE5-B4E16B7A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1595628"/>
            <a:ext cx="193852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62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1 pilot node, 3–6 college cluster, non-metro Tier-1/2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0E64BC9-7F18-4209-A421-11AE3CB8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19656"/>
            <a:ext cx="65836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1" i="0">
                <a:solidFill>
                  <a:srgbClr val="8A5F00"/>
                </a:solidFill>
                <a:latin typeface="Calibri"/>
                <a:ea typeface="Calibri"/>
                <a:cs typeface="Calibri"/>
              </a:rPr>
              <a:t>UNDERWRITE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B855FF6-1554-4F5D-8C92-267523B0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1819656"/>
            <a:ext cx="193852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62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campus demand + ≥569/day uncontested adjacent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26A6281-493F-48D4-A758-01A46E66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43684"/>
            <a:ext cx="65836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1" i="0">
                <a:solidFill>
                  <a:srgbClr val="8A5F00"/>
                </a:solidFill>
                <a:latin typeface="Calibri"/>
                <a:ea typeface="Calibri"/>
                <a:cs typeface="Calibri"/>
              </a:rPr>
              <a:t>FLEET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AAA9F5B-D598-4349-867C-1F25FB2B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2043684"/>
            <a:ext cx="193852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62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gig to the gate, institution runner inside it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5862C43-817B-4EF7-BF8B-3BB14861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67712"/>
            <a:ext cx="65836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1" i="0">
                <a:solidFill>
                  <a:srgbClr val="8A5F00"/>
                </a:solidFill>
                <a:latin typeface="Calibri"/>
                <a:ea typeface="Calibri"/>
                <a:cs typeface="Calibri"/>
              </a:rPr>
              <a:t>SLA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3C3660F-C5DA-42DB-A181-864D1BBF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2267712"/>
            <a:ext cx="193852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62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dynamic batch, 6-min cap or 12 orders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7AD9734-CB28-4EA9-8EC1-5036980D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91740"/>
            <a:ext cx="65836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1" i="0">
                <a:solidFill>
                  <a:srgbClr val="8A5F00"/>
                </a:solidFill>
                <a:latin typeface="Calibri"/>
                <a:ea typeface="Calibri"/>
                <a:cs typeface="Calibri"/>
              </a:rPr>
              <a:t>BREAK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720C00F-B53F-4421-9701-BFEF4BAF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2491740"/>
            <a:ext cx="193852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62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repurpose the catchment; the node never closes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28445C7-3884-4CD5-A0F2-E01F014A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715768"/>
            <a:ext cx="65836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1" i="0">
                <a:solidFill>
                  <a:srgbClr val="8A5F00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611C9C2-282B-4AF8-9421-3F02106C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2715768"/>
            <a:ext cx="193852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62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go/no-go at day 90 on 4 instrumented metrics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13852D6-4DEF-4E09-8949-A53582CF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58084"/>
            <a:ext cx="261518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Replicable across 111 districts on the same screen.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12D70BA5-19D1-46DC-8525-B1662351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335024"/>
            <a:ext cx="2743200" cy="196596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82296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40" b="1" i="0">
                <a:solidFill>
                  <a:srgbClr val="10265C"/>
                </a:solidFill>
                <a:latin typeface="Calibri"/>
                <a:ea typeface="Calibri"/>
                <a:cs typeface="Calibri"/>
              </a:rPr>
              <a:t>NOT A COST PROBLEM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6F9FA4C0-9346-445C-A5A6-BFE4DD7D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335024"/>
            <a:ext cx="25603" cy="1965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05DEA69C-E4F7-4014-9547-EE9CB03F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604772"/>
            <a:ext cx="170078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cost ladder moves the requirement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457A5959-18CC-49B4-AE42-3341D07F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604772"/>
            <a:ext cx="27432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70.8% → 48.6%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7C59E1DB-6EE7-4047-B2E9-C980EF7F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769364"/>
            <a:ext cx="274320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A3EFC682-AD70-4082-AA66-76CF4A5A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801368"/>
            <a:ext cx="170078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and stops, short of closing it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DE292619-3445-467D-9EE2-B68452A5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801368"/>
            <a:ext cx="27432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48.6 pts unfunded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BA8D382F-D54E-4FA1-A0A8-437067E6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965960"/>
            <a:ext cx="274320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FF21F4B3-D70F-4AC9-A9D8-1D475161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997964"/>
            <a:ext cx="170078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dead-zone burn, no levers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B186C01C-762A-48CC-BB34-F6658E56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997964"/>
            <a:ext cx="27432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₹31.6 L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D8F9E005-CAD5-43C3-AC5D-A8983F40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162556"/>
            <a:ext cx="274320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2E5231B4-7CF2-41CA-BAED-11D2E9E2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194560"/>
            <a:ext cx="170078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relocate instead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264929AB-D7DC-4C20-865C-0E0273D0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194560"/>
            <a:ext cx="27432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₹89 L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67ABAD48-ED64-4DDF-B506-67CA17CE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359151"/>
            <a:ext cx="274320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F26E25E-32A9-43A4-90BD-E7879491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391156"/>
            <a:ext cx="170078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network basket vs required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E472BACD-2BAF-4CC4-8C68-15C879DF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391156"/>
            <a:ext cx="27432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₹450 → ₹573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6737E4B9-A375-492F-81EE-A2C06FEC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555747"/>
            <a:ext cx="274320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97BFFBAB-4101-4C52-9A85-4558AA61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587751"/>
            <a:ext cx="170078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of the base that flexes at all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9B4A56E9-90A6-42CD-96DB-C85F00A2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587751"/>
            <a:ext cx="27432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71.2%</a:t>
            </a: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F9AD4528-FF8B-46D2-BC23-CF3543BF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335024"/>
            <a:ext cx="2697480" cy="196596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82296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40" b="1" i="0">
                <a:solidFill>
                  <a:srgbClr val="10265C"/>
                </a:solidFill>
                <a:latin typeface="Calibri"/>
                <a:ea typeface="Calibri"/>
                <a:cs typeface="Calibri"/>
              </a:rPr>
              <a:t>A SITE-SELECTION PROBLEM</a:t>
            </a:r>
          </a:p>
        </p:txBody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DB4D843C-76D4-40AA-9531-0F60B0BE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335024"/>
            <a:ext cx="25603" cy="1965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526D0905-B1DE-4979-872E-A570118A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604772"/>
            <a:ext cx="1672437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districts clearing the screen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9172F1F8-9F7F-4F53-BDB4-9F15D2DB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604772"/>
            <a:ext cx="26974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111 of 760</a:t>
            </a:r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906C7D34-970E-486A-BF3C-701C59CA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769364"/>
            <a:ext cx="269748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038181D6-BC8A-4AAB-BC26-314CE15B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01368"/>
            <a:ext cx="1672437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asset turn, campus : city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9CA917BB-9529-48A0-BAA4-992FCC2D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01368"/>
            <a:ext cx="26974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6.93× / 7.34× = 0.944</a:t>
            </a:r>
          </a:p>
        </p:txBody>
      </p:sp>
      <p:sp>
        <p:nvSpPr>
          <p:cNvPr id="54" name="Rectangle 53">
            <a:extLst xmlns:a="http://schemas.openxmlformats.org/drawingml/2006/main">
              <a:ext uri="{FF2B5EF4-FFF2-40B4-BE49-F238E27FC236}">
                <a16:creationId xmlns:a16="http://schemas.microsoft.com/office/drawing/2014/main" id="{014ED44F-407F-46F8-84D8-C584B69D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65960"/>
            <a:ext cx="269748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1CFACF3A-9866-4140-BC10-22470F3D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97964"/>
            <a:ext cx="1672437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across the observed range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CB81A4DC-4AEC-439C-B497-49A6AE14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97964"/>
            <a:ext cx="26974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0.90 – 1.00</a:t>
            </a:r>
          </a:p>
        </p:txBody>
      </p:sp>
      <p:sp>
        <p:nvSpPr>
          <p:cNvPr id="57" name="Rectangle 56">
            <a:extLst xmlns:a="http://schemas.openxmlformats.org/drawingml/2006/main">
              <a:ext uri="{FF2B5EF4-FFF2-40B4-BE49-F238E27FC236}">
                <a16:creationId xmlns:a16="http://schemas.microsoft.com/office/drawing/2014/main" id="{D9055FBA-314D-44FC-87F5-E318C17D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162556"/>
            <a:ext cx="269748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22191AA8-8BA7-4CAD-AB2C-465031E3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194560"/>
            <a:ext cx="1672437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ROCE at a 30% non-grocery basket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B35E92DF-CA8B-41A9-9A37-C106DC8E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194560"/>
            <a:ext cx="26974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34.4%</a:t>
            </a:r>
          </a:p>
        </p:txBody>
      </p:sp>
      <p:sp>
        <p:nvSpPr>
          <p:cNvPr id="60" name="Rectangle 59">
            <a:extLst xmlns:a="http://schemas.openxmlformats.org/drawingml/2006/main">
              <a:ext uri="{FF2B5EF4-FFF2-40B4-BE49-F238E27FC236}">
                <a16:creationId xmlns:a16="http://schemas.microsoft.com/office/drawing/2014/main" id="{69D48767-9FA5-4790-97D9-B8741A2A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359151"/>
            <a:ext cx="269748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232178C6-575A-41F0-AF7E-072869AD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391156"/>
            <a:ext cx="1672437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holding vs relocating</a:t>
            </a: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5C87857D-62C4-4D01-B89A-CDBBB46F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391156"/>
            <a:ext cx="26974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24% of one move</a:t>
            </a:r>
          </a:p>
        </p:txBody>
      </p:sp>
      <p:sp>
        <p:nvSpPr>
          <p:cNvPr id="63" name="Rectangle 62">
            <a:extLst xmlns:a="http://schemas.openxmlformats.org/drawingml/2006/main">
              <a:ext uri="{FF2B5EF4-FFF2-40B4-BE49-F238E27FC236}">
                <a16:creationId xmlns:a16="http://schemas.microsoft.com/office/drawing/2014/main" id="{A0B92511-BBC1-4809-A069-E99BB7DE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555747"/>
            <a:ext cx="269748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DDB67259-DDE7-40AD-86C6-5D7D09E6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587751"/>
            <a:ext cx="1672437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screened for incumbent presence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04A42E1E-09CD-433E-92D1-5462259C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587751"/>
            <a:ext cx="26974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9 clean · 22 contested</a:t>
            </a: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6FBF4F92-D3BA-4199-91BD-5B514FD5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0"/>
            <a:ext cx="832104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9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THE ASK, AND WHAT IT RETURNS  ·  ONE NODE, FIVE-YEAR LIFE, EVERY FIGURE SOLVED FROM THE MODEL</a:t>
            </a:r>
          </a:p>
        </p:txBody>
      </p:sp>
      <p:sp>
        <p:nvSpPr>
          <p:cNvPr id="67" name="Rounded Rectangle 66">
            <a:extLst xmlns:a="http://schemas.openxmlformats.org/drawingml/2006/main">
              <a:ext uri="{FF2B5EF4-FFF2-40B4-BE49-F238E27FC236}">
                <a16:creationId xmlns:a16="http://schemas.microsoft.com/office/drawing/2014/main" id="{346DA89B-1675-4DAB-9572-5F8D036F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355848"/>
            <a:ext cx="2007107" cy="47548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27432" rIns="64008" bIns="27432" anchor="ctr"/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56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CAPITAL EMPLOYED  </a:t>
            </a:r>
            <a:r>
              <a:rPr sz="86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₹324 L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55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capex ₹235 L + working capital ₹89 L</a:t>
            </a:r>
          </a:p>
        </p:txBody>
      </p:sp>
      <p:sp>
        <p:nvSpPr>
          <p:cNvPr id="68" name="Rectangle 67">
            <a:extLst xmlns:a="http://schemas.openxmlformats.org/drawingml/2006/main">
              <a:ext uri="{FF2B5EF4-FFF2-40B4-BE49-F238E27FC236}">
                <a16:creationId xmlns:a16="http://schemas.microsoft.com/office/drawing/2014/main" id="{6A936EC3-750C-42D5-88D8-9C1C30C5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355848"/>
            <a:ext cx="36576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9" name="Rounded Rectangle 68">
            <a:extLst xmlns:a="http://schemas.openxmlformats.org/drawingml/2006/main">
              <a:ext uri="{FF2B5EF4-FFF2-40B4-BE49-F238E27FC236}">
                <a16:creationId xmlns:a16="http://schemas.microsoft.com/office/drawing/2014/main" id="{E85AF810-247D-4390-8C39-1E88AE8E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740" y="3355848"/>
            <a:ext cx="2007107" cy="47548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27432" rIns="64008" bIns="27432" anchor="ctr"/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56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ROCE, 30% BASKET  </a:t>
            </a:r>
            <a:r>
              <a:rPr sz="86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34.4%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55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external 40% benchmark corresponds to AOV ₹755</a:t>
            </a:r>
          </a:p>
        </p:txBody>
      </p:sp>
      <p:sp>
        <p:nvSpPr>
          <p:cNvPr id="70" name="Rectangle 69">
            <a:extLst xmlns:a="http://schemas.openxmlformats.org/drawingml/2006/main">
              <a:ext uri="{FF2B5EF4-FFF2-40B4-BE49-F238E27FC236}">
                <a16:creationId xmlns:a16="http://schemas.microsoft.com/office/drawing/2014/main" id="{C7DE14EB-EBA6-4D42-B714-EABDC4E7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740" y="3355848"/>
            <a:ext cx="36576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34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1" name="Rounded Rectangle 70">
            <a:extLst xmlns:a="http://schemas.openxmlformats.org/drawingml/2006/main">
              <a:ext uri="{FF2B5EF4-FFF2-40B4-BE49-F238E27FC236}">
                <a16:creationId xmlns:a16="http://schemas.microsoft.com/office/drawing/2014/main" id="{67086280-9E11-40CF-920C-3D1FE5EA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55848"/>
            <a:ext cx="2007107" cy="47548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27432" rIns="64008" bIns="27432" anchor="ctr"/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56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PAYBACK  </a:t>
            </a:r>
            <a:r>
              <a:rPr sz="86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25 mo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55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against a 56-month franchised-store benchmark¹¹</a:t>
            </a:r>
          </a:p>
        </p:txBody>
      </p:sp>
      <p:sp>
        <p:nvSpPr>
          <p:cNvPr id="72" name="Rectangle 71">
            <a:extLst xmlns:a="http://schemas.openxmlformats.org/drawingml/2006/main">
              <a:ext uri="{FF2B5EF4-FFF2-40B4-BE49-F238E27FC236}">
                <a16:creationId xmlns:a16="http://schemas.microsoft.com/office/drawing/2014/main" id="{EAF5AFD6-4FA7-4BAA-B4C9-44A39A87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55848"/>
            <a:ext cx="36576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34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3" name="Rounded Rectangle 72">
            <a:extLst xmlns:a="http://schemas.openxmlformats.org/drawingml/2006/main">
              <a:ext uri="{FF2B5EF4-FFF2-40B4-BE49-F238E27FC236}">
                <a16:creationId xmlns:a16="http://schemas.microsoft.com/office/drawing/2014/main" id="{B4FCDD4F-875D-4D2E-811C-AF8B119F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259" y="3355848"/>
            <a:ext cx="2007107" cy="47548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27432" rIns="64008" bIns="27432" anchor="ctr"/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56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IRR  </a:t>
            </a:r>
            <a:r>
              <a:rPr sz="86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34.4%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55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31%–35% across a 2–6 month ramp</a:t>
            </a:r>
          </a:p>
        </p:txBody>
      </p:sp>
      <p:sp>
        <p:nvSpPr>
          <p:cNvPr id="74" name="Rectangle 73">
            <a:extLst xmlns:a="http://schemas.openxmlformats.org/drawingml/2006/main">
              <a:ext uri="{FF2B5EF4-FFF2-40B4-BE49-F238E27FC236}">
                <a16:creationId xmlns:a16="http://schemas.microsoft.com/office/drawing/2014/main" id="{6D951B46-3060-43E4-A566-C6F82F38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259" y="3355848"/>
            <a:ext cx="36576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34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AEF4C316-534B-4FC2-AFBC-B2E055EF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858768"/>
            <a:ext cx="832104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60" b="0" i="1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LIMIT, COMPUTED: at a 30% basket with volume −30% the node returns 14.0% and pays back in 62 months — longer than its 60-month life. Volume is the day-90 gate.</a:t>
            </a:r>
          </a:p>
        </p:txBody>
      </p:sp>
      <p:sp>
        <p:nvSpPr>
          <p:cNvPr id="76" name="Rounded Rectangle 75">
            <a:extLst xmlns:a="http://schemas.openxmlformats.org/drawingml/2006/main">
              <a:ext uri="{FF2B5EF4-FFF2-40B4-BE49-F238E27FC236}">
                <a16:creationId xmlns:a16="http://schemas.microsoft.com/office/drawing/2014/main" id="{66B111C1-3B81-49F4-BB9E-7B5DBFB0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005072"/>
            <a:ext cx="8321040" cy="310896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8A5F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18872" tIns="27432" rIns="64008" bIns="27432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</a:pPr>
            <a:r>
              <a:rPr sz="620" b="1" i="0">
                <a:solidFill>
                  <a:srgbClr val="8A5F00"/>
                </a:solidFill>
                <a:latin typeface="Calibri"/>
                <a:ea typeface="Calibri"/>
                <a:cs typeface="Calibri"/>
              </a:rPr>
              <a:t>NOT FIRST   </a:t>
            </a:r>
            <a:r>
              <a:rPr sz="62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Swiggy: student rewards with college canteens and hostels, Toing (AOV &lt;₹200, ~50 cities), a Young India Skills University MoU²⁰˒²¹. Blinkit: in-airport with Adani at CSMIA²¹. Zepto: Express Prints ₹2/page, ~285 stores²¹. </a:t>
            </a:r>
            <a:r>
              <a:rPr sz="62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None of the three underwrites a node on the cluster itself.</a:t>
            </a:r>
          </a:p>
        </p:txBody>
      </p:sp>
      <p:sp>
        <p:nvSpPr>
          <p:cNvPr id="77" name="Rounded Rectangle 76">
            <a:extLst xmlns:a="http://schemas.openxmlformats.org/drawingml/2006/main">
              <a:ext uri="{FF2B5EF4-FFF2-40B4-BE49-F238E27FC236}">
                <a16:creationId xmlns:a16="http://schemas.microsoft.com/office/drawing/2014/main" id="{304BA313-3842-4CEF-AC52-2A0EEB6C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352544"/>
            <a:ext cx="8321040" cy="310896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</a:pPr>
            <a:r>
              <a:rPr sz="8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Site the node on the cluster, price the break as a filter, </a:t>
            </a:r>
            <a:r>
              <a:rPr sz="80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and enter the 111 districts where both hold.</a:t>
            </a: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96442DDA-7D1D-428E-B365-82F567B5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8321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</a:pPr>
            <a:r>
              <a:rPr sz="52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Sources 1,2,4,5,6,10,20,21  ·  every figure asserted in A1  ·  derivations A5–A7  ·  return model A6b</a:t>
            </a:r>
          </a:p>
        </p:txBody>
      </p:sp>
    </p:spTree>
    <p:extLst>
      <p:ext uri="{BB962C8B-B14F-4D97-AF65-F5344CB8AC3E}">
        <p14:creationId xmlns:p14="http://schemas.microsoft.com/office/powerpoint/2010/main" val="19003820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D089239-F32B-419A-A75B-2AAD3FC9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38A512B-E1CC-466F-B9FE-E15AD2DF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56032"/>
            <a:ext cx="420624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950A889-EE86-4076-961E-568828C5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6CAD589-B4B1-41BD-946B-3075C56E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B9FCD96-73E7-44BE-A63F-DF8D0662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B67BC78-9CAB-482C-B430-DD4C60B6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5A40CBC-A8BB-4EAE-A17A-0FD8C163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904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5042FF7-A7DC-41E0-A4C3-535FC3C4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8BAE921-AF3C-4508-AE36-F92A819A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196596"/>
            <a:ext cx="32918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THE MARKET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97FAC3E-2099-4002-B3EC-B47C1B9A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6596"/>
            <a:ext cx="2240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→ if we enter, what breaks?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2C7F9F2-3C5B-446F-8D47-B6B8351F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5488"/>
            <a:ext cx="749807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</a:pPr>
            <a:r>
              <a:rPr sz="165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Six in ten Indian colleges are rural and metros run 19% over sustainable capacity: a smaller market than it looks, and an emptier one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2BC9184-36E3-4ADD-8A41-57999A9A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42415"/>
            <a:ext cx="8321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72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Both figures come from institutional registers rather than demand forecasts. The first cuts our own addressable universe by 61%. The second is why we still recommend entry.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8F524FD-7104-499F-9464-4305B74F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16736"/>
            <a:ext cx="8321040" cy="402336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B3261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18872" tIns="27432" rIns="64008" bIns="27432" anchor="ctr"/>
          <a:lstStyle xmlns:a="http://schemas.openxmlformats.org/drawingml/2006/main"/>
          <a:p xmlns:a="http://schemas.openxmlformats.org/drawingml/2006/main">
            <a:pPr algn="ctr">
              <a:lnSpc>
                <a:spcPct val="93000"/>
              </a:lnSpc>
              <a:buNone/>
            </a:pPr>
            <a:r>
              <a:rPr sz="640" b="1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THE SEGMENT HAS ALREADY KILLED AN OPERATOR   </a:t>
            </a:r>
            <a:r>
              <a:rPr sz="66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Jun 2026: Starship Technologies exited ALL US higher education after 8 years and 60+ campuses, withdrawing ~1,200 robots¹⁵. CEO Ahti Heinla: </a:t>
            </a:r>
            <a:r>
              <a:rPr sz="660" b="0" i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“campus and grocery are fundamentally different operations: one is seasonal and contract-driven, the other is a 365-day urban business.” </a:t>
            </a:r>
            <a:r>
              <a:rPr sz="66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Starship lost 365-day utilisation to an 8.5-month calendar, the ratio quantified on slide 4. The campuses stayed served: Avride took them over on a national foodservice master agreement. The failure was in the contract shape, not in campus demand.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982A14D1-E825-48A2-91E0-B6C2EE5A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0"/>
            <a:ext cx="4069080" cy="196596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82296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40" b="1" i="0">
                <a:solidFill>
                  <a:srgbClr val="10265C"/>
                </a:solidFill>
                <a:latin typeface="Calibri"/>
                <a:ea typeface="Calibri"/>
                <a:cs typeface="Calibri"/>
              </a:rPr>
              <a:t>THE UNIVERSE NARROWS   ·   AISHE REGISTER, 28-8-2026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E772440-31CA-4D57-B6F6-EA58C328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0"/>
            <a:ext cx="25603" cy="1965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3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ee6769d9944a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" y="2071115"/>
            <a:ext cx="4069080" cy="1303685"/>
          </a:xfrm>
          <a:prstGeom xmlns:a="http://schemas.openxmlformats.org/drawingml/2006/main" prst="rect">
            <a:avLst/>
          </a:prstGeom>
        </p:spPr>
      </p:pic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5CED762-8FFF-4FCA-9DC2-88E0FEC8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506724"/>
            <a:ext cx="40690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1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54,014 colleges → 21,000 urban (39.4%) → 17,805 urban and non-metro, of which 1,897 are urban high-propensity standalones. Register count [6], not the 2023-24 report count [7]; the two instruments are never mixed.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DCCB967-B783-45CC-8399-88276686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828800"/>
            <a:ext cx="4069080" cy="20574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6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6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DENSIFICATION WALL   ·   ONE QUARTER OF ADDITIONS</a:t>
            </a:r>
          </a:p>
        </p:txBody>
      </p:sp>
      <p:pic>
        <p:nvPicPr>
          <p:cNvPr id="46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d7cc1e78a45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4187" y="2080260"/>
            <a:ext cx="3067585" cy="1417320"/>
          </a:xfrm>
          <a:prstGeom xmlns:a="http://schemas.openxmlformats.org/drawingml/2006/main" prst="rect">
            <a:avLst/>
          </a:prstGeom>
        </p:spPr>
      </p:pic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F670C4D-3CE0-4655-88C9-3F6578F3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515868"/>
            <a:ext cx="40690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1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900 stores bought 152 new pin codes — 5.9 per pin code, so nine in ten went where an operator already served. Of 6,693 stores across five operators, only 2,393 sit outside the metros. Store density per urban college: metro 1.35 against non-metro 0.13 — 10.0× headroom where the archetype actually sits.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9B102FA0-B7A3-4C84-A029-99330D1F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913632"/>
            <a:ext cx="8321040" cy="347472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6E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27432" rIns="64008" bIns="27432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</a:pPr>
            <a:r>
              <a:rPr sz="630" b="1" i="0">
                <a:solidFill>
                  <a:srgbClr val="8A5F00"/>
                </a:solidFill>
                <a:latin typeface="Calibri"/>
                <a:ea typeface="Calibri"/>
                <a:cs typeface="Calibri"/>
              </a:rPr>
              <a:t>AND THE SEGMENT IS UNCOUNTED   </a:t>
            </a:r>
            <a:r>
              <a:rPr sz="63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Euromonitor's Indian consumer-foodservice taxonomy has no education or institutional location type, and its household typology has no hostel, PG or shared-student category — students fall into “Other”, never broken out¹⁴. In the standard dataset this micro-market is not small. It is absent.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3B1EBD2D-BEB1-4012-9FBC-8D22CF35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913632"/>
            <a:ext cx="41148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F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891AE743-9D2A-4E6F-9AE0-8FE4A94D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352544"/>
            <a:ext cx="8321040" cy="310896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</a:pPr>
            <a:r>
              <a:rPr sz="80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We narrow our own addressable market and still recommend entry. </a:t>
            </a:r>
            <a:r>
              <a:rPr sz="8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question is where, and at what return.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0C237ED-88FA-45D3-92ED-77459756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8321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</a:pPr>
            <a:r>
              <a:rPr sz="52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Sources 5,6,7,14,15  ·  full screen A7  ·  register vs report note A2</a:t>
            </a:r>
          </a:p>
        </p:txBody>
      </p:sp>
    </p:spTree>
    <p:extLst>
      <p:ext uri="{BB962C8B-B14F-4D97-AF65-F5344CB8AC3E}">
        <p14:creationId xmlns:p14="http://schemas.microsoft.com/office/powerpoint/2010/main" val="3303786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902EFE5-5425-46A7-9989-71082D14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81F4CD8-0B35-40F2-ADE9-92A300E8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6A374B1-F80B-41D4-A74E-306EC5C6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256032"/>
            <a:ext cx="420624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BB5D7B2-8A2C-4E08-8FE2-C6B43845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A7FBCE2-CF52-40B6-A3A1-666301C5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5392C40-03D4-4D07-B824-5C06C868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447C415-6506-4445-885B-84D18409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904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3B2D943-37E2-4B3B-9AE4-FCBE095D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D722179-741B-4250-9AE3-F5B5BCC0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196596"/>
            <a:ext cx="32918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D1 · THE DEAD ZONE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457CA74-844E-4640-A57A-77721DAB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6596"/>
            <a:ext cx="2240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→ if cost cannot close it, what does?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64A3255-B2C9-4E6E-BD9C-9862BE40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5488"/>
            <a:ext cx="749807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</a:pPr>
            <a:r>
              <a:rPr sz="165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71.2% of the fixed base flexes, and flexing all of it still leaves the node needing 48.6% of term demand from a break that delivers none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823188E-6F64-4292-B323-DCA8D907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42415"/>
            <a:ext cx="8321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72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Fixed base ₹902,000/month¹ — a Tier-1/2 store, confirmed from the rent band in the same report. Robust across that band: ₹871,000–₹917,500, width 5.2%.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3C9C2EF-8A10-441E-A509-AA04BAFF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16736"/>
            <a:ext cx="2788920" cy="102412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6F8FD"/>
          </a:solidFill>
          <a:ln xmlns:a="http://schemas.openxmlformats.org/drawingml/2006/main" w="9525">
            <a:solidFill>
              <a:srgbClr val="DFE6F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C596C19-3726-4B95-A43E-64129119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1362456"/>
            <a:ext cx="2624327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1" i="0">
                <a:solidFill>
                  <a:srgbClr val="8A5F00"/>
                </a:solidFill>
                <a:latin typeface="Calibri"/>
                <a:ea typeface="Calibri"/>
                <a:cs typeface="Calibri"/>
              </a:rPr>
              <a:t>TWO LINES, ONE CONSTANT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D1034AD-FC8D-4E3E-B9E7-DA726A37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1499616"/>
            <a:ext cx="2624327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90" b="1" i="0">
                <a:solidFill>
                  <a:srgbClr val="0B1F3A"/>
                </a:solidFill>
                <a:latin typeface="Consolas"/>
                <a:ea typeface="Consolas"/>
                <a:cs typeface="Consolas"/>
              </a:rPr>
              <a:t>σ = 12 / m = 12 / 8.5 = 1.412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90" b="0" i="0">
                <a:solidFill>
                  <a:srgbClr val="5A6785"/>
                </a:solidFill>
                <a:latin typeface="Consolas"/>
                <a:ea typeface="Consolas"/>
                <a:cs typeface="Consolas"/>
              </a:rPr>
              <a:t>   calendar surcharge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90" b="1" i="0">
                <a:solidFill>
                  <a:srgbClr val="0B1F3A"/>
                </a:solidFill>
                <a:latin typeface="Consolas"/>
                <a:ea typeface="Consolas"/>
                <a:cs typeface="Consolas"/>
              </a:rPr>
              <a:t>r* = F_break / (30 · V · CM)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90" b="0" i="0">
                <a:solidFill>
                  <a:srgbClr val="5A6785"/>
                </a:solidFill>
                <a:latin typeface="Consolas"/>
                <a:ea typeface="Consolas"/>
                <a:cs typeface="Consolas"/>
              </a:rPr>
              <a:t>   at breakeven CM, r* = 1/σ = 70.8%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90" b="0" i="0">
                <a:solidFill>
                  <a:srgbClr val="5A6785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90" b="0" i="0">
                <a:solidFill>
                  <a:srgbClr val="5A6785"/>
                </a:solidFill>
                <a:latin typeface="Consolas"/>
                <a:ea typeface="Consolas"/>
                <a:cs typeface="Consolas"/>
              </a:rPr>
              <a:t>F fixed ₹/mo · V term orders/day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90" b="0" i="0">
                <a:solidFill>
                  <a:srgbClr val="5A6785"/>
                </a:solidFill>
                <a:latin typeface="Consolas"/>
                <a:ea typeface="Consolas"/>
                <a:cs typeface="Consolas"/>
              </a:rPr>
              <a:t>CM contribution ₹/order · m active months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22F95D5-F943-454B-A1D7-DFD956A1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377440"/>
            <a:ext cx="2788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0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The do-nothing threshold is the calendar surcharge inverted. One constant, reached independently from two directions.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63269A7-C860-4932-87DF-6171D274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706624"/>
            <a:ext cx="278892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9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WHAT THE BASE IS MADE OF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950DF6D-A1BB-4DA3-8402-09314779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862072"/>
            <a:ext cx="670948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F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24%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8B45B6B-3A87-405F-84A9-F339E694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28" y="2862072"/>
            <a:ext cx="1159473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42%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4F156CC-8F2B-407E-9657-706DC53E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901" y="2862072"/>
            <a:ext cx="155647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34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6%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E38CE43-F84E-47E4-8843-7F6B1B7F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49" y="2862072"/>
            <a:ext cx="80285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78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29%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069B5B0-20DE-4CF7-8124-80778FFE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054096"/>
            <a:ext cx="6709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3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rent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9BBF1FE-B0EB-4894-8697-8DA98C79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28" y="3054096"/>
            <a:ext cx="1159473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3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staff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3D8E608-6A6F-4FE3-9A97-02E2488B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901" y="3054096"/>
            <a:ext cx="155647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3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util.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64913BC-FF78-4FCC-A096-CC29F2CE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49" y="3054096"/>
            <a:ext cx="80285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3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other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B3CB62A6-56F5-413F-8E61-529B8AA9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91256"/>
            <a:ext cx="2788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580" b="0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‘Other fixed’ ₹259,660 (29%) is a residual we allocated from JM's blended ₹100/sqft line: the one allocated line in the stack, bracketed by the 5.2% band above, and it persists through the break.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F6F75196-2491-4060-9903-1765AF02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316736"/>
            <a:ext cx="2514600" cy="196596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82296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40" b="1" i="0">
                <a:solidFill>
                  <a:srgbClr val="10265C"/>
                </a:solidFill>
                <a:latin typeface="Calibri"/>
                <a:ea typeface="Calibri"/>
                <a:cs typeface="Calibri"/>
              </a:rPr>
              <a:t>THE COST LADDER  ·  EVERY LEVER, PULLED IN ORDER OF SIZE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E811695-F75B-44F9-AFF1-A51E7420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316736"/>
            <a:ext cx="25603" cy="1965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4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9c4e50cac45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7560" y="1549908"/>
            <a:ext cx="2514600" cy="1072722"/>
          </a:xfrm>
          <a:prstGeom xmlns:a="http://schemas.openxmlformats.org/drawingml/2006/main" prst="rect">
            <a:avLst/>
          </a:prstGeom>
        </p:spPr>
      </p:pic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A789033F-9208-4597-878F-7B5189CB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775204"/>
            <a:ext cx="2514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58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We priced the cost answer first and to exhaustion: four levers, largest first, each on the same base. Together they cut the requirement 31% — 70.8% to 48.6% — and then stop. The shaded band is the residual no lever reaches.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2E3ED372-B090-4C2B-813D-21894C00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456432"/>
            <a:ext cx="2788920" cy="196596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82296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40" b="1" i="0">
                <a:solidFill>
                  <a:srgbClr val="10265C"/>
                </a:solidFill>
                <a:latin typeface="Calibri"/>
                <a:ea typeface="Calibri"/>
                <a:cs typeface="Calibri"/>
              </a:rPr>
              <a:t>THE FLEX ENVELOPE  ·  WHAT MOVES, HOW FAST, AT WHAT COST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C6753964-971A-4F57-9C6E-099977BD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456432"/>
            <a:ext cx="25603" cy="1965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1E676170-139D-4A16-96E7-4B34E2C4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698748"/>
            <a:ext cx="172913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of the base that flexes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5BC604AA-4AA1-4DBE-AD19-16EB63D3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698748"/>
            <a:ext cx="27889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71.2%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91B337F0-1B1C-498B-BA33-22151295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803904"/>
            <a:ext cx="278892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F48F21CB-719C-4AEE-A9E3-72DAD21A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835908"/>
            <a:ext cx="172913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truly fixed, flexes never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2685ABB0-5642-41A1-8AC0-1BB9568F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835908"/>
            <a:ext cx="27889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28.8%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70973FFD-66F0-4F24-9147-F89F7EBB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941064"/>
            <a:ext cx="278892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0E1622A9-BB16-4B0D-A14B-658945AC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973068"/>
            <a:ext cx="172913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notice to flex · lead to restore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4B0F5A3F-E2C6-436F-8953-1C183183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973068"/>
            <a:ext cx="27889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7 wks · 28 d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2F5B88F1-943C-42EC-B20F-578F78DB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078224"/>
            <a:ext cx="278892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391A4B0A-6B04-4BF6-9C00-21A005F2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0228"/>
            <a:ext cx="172913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cost to restore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3B8D291C-2714-4872-909F-46436FFB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0228"/>
            <a:ext cx="27889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₹2.62 L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1962E91A-0B2E-4EA6-AB9E-F602AF61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310128"/>
            <a:ext cx="539496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EVERY LEVER, WITH ITS PRICE, ITS NOTICE PERIOD AND WHETHER IT COMES BACK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4CC1C17F-A9F8-41C8-986D-94181E2E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465576"/>
            <a:ext cx="809244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LEVER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6193C3E2-C3E4-4CC4-B9EB-CDACF38A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804" y="3465576"/>
            <a:ext cx="917143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REQUIREMENT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16EE4533-193D-4BF8-A782-E5123C6C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947" y="3465576"/>
            <a:ext cx="809244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CUTS IT BY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D196D39E-5C96-4A31-B74B-89E1E54A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3191" y="3465576"/>
            <a:ext cx="593445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DEAD ZONE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57D36492-B194-460B-B4F0-C7545BF1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6636" y="3465576"/>
            <a:ext cx="647395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NOTICE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1EE8D7BE-428B-4495-89CA-ED19C270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465576"/>
            <a:ext cx="161848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REVERSIBLE</a:t>
            </a: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99A0BAB2-C240-4ABA-BD93-3F503E85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593591"/>
            <a:ext cx="5394960" cy="1261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6DC66DB2-F8F3-40BB-83E0-EB7E1023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607308"/>
            <a:ext cx="8092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7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Labour flex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048F19BE-1E60-4BE0-B2A1-03417F7E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804" y="3607308"/>
            <a:ext cx="917143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70.8% → 59.1%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AB4D78E4-A1E4-45D5-8892-E56249D9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947" y="3607308"/>
            <a:ext cx="8092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+11.8 pp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F6AE1AFE-C886-4725-909C-D05B47B8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3191" y="3607308"/>
            <a:ext cx="593445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₹21.6 L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A5A5FED4-D92F-44F9-BE30-B6BEF3A6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6636" y="3607308"/>
            <a:ext cx="647395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7 weeks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1106925B-43A6-417D-86D4-93041A27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607308"/>
            <a:ext cx="16184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yes, on a 28-day rehire lead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F230D515-567C-49A0-AF34-D5D20561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742639"/>
            <a:ext cx="8092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7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Cold rightsize</a:t>
            </a: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B1D65633-F1EA-478C-8733-5AAEC152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804" y="3742639"/>
            <a:ext cx="917143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59.1% → 57.0%</a:t>
            </a: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B7261869-59EA-4FDB-B2AB-E7A71D6C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947" y="3742639"/>
            <a:ext cx="8092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+2.0 pp</a:t>
            </a: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040A245D-E8A8-4E4F-9B53-C78AD196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3191" y="3742639"/>
            <a:ext cx="593445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₹21.2 L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02FD8A0F-A97C-4847-8A85-F26153BE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6636" y="3742639"/>
            <a:ext cx="647395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7 weeks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0FB2D8E8-2C62-4B13-AE8F-47497BD0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742639"/>
            <a:ext cx="16184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yes, capex already sunk</a:t>
            </a:r>
          </a:p>
        </p:txBody>
      </p:sp>
      <p:sp>
        <p:nvSpPr>
          <p:cNvPr id="65" name="Rectangle 64">
            <a:extLst xmlns:a="http://schemas.openxmlformats.org/drawingml/2006/main">
              <a:ext uri="{FF2B5EF4-FFF2-40B4-BE49-F238E27FC236}">
                <a16:creationId xmlns:a16="http://schemas.microsoft.com/office/drawing/2014/main" id="{6AB45388-79DC-4A35-8603-1BA970C1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864254"/>
            <a:ext cx="5394960" cy="1261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A41CEE5D-5A2A-469A-82AD-80325899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877970"/>
            <a:ext cx="8092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7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Small format</a:t>
            </a:r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AADFB315-8DF4-4C09-ACE2-4D745D4C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804" y="3877970"/>
            <a:ext cx="917143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57.0% → 48.6%</a:t>
            </a: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4DDCB5F2-70CA-404C-84DB-4556D2B6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947" y="3877970"/>
            <a:ext cx="8092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1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+8.4 pp</a:t>
            </a:r>
          </a:p>
        </p:txBody>
      </p:sp>
      <p:sp>
        <p:nvSpPr>
          <p:cNvPr id="69" name="TextBox 68">
            <a:extLst xmlns:a="http://schemas.openxmlformats.org/drawingml/2006/main">
              <a:ext uri="{FF2B5EF4-FFF2-40B4-BE49-F238E27FC236}">
                <a16:creationId xmlns:a16="http://schemas.microsoft.com/office/drawing/2014/main" id="{D52A09BA-978F-430F-84E8-72B73B75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3191" y="3877970"/>
            <a:ext cx="593445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₹18.5 L</a:t>
            </a: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5D788B49-E21A-4422-A50C-487830FD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6636" y="3877970"/>
            <a:ext cx="647395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at fit-out</a:t>
            </a:r>
          </a:p>
        </p:txBody>
      </p:sp>
      <p:sp>
        <p:nvSpPr>
          <p:cNvPr id="71" name="TextBox 70">
            <a:extLst xmlns:a="http://schemas.openxmlformats.org/drawingml/2006/main">
              <a:ext uri="{FF2B5EF4-FFF2-40B4-BE49-F238E27FC236}">
                <a16:creationId xmlns:a16="http://schemas.microsoft.com/office/drawing/2014/main" id="{295180D3-230C-41AB-9A14-066F298F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877970"/>
            <a:ext cx="16184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no — chosen once, in W3–6</a:t>
            </a:r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D672B454-7A96-4A20-8281-CF120452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4013301"/>
            <a:ext cx="8092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7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Repurpose</a:t>
            </a:r>
          </a:p>
        </p:txBody>
      </p:sp>
      <p:sp>
        <p:nvSpPr>
          <p:cNvPr id="73" name="TextBox 72">
            <a:extLst xmlns:a="http://schemas.openxmlformats.org/drawingml/2006/main">
              <a:ext uri="{FF2B5EF4-FFF2-40B4-BE49-F238E27FC236}">
                <a16:creationId xmlns:a16="http://schemas.microsoft.com/office/drawing/2014/main" id="{47013C42-94D7-4C18-BA0E-528EE52C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804" y="4013301"/>
            <a:ext cx="917143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48.6% → 48.6%</a:t>
            </a:r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F488EC58-6AF5-4A56-9313-53288265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947" y="4013301"/>
            <a:ext cx="8092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0.0 pp · demand-side</a:t>
            </a:r>
          </a:p>
        </p:txBody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E1A86A75-00C9-4130-830A-32502D15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3191" y="4013301"/>
            <a:ext cx="593445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₹0.0 L</a:t>
            </a:r>
          </a:p>
        </p:txBody>
      </p:sp>
      <p:sp>
        <p:nvSpPr>
          <p:cNvPr id="76" name="TextBox 75">
            <a:extLst xmlns:a="http://schemas.openxmlformats.org/drawingml/2006/main">
              <a:ext uri="{FF2B5EF4-FFF2-40B4-BE49-F238E27FC236}">
                <a16:creationId xmlns:a16="http://schemas.microsoft.com/office/drawing/2014/main" id="{331A1FAF-FCE1-4622-A294-54440B84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6636" y="4013301"/>
            <a:ext cx="647395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10 days</a:t>
            </a:r>
          </a:p>
        </p:txBody>
      </p:sp>
      <p:sp>
        <p:nvSpPr>
          <p:cNvPr id="77" name="TextBox 76">
            <a:extLst xmlns:a="http://schemas.openxmlformats.org/drawingml/2006/main">
              <a:ext uri="{FF2B5EF4-FFF2-40B4-BE49-F238E27FC236}">
                <a16:creationId xmlns:a16="http://schemas.microsoft.com/office/drawing/2014/main" id="{D8376CB8-F3F7-49E9-B037-6EE106CE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4013301"/>
            <a:ext cx="16184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yes, radius and SKU swap</a:t>
            </a: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B0A79026-6202-4FFD-93BD-E68E5B54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4169663"/>
            <a:ext cx="5394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5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Three of the four reverse, and the one that does not is a fit-out decision taken before the node opens, so no lever locks the node in mid-season. Notice periods come from the 7-week wind-down rule and the A-4 playbook triggers.</a:t>
            </a:r>
          </a:p>
        </p:txBody>
      </p:sp>
      <p:sp>
        <p:nvSpPr>
          <p:cNvPr id="79" name="Rounded Rectangle 78">
            <a:extLst xmlns:a="http://schemas.openxmlformats.org/drawingml/2006/main">
              <a:ext uri="{FF2B5EF4-FFF2-40B4-BE49-F238E27FC236}">
                <a16:creationId xmlns:a16="http://schemas.microsoft.com/office/drawing/2014/main" id="{E98C5FF7-3CC8-4578-A1E4-3F9ED27A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316736"/>
            <a:ext cx="2743200" cy="20574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6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6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SOLVER   ·   BEST = REPURPOSE</a:t>
            </a:r>
          </a:p>
        </p:txBody>
      </p:sp>
      <p:sp>
        <p:nvSpPr>
          <p:cNvPr id="80" name="Rounded Rectangle 79">
            <a:extLst xmlns:a="http://schemas.openxmlformats.org/drawingml/2006/main">
              <a:ext uri="{FF2B5EF4-FFF2-40B4-BE49-F238E27FC236}">
                <a16:creationId xmlns:a16="http://schemas.microsoft.com/office/drawing/2014/main" id="{A26F3059-0632-4923-B986-DB808652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559052"/>
            <a:ext cx="2743200" cy="148132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6F8FD"/>
          </a:solidFill>
          <a:ln xmlns:a="http://schemas.openxmlformats.org/drawingml/2006/main" w="9525">
            <a:solidFill>
              <a:srgbClr val="DFE6F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80">
            <a:extLst xmlns:a="http://schemas.openxmlformats.org/drawingml/2006/main">
              <a:ext uri="{FF2B5EF4-FFF2-40B4-BE49-F238E27FC236}">
                <a16:creationId xmlns:a16="http://schemas.microsoft.com/office/drawing/2014/main" id="{F49D415D-A16F-4D1B-B9A2-1D9C9729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613916"/>
            <a:ext cx="2615184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70" b="1" i="0">
                <a:solidFill>
                  <a:srgbClr val="0B1F3A"/>
                </a:solidFill>
                <a:latin typeface="Consolas"/>
                <a:ea typeface="Consolas"/>
                <a:cs typeface="Consolas"/>
              </a:rPr>
              <a:t>minimise dead-zone cash burn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70" b="0" i="0">
                <a:solidFill>
                  <a:srgbClr val="5A6785"/>
                </a:solidFill>
                <a:latin typeface="Consolas"/>
                <a:ea typeface="Consolas"/>
                <a:cs typeface="Consolas"/>
              </a:rPr>
              <a:t>s.t. reactivation lead ≥ 28 d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70" b="0" i="0">
                <a:solidFill>
                  <a:srgbClr val="5A6785"/>
                </a:solidFill>
                <a:latin typeface="Consolas"/>
                <a:ea typeface="Consolas"/>
                <a:cs typeface="Consolas"/>
              </a:rPr>
              <a:t>     SLA avg ≤ 27.1 min at peak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70" b="0" i="0">
                <a:solidFill>
                  <a:srgbClr val="5A6785"/>
                </a:solidFill>
                <a:latin typeface="Consolas"/>
                <a:ea typeface="Consolas"/>
                <a:cs typeface="Consolas"/>
              </a:rPr>
              <a:t>     revocation ≥ 513 orders/day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70" b="0" i="0">
                <a:solidFill>
                  <a:srgbClr val="5A6785"/>
                </a:solidFill>
                <a:latin typeface="Consolas"/>
                <a:ea typeface="Consolas"/>
                <a:cs typeface="Consolas"/>
              </a:rPr>
              <a:t>     no calendar-indexed lease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70" b="0" i="0">
                <a:solidFill>
                  <a:srgbClr val="5A6785"/>
                </a:solidFill>
                <a:latin typeface="Consolas"/>
                <a:ea typeface="Consolas"/>
                <a:cs typeface="Consolas"/>
              </a:rPr>
              <a:t>     7-week wind-down rule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70" b="0" i="0">
                <a:solidFill>
                  <a:srgbClr val="5A6785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70" b="1" i="0">
                <a:solidFill>
                  <a:srgbClr val="0B1F3A"/>
                </a:solidFill>
                <a:latin typeface="Consolas"/>
                <a:ea typeface="Consolas"/>
                <a:cs typeface="Consolas"/>
              </a:rPr>
              <a:t>STRATEGY        ₹ 3.5mo   RESID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70" b="0" i="0">
                <a:solidFill>
                  <a:srgbClr val="5A6785"/>
                </a:solidFill>
                <a:latin typeface="Consolas"/>
                <a:ea typeface="Consolas"/>
                <a:cs typeface="Consolas"/>
              </a:rPr>
              <a:t>DO_NOTHING     31.6 L    70.8%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70" b="0" i="0">
                <a:solidFill>
                  <a:srgbClr val="5A6785"/>
                </a:solidFill>
                <a:latin typeface="Consolas"/>
                <a:ea typeface="Consolas"/>
                <a:cs typeface="Consolas"/>
              </a:rPr>
              <a:t>LABOUR_FLEX    21.6 L    59.1%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70" b="0" i="0">
                <a:solidFill>
                  <a:srgbClr val="5A6785"/>
                </a:solidFill>
                <a:latin typeface="Consolas"/>
                <a:ea typeface="Consolas"/>
                <a:cs typeface="Consolas"/>
              </a:rPr>
              <a:t>COLD_RIGHTSIZE 21.2 L    57.0%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70" b="0" i="0">
                <a:solidFill>
                  <a:srgbClr val="5A6785"/>
                </a:solidFill>
                <a:latin typeface="Consolas"/>
                <a:ea typeface="Consolas"/>
                <a:cs typeface="Consolas"/>
              </a:rPr>
              <a:t>SMALL_FORMAT   18.5 L    48.6%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70" b="1" i="0">
                <a:solidFill>
                  <a:srgbClr val="0B1F3A"/>
                </a:solidFill>
                <a:latin typeface="Consolas"/>
                <a:ea typeface="Consolas"/>
                <a:cs typeface="Consolas"/>
              </a:rPr>
              <a:t>REPURPOSE*      0.0 L    48.6%  ←</a:t>
            </a:r>
          </a:p>
        </p:txBody>
      </p:sp>
      <p:sp>
        <p:nvSpPr>
          <p:cNvPr id="82" name="TextBox 81">
            <a:extLst xmlns:a="http://schemas.openxmlformats.org/drawingml/2006/main">
              <a:ext uri="{FF2B5EF4-FFF2-40B4-BE49-F238E27FC236}">
                <a16:creationId xmlns:a16="http://schemas.microsoft.com/office/drawing/2014/main" id="{B45FE785-D42D-4425-ACD0-EEFC56A5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076956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58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* Not a cost configuration: it runs the small-format base and fills 48.6% from adjacent catchment. Residual campus population supplies only 8–15%.</a:t>
            </a:r>
          </a:p>
        </p:txBody>
      </p:sp>
      <p:sp>
        <p:nvSpPr>
          <p:cNvPr id="83" name="Rounded Rectangle 82">
            <a:extLst xmlns:a="http://schemas.openxmlformats.org/drawingml/2006/main">
              <a:ext uri="{FF2B5EF4-FFF2-40B4-BE49-F238E27FC236}">
                <a16:creationId xmlns:a16="http://schemas.microsoft.com/office/drawing/2014/main" id="{DCCE2B49-257B-4E11-BCE4-9B6041ED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352544"/>
            <a:ext cx="8321040" cy="310896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</a:pPr>
            <a:r>
              <a:rPr sz="8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Cost levers are exhausted at 48.6% and a break delivers zero. </a:t>
            </a:r>
            <a:r>
              <a:rPr sz="80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The gap has to be filled by demand — which makes it a siting decision, not an operating one.</a:t>
            </a:r>
          </a:p>
        </p:txBody>
      </p:sp>
      <p:sp>
        <p:nvSpPr>
          <p:cNvPr id="84" name="TextBox 83">
            <a:extLst xmlns:a="http://schemas.openxmlformats.org/drawingml/2006/main">
              <a:ext uri="{FF2B5EF4-FFF2-40B4-BE49-F238E27FC236}">
                <a16:creationId xmlns:a16="http://schemas.microsoft.com/office/drawing/2014/main" id="{9B6BB30B-E05F-4214-9E01-99C54E2D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8321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</a:pPr>
            <a:r>
              <a:rPr sz="52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Sources 1,11,17,18  ·  last mile ₹17.6/order derived on slide 6  ·  solver and constraints A4  ·  fixed-base derivation A5  ·  Physicswallah ~850bps calendar swing [11]; Kambli 2020 labour-beats-capital [18]</a:t>
            </a:r>
          </a:p>
        </p:txBody>
      </p:sp>
    </p:spTree>
    <p:extLst>
      <p:ext uri="{BB962C8B-B14F-4D97-AF65-F5344CB8AC3E}">
        <p14:creationId xmlns:p14="http://schemas.microsoft.com/office/powerpoint/2010/main" val="19792934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1671671-4C7F-4141-99E8-A315D1F2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8A3231D-A8EA-4DAB-842B-58849E6D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FF04975-81FE-46B8-B9DC-9E1C3B62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E819471-6320-4A15-A2A4-9D9A515D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56032"/>
            <a:ext cx="420624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7CDCABB-A95A-462E-A9E5-18045594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82B9C63-F2AC-4FBF-880E-7A65DBAB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C76E69B-CE49-45A4-B47D-167C685B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904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77F4AA4-1EC1-4228-86EC-C192796E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819BE24-4978-4489-97A5-CFF12BD3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196596"/>
            <a:ext cx="32918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THE RETURN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0CC41CE-6035-4939-86F5-15FD104E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6596"/>
            <a:ext cx="2240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→ so which sites supply the density?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2965351-033C-4027-BA4A-8DA5B84F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5488"/>
            <a:ext cx="749807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</a:pPr>
            <a:r>
              <a:rPr sz="165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Density buys back the calendar: 6.93× against a city store's 7.34× — and the node clears the 40% external ROCE benchmark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361866A-8FEF-46EA-958A-D034C771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42415"/>
            <a:ext cx="8321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72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Asset turn is the turnover leg of ROCE. The campus node clears that leg at 94% of a city store; the margin leg is what the basket lever has to buy. Two legs, one identity, in the external benchmark's metric.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08F7BE2-46DE-4210-BCF6-76D58772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16736"/>
            <a:ext cx="4937760" cy="51206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1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(1,400 / 1,050) × (8.5 / 12)  =  </a:t>
            </a:r>
            <a:r>
              <a:rPr sz="110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1.333</a:t>
            </a:r>
            <a:r>
              <a:rPr sz="11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 × </a:t>
            </a:r>
            <a:r>
              <a:rPr sz="1100" b="1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0.708</a:t>
            </a:r>
            <a:r>
              <a:rPr sz="11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  =  </a:t>
            </a:r>
            <a:r>
              <a:rPr sz="1500" b="1" i="0">
                <a:solidFill>
                  <a:srgbClr val="8A5F00"/>
                </a:solidFill>
                <a:latin typeface="Calibri"/>
                <a:ea typeface="Calibri"/>
                <a:cs typeface="Calibri"/>
              </a:rPr>
              <a:t>0.944</a:t>
            </a:r>
          </a:p>
          <a:p xmlns:a="http://schemas.openxmlformats.org/drawingml/2006/main">
            <a:pPr algn="ctr">
              <a:buNone/>
            </a:pPr>
            <a:r>
              <a:rPr sz="60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density </a:t>
            </a:r>
            <a:r>
              <a:rPr sz="60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+33.3%    </a:t>
            </a:r>
            <a:r>
              <a:rPr sz="600" b="1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calendar </a:t>
            </a:r>
            <a:r>
              <a:rPr sz="60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−29.2%    </a:t>
            </a:r>
            <a:r>
              <a:rPr sz="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dead zone costs </a:t>
            </a:r>
            <a:r>
              <a:rPr sz="60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5.6 points of asset productivity once density offsets it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FE840D9-54FB-48B3-9778-45DED924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83664"/>
            <a:ext cx="493776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9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IF 1,400 ORDERS/DAY IS WRONG  ·  THE RATIO IS LINEAR IN THROUGHPUT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78D70FF5-78B9-482C-98FB-F887C6EB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39112"/>
            <a:ext cx="1179576" cy="347472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59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1,000/day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96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0.675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19077335-2830-49A2-868F-775732AB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039112"/>
            <a:ext cx="1179576" cy="347472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59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1,200/day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96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0.810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9D53298-6111-4422-8368-394B27CD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039112"/>
            <a:ext cx="1179576" cy="347472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026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59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1,400/day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96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0.944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7391D75-4625-4D81-913D-837757D2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39112"/>
            <a:ext cx="1179576" cy="347472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6E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59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1,482/day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960" b="1" i="0">
                <a:solidFill>
                  <a:srgbClr val="8A5F00"/>
                </a:solidFill>
                <a:latin typeface="Calibri"/>
                <a:ea typeface="Calibri"/>
                <a:cs typeface="Calibri"/>
              </a:rPr>
              <a:t>1.000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7373DE3-8C63-442C-8312-ABDFFF65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32304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0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Blinkit's own observed nine-quarter range is 1,334–1,487 orders/day². Across all of it the node runs 0.90–1.00. Parity needs 1,482/day = q_city × σ, which is 99.7% of the observed maximum. At 1,000/day the ratio is 0.67 and the density argument weakens.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2DF65CF3-611C-4992-8555-3642121B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798064"/>
            <a:ext cx="4937760" cy="8412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6F8FD"/>
          </a:solidFill>
          <a:ln xmlns:a="http://schemas.openxmlformats.org/drawingml/2006/main" w="9525">
            <a:solidFill>
              <a:srgbClr val="DFE6F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20C2180-D329-4013-91E9-7D9A16CA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2843784"/>
            <a:ext cx="477316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1" i="0">
                <a:solidFill>
                  <a:srgbClr val="8A5F00"/>
                </a:solidFill>
                <a:latin typeface="Calibri"/>
                <a:ea typeface="Calibri"/>
                <a:cs typeface="Calibri"/>
              </a:rPr>
              <a:t>THE IDENTITY THE BENCHMARK IS SET ON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9157A3C-F866-4ACD-87C4-EFBF58CE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2980944"/>
            <a:ext cx="4773168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90" b="1" i="0">
                <a:solidFill>
                  <a:srgbClr val="0B1F3A"/>
                </a:solidFill>
                <a:latin typeface="Consolas"/>
                <a:ea typeface="Consolas"/>
                <a:cs typeface="Consolas"/>
              </a:rPr>
              <a:t>ROCE = EBIT/CE = (EBIT/NOV) × (NOV/CE)   [DuPont]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90" b="0" i="0">
                <a:solidFill>
                  <a:srgbClr val="5A6785"/>
                </a:solidFill>
                <a:latin typeface="Consolas"/>
                <a:ea typeface="Consolas"/>
                <a:cs typeface="Consolas"/>
              </a:rPr>
              <a:t>                  margin leg   turnover leg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90" b="1" i="0">
                <a:solidFill>
                  <a:srgbClr val="0B1F3A"/>
                </a:solidFill>
                <a:latin typeface="Consolas"/>
                <a:ea typeface="Consolas"/>
                <a:cs typeface="Consolas"/>
              </a:rPr>
              <a:t>     = 4.74% × 8.44× = 40%  at AOV ₹755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90" b="0" i="0">
                <a:solidFill>
                  <a:srgbClr val="5A6785"/>
                </a:solidFill>
                <a:latin typeface="Consolas"/>
                <a:ea typeface="Consolas"/>
                <a:cs typeface="Consolas"/>
              </a:rPr>
              <a:t>AOV* = (ROCE·CE + F·12)/(τ·N) + c/τ    closed form, no search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D4E43CF8-0713-42ED-9859-F5DB80EA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16736"/>
            <a:ext cx="3200400" cy="20574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6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6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ROCE BY SCENARIO   ·   AGAINST ETERNAL'S OWN HURDLE</a:t>
            </a:r>
          </a:p>
        </p:txBody>
      </p:sp>
      <p:graphicFrame>
        <p:nvGraphicFramePr>
          <p:cNvPr id="69" name="Chart 24"/>
          <p:cNvGraphicFramePr/>
          <p:nvPr/>
        </p:nvGraphicFramePr>
        <p:xfrm>
          <a:off xmlns:a="http://schemas.openxmlformats.org/drawingml/2006/main" x="5532120" y="1568196"/>
          <a:ext xmlns:a="http://schemas.openxmlformats.org/drawingml/2006/main" cx="3200400" cy="129844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4a8abaff4f4488"/>
          </a:graphicData>
        </a:graphic>
      </p:graphicFrame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2211022B-34A7-4D88-B117-6F25847D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166" y="1968550"/>
            <a:ext cx="2784347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FFC22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9508D5FD-5396-4556-8297-9AC47C5D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453" y="1845106"/>
            <a:ext cx="146304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60" b="1" i="0">
                <a:solidFill>
                  <a:srgbClr val="B57F00"/>
                </a:solidFill>
                <a:latin typeface="Calibri"/>
                <a:ea typeface="Calibri"/>
                <a:cs typeface="Calibri"/>
              </a:rPr>
              <a:t>hurdle 40%  ·  Eternal, Jan 2026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80E32B0-61B3-4772-8083-7554D633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12364"/>
            <a:ext cx="19842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AOV for ROCE = 0 (breakeven)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3D9AFE1-4511-4F06-991B-C56C9315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12364"/>
            <a:ext cx="32004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₹571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B49E5C6-01E8-41E4-897D-91D45A3D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063240"/>
            <a:ext cx="320040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ACB79DE0-4A8B-479B-816C-6C540FCE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095244"/>
            <a:ext cx="19842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AOV for the 40% hurdle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B8C6E167-9935-40DC-B558-92791A0D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095244"/>
            <a:ext cx="32004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8A5F00"/>
                </a:solidFill>
                <a:latin typeface="Calibri"/>
                <a:ea typeface="Calibri"/>
                <a:cs typeface="Calibri"/>
              </a:rPr>
              <a:t>₹755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B63C3938-A4E6-4F2C-A773-46FF5778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46120"/>
            <a:ext cx="320040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5B41D74B-3C9A-45A3-88DB-D224CB39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78124"/>
            <a:ext cx="19842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premium over breakeven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0789BD8-5CA9-4033-AA34-841B3562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78124"/>
            <a:ext cx="32004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₹184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C8096633-85E9-48B8-A491-28AF8D95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429000"/>
            <a:ext cx="320040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F652506E-7A75-4529-A427-5CE9E006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461004"/>
            <a:ext cx="19842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non-grocery mix it implies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66739081-2D15-4FDB-A67B-D31BDF40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461004"/>
            <a:ext cx="32004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32.3% of GOV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653A9F5B-E2A1-4822-9688-4CDEE4C5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611880"/>
            <a:ext cx="320040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F24A257D-76F7-4272-91A6-A03545CD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643884"/>
            <a:ext cx="19842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vs the disclosed 30–40% range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CBA0DFA4-1A22-4222-AB1A-91B0EBEE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643884"/>
            <a:ext cx="32004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30–40%</a:t>
            </a: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3FD62907-23DF-48E4-8929-61C41C2C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712463"/>
            <a:ext cx="4937760" cy="530352"/>
          </a:xfrm>
          <a:prstGeom xmlns:a="http://schemas.openxmlformats.org/drawingml/2006/main" prst="roundRect">
            <a:avLst>
              <a:gd name="adj" fmla="val 9000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B3261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27432" rIns="64008" bIns="27432" anchor="ctr"/>
          <a:lstStyle xmlns:a="http://schemas.openxmlformats.org/drawingml/2006/main"/>
          <a:p xmlns:a="http://schemas.openxmlformats.org/drawingml/2006/main">
            <a:pPr algn="ctr">
              <a:lnSpc>
                <a:spcPct val="93000"/>
              </a:lnSpc>
              <a:buNone/>
            </a:pPr>
            <a:r>
              <a:rPr sz="590" b="1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TWO ASSET TURNS, BOTH CORRECT — ALWAYS QUOTE THE BASIS   </a:t>
            </a:r>
            <a:r>
              <a:rPr sz="59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The 6.93× above is a like-for-like comparison at a COMMON AOV (₹450), which is what isolates density × calendar. The DuPont leg (8.44×) is the node's own turnover at its achieved AOV on capital employed including working capital. Quoting either without its basis throughout, which is why the two figures reconcile.</a:t>
            </a:r>
          </a:p>
        </p:txBody>
      </p:sp>
      <p:sp>
        <p:nvSpPr>
          <p:cNvPr id="43" name="Rounded Rectangle 42">
            <a:extLst xmlns:a="http://schemas.openxmlformats.org/drawingml/2006/main">
              <a:ext uri="{FF2B5EF4-FFF2-40B4-BE49-F238E27FC236}">
                <a16:creationId xmlns:a16="http://schemas.microsoft.com/office/drawing/2014/main" id="{5B1BEF0F-ED7A-47EB-86CC-AF4FCCF2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352544"/>
            <a:ext cx="8321040" cy="310896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</a:pPr>
            <a:r>
              <a:rPr sz="80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Breakeven was never the hurdle. </a:t>
            </a:r>
            <a:r>
              <a:rPr sz="8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₹571 earns zero on ₹324 lakh; ₹755 earns 40%, and the site supplies the throughput either figure needs.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4BB82805-63CA-4E72-8A9D-309B1BFE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8321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</a:pPr>
            <a:r>
              <a:rPr sz="52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Sources 1,2,4,8,10,11  ·  ROCE model and DuPont reconciliation A6b  ·  throughput sensitivity A6  ·  capital build A5</a:t>
            </a:r>
          </a:p>
        </p:txBody>
      </p:sp>
    </p:spTree>
    <p:extLst>
      <p:ext uri="{BB962C8B-B14F-4D97-AF65-F5344CB8AC3E}">
        <p14:creationId xmlns:p14="http://schemas.microsoft.com/office/powerpoint/2010/main" val="3209630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21235F-BED3-4BDE-9D16-02EF75DF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79AC234-E2CB-4E2C-8AB3-2522D036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150AB4B-F854-43F3-ABE3-98B18470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4D3114D-BEC6-4C4C-B0F1-5B68A344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2E75D63-7CCD-454E-8234-B9A70455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944" y="256032"/>
            <a:ext cx="420624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329D063-ED8E-40CC-8BEB-F71C8E72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E9C0962-0A7F-4DE6-A0D9-4E031F14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904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A1C8ACB-7B18-43A1-962A-CE11DCA6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1382BEF-F79C-4D26-8C44-09014920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196596"/>
            <a:ext cx="32918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SITE SELECTION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64CAA58-5160-4CC0-8380-C8274D90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6596"/>
            <a:ext cx="2240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→ can we operate inside a gate?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E2A046A-DAAA-48BE-A5BF-E755D8AF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5488"/>
            <a:ext cx="749807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</a:pPr>
            <a:r>
              <a:rPr sz="165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The calendar becomes a filter: 569 orders/day of uncontested adjacent demand, 111 districts of 760 — and we disqualified 72% of our own list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AEF2979-7E5C-4337-8A26-0644A0B4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42415"/>
            <a:ext cx="8321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72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The filter binds on access revocation (513/day), not on break-period solvency (471/day), so it is set at the higher of the two. A node that survives losing the campus survives the break by construction.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F29D816-F9C0-456E-AAD0-2FDC0261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16736"/>
            <a:ext cx="2788920" cy="96926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6F8FD"/>
          </a:solidFill>
          <a:ln xmlns:a="http://schemas.openxmlformats.org/drawingml/2006/main" w="9525">
            <a:solidFill>
              <a:srgbClr val="DFE6F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E08997A-F4EE-4D38-A1C9-EF686DD9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1362456"/>
            <a:ext cx="2624327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1" i="0">
                <a:solidFill>
                  <a:srgbClr val="8A5F00"/>
                </a:solidFill>
                <a:latin typeface="Calibri"/>
                <a:ea typeface="Calibri"/>
                <a:cs typeface="Calibri"/>
              </a:rPr>
              <a:t>THE FILTER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BBDA9FB-01AE-4668-9B38-2C3B0CCD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1499616"/>
            <a:ext cx="2624327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90" b="1" i="0">
                <a:solidFill>
                  <a:srgbClr val="0B1F3A"/>
                </a:solidFill>
                <a:latin typeface="Consolas"/>
                <a:ea typeface="Consolas"/>
                <a:cs typeface="Consolas"/>
              </a:rPr>
              <a:t>D_adj ≥ max(D_solvency, D_revocation) / (1−κ)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90" b="0" i="0">
                <a:solidFill>
                  <a:srgbClr val="5A6785"/>
                </a:solidFill>
                <a:latin typeface="Consolas"/>
                <a:ea typeface="Consolas"/>
                <a:cs typeface="Consolas"/>
              </a:rPr>
              <a:t>κ = contested share of the adjacent catchment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90" b="0" i="0">
                <a:solidFill>
                  <a:srgbClr val="5A6785"/>
                </a:solidFill>
                <a:latin typeface="Consolas"/>
                <a:ea typeface="Consolas"/>
                <a:cs typeface="Consolas"/>
              </a:rPr>
              <a:t>  κ=0%   → 569/day      κ=25% → 758/day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90" b="0" i="0">
                <a:solidFill>
                  <a:srgbClr val="5A6785"/>
                </a:solidFill>
                <a:latin typeface="Consolas"/>
                <a:ea typeface="Consolas"/>
                <a:cs typeface="Consolas"/>
              </a:rPr>
              <a:t>  κ=10%  → 632/day      κ=44% → 1,015/day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90" b="0" i="0">
                <a:solidFill>
                  <a:srgbClr val="5A6785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90" b="1" i="0">
                <a:solidFill>
                  <a:srgbClr val="0B1F3A"/>
                </a:solidFill>
                <a:latin typeface="Consolas"/>
                <a:ea typeface="Consolas"/>
                <a:cs typeface="Consolas"/>
              </a:rPr>
              <a:t>7-WEEK RULE, derived:  21d + 28d = 49d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D497A87-0424-4B10-B81D-77365837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322576"/>
            <a:ext cx="2788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0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Only the METRO five-operator overlap (44%) is published⁵, so the requirement is a band and we quote the band. Wind-down (T−21d) and ramp-up (28d) collide below 7 weeks, so a shorter break segment cannot be wound down at all.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6EDA76A7-7AD3-43C8-8D7C-30AC80E9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316736"/>
            <a:ext cx="2606040" cy="20574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6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6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SCREEN, AND THEN OUR OWN LIST</a:t>
            </a:r>
          </a:p>
        </p:txBody>
      </p:sp>
      <p:pic>
        <p:nvPicPr>
          <p:cNvPr id="96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0b90d5ee24f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7560" y="1559052"/>
            <a:ext cx="2606040" cy="973796"/>
          </a:xfrm>
          <a:prstGeom xmlns:a="http://schemas.openxmlformats.org/drawingml/2006/main" prst="rect">
            <a:avLst/>
          </a:prstGeom>
        </p:spPr>
      </p:pic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7364B81-7417-4953-9D15-6D0E9C78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560320"/>
            <a:ext cx="2606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59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760 → 111 on four criteria, then screened for incumbent presence: 9 uncontested, 22 contested, 80 stacked.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82CADEEA-640C-4ADF-B84C-2B6C5F77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316736"/>
            <a:ext cx="2651760" cy="196596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82296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40" b="1" i="0">
                <a:solidFill>
                  <a:srgbClr val="10265C"/>
                </a:solidFill>
                <a:latin typeface="Calibri"/>
                <a:ea typeface="Calibri"/>
                <a:cs typeface="Calibri"/>
              </a:rPr>
              <a:t>RANKED CANDIDATES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CE94D1E-933F-4F4F-BE57-6C38E4A7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316736"/>
            <a:ext cx="25603" cy="1965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3AED4EB-51A5-40F2-B028-1D98E38B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568196"/>
            <a:ext cx="1060704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DISTRICT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A7D3DC3-C062-4FCF-AF69-D0BF1CF5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4" y="1568196"/>
            <a:ext cx="79552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78F60F0-2793-4B36-91A7-F37FAD7F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1568196"/>
            <a:ext cx="397764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URB COL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9B82381-675B-468E-A88C-D3EC7CFE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756" y="1568196"/>
            <a:ext cx="397764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INCUMB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9397B79-6780-4076-9395-61F73DAB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696212"/>
            <a:ext cx="265176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0E44C591-747A-466E-B821-3543B6F0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709928"/>
            <a:ext cx="106070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Khordha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6BBD0986-5E69-49E0-8A71-ECCDD198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4" y="1709928"/>
            <a:ext cx="79552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Odisha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5391CE6-0582-4BEE-A777-410B924E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1709928"/>
            <a:ext cx="3977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169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4779C2F-2B19-41FD-9A4A-B079520D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756" y="1709928"/>
            <a:ext cx="3977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424D105F-499D-452E-9CFE-F48E298D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879092"/>
            <a:ext cx="106070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Kalaburagi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44607751-F264-4B1C-AC67-E626E8ED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4" y="1879092"/>
            <a:ext cx="79552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Karnataka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A5D22C5F-0B1C-42EE-A0A4-AC4186C2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1879092"/>
            <a:ext cx="3977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229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EA18D947-9EEB-4740-AA87-998AC14E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756" y="1879092"/>
            <a:ext cx="3977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14A126CE-A558-4675-A130-9BC257C8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034540"/>
            <a:ext cx="265176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1149B4C8-A861-40ED-80F1-9622F8FC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048256"/>
            <a:ext cx="106070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Belagavi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0F33DD85-14B0-4156-8E50-343287D1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4" y="2048256"/>
            <a:ext cx="79552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Karnataka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3649A490-C6CF-42B1-A4DB-0C4A817A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2048256"/>
            <a:ext cx="3977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190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C977A3AA-36BE-4FC8-99CA-553E004F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756" y="2048256"/>
            <a:ext cx="3977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005422F0-AEED-445F-9C56-091D2DE8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217420"/>
            <a:ext cx="106070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Visakhapatnam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9F3B23D6-EE6E-4F23-AF39-37A90FC6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4" y="2217420"/>
            <a:ext cx="79552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Andhra Prad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3E3EFBC5-656C-43CF-AAF5-0D00CFE7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2217420"/>
            <a:ext cx="3977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133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4E1DCEDF-2468-4C30-BC5A-3BA586D7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756" y="2217420"/>
            <a:ext cx="3977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8CF38B20-76D6-4AA5-86EC-152354F9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372868"/>
            <a:ext cx="265176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22C72503-39A1-4C5B-AF51-159E58D6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386584"/>
            <a:ext cx="106070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Dharwad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2C428376-848D-4D5E-93BF-80084A5A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4" y="2386584"/>
            <a:ext cx="79552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Karnataka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741BC12A-C1EA-421B-97C3-2508847D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2386584"/>
            <a:ext cx="3977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160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CBC7B2ED-E32F-4C29-91DC-431DECEB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756" y="2386584"/>
            <a:ext cx="3977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4330EEA3-2D36-4947-8148-0D1DC999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615184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59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CONVERGENCE: Karnataka and Odisha were chosen at state level off residential intensity and hostel occupancy. The district register, pulled later from a different table, first. Two tables, pulled at different times, agreeing.</a:t>
            </a:r>
          </a:p>
        </p:txBody>
      </p:sp>
      <p:sp>
        <p:nvSpPr>
          <p:cNvPr id="51" name="Rounded Rectangle 50">
            <a:extLst xmlns:a="http://schemas.openxmlformats.org/drawingml/2006/main">
              <a:ext uri="{FF2B5EF4-FFF2-40B4-BE49-F238E27FC236}">
                <a16:creationId xmlns:a16="http://schemas.microsoft.com/office/drawing/2014/main" id="{BFED5D80-FE1F-4616-AD32-C48D896A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44368"/>
            <a:ext cx="4754880" cy="658368"/>
          </a:xfrm>
          <a:prstGeom xmlns:a="http://schemas.openxmlformats.org/drawingml/2006/main" prst="roundRect">
            <a:avLst>
              <a:gd name="adj" fmla="val 9000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B3261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27432" rIns="64008" bIns="27432" anchor="ctr"/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</a:pPr>
            <a:r>
              <a:rPr sz="590" b="1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WHAT THIS FLAG CANNOT DO   </a:t>
            </a:r>
            <a:r>
              <a:rPr sz="59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Expected incumbent stores = urban colleges × non-metro store density, so ‘uncontested’ is arithmetically ‘6–7 urban colleges’: the 9 clean districts are the 9 smallest, sitting on the screen's own floor. The flag ranks candidates; siting still runs the cluster test. Contestedness and cluster density trade off directly — there is no large empty district, and the plan does not need one: </a:t>
            </a:r>
            <a:r>
              <a:rPr sz="59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campus demand inside the gate is uncontested by construction, and what this screen prices is the adjacent half.</a:t>
            </a:r>
          </a:p>
          <a:p xmlns:a="http://schemas.openxmlformats.org/drawingml/2006/main">
            <a:pPr>
              <a:lnSpc>
                <a:spcPct val="94000"/>
              </a:lnSpc>
              <a:buNone/>
            </a:pPr>
            <a:r>
              <a:rPr sz="57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The register also carries no enrolment⁶, so district student counts are imputed off state ratios⁷ and labelled as such.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C6B9F509-A7BA-417D-8530-35CDB98D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944368"/>
            <a:ext cx="338328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6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CALENDAR SHAPE  ·  WHY THE 7-WEEK CONDITION SITS IN THE FILTER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4EE2A7D9-2A2D-489F-93C9-9415CCF2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081528"/>
            <a:ext cx="2097633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Contiguous (model's current as  ·  100% wind-downable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A7739630-DB7D-4945-81E7-B26C8704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081528"/>
            <a:ext cx="33832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₹21.3 L   +0%</a:t>
            </a:r>
          </a:p>
        </p:txBody>
      </p:sp>
      <p:sp>
        <p:nvSpPr>
          <p:cNvPr id="55" name="Rectangle 54">
            <a:extLst xmlns:a="http://schemas.openxmlformats.org/drawingml/2006/main">
              <a:ext uri="{FF2B5EF4-FFF2-40B4-BE49-F238E27FC236}">
                <a16:creationId xmlns:a16="http://schemas.microsoft.com/office/drawing/2014/main" id="{A665287F-4111-4D25-8EA3-B6D739C9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186684"/>
            <a:ext cx="338328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FBBCD819-88A6-470D-96B5-E999B659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218688"/>
            <a:ext cx="2097633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Typical  ·  53% wind-downable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ADD0EBF5-8552-46EC-A688-E907F7A0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218688"/>
            <a:ext cx="33832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₹27.5 L   +29%</a:t>
            </a:r>
          </a:p>
        </p:txBody>
      </p:sp>
      <p:sp>
        <p:nvSpPr>
          <p:cNvPr id="58" name="Rectangle 57">
            <a:extLst xmlns:a="http://schemas.openxmlformats.org/drawingml/2006/main">
              <a:ext uri="{FF2B5EF4-FFF2-40B4-BE49-F238E27FC236}">
                <a16:creationId xmlns:a16="http://schemas.microsoft.com/office/drawing/2014/main" id="{C82B234E-CD67-4FCD-9A95-970C04C3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323844"/>
            <a:ext cx="338328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22325059-3BDD-4528-A1C3-45DC05B0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355848"/>
            <a:ext cx="2097633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Fragmented  ·  0% wind-downable</a:t>
            </a: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13621E0F-9DBE-4B6E-9736-39DF83C6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355848"/>
            <a:ext cx="33832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1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₹31.6 L   +49%</a:t>
            </a:r>
          </a:p>
        </p:txBody>
      </p:sp>
      <p:sp>
        <p:nvSpPr>
          <p:cNvPr id="61" name="Rectangle 60">
            <a:extLst xmlns:a="http://schemas.openxmlformats.org/drawingml/2006/main">
              <a:ext uri="{FF2B5EF4-FFF2-40B4-BE49-F238E27FC236}">
                <a16:creationId xmlns:a16="http://schemas.microsoft.com/office/drawing/2014/main" id="{0E92DE37-445E-4D4B-97B8-BC21B42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461003"/>
            <a:ext cx="338328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DE596EA7-4077-48CF-B4C3-0D6C3800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493008"/>
            <a:ext cx="2097633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Semester system, one long summ  ·  72% wind-downable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30DB962-11A7-4E70-A74C-A5A27A93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493008"/>
            <a:ext cx="33832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₹24.9 L   +17%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BC6D5F73-9FFA-4973-BBEE-9EFEBF0C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657600"/>
            <a:ext cx="338328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2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Priced in full on A-7b.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A8F265E2-6449-47BC-8D24-0193EAF4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657600"/>
            <a:ext cx="832104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6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THE SCREEN, DRAWN  ·  EVERY STEP IS A REGISTER FIELD, NOT A JUDGEMENT</a:t>
            </a:r>
          </a:p>
        </p:txBody>
      </p:sp>
      <p:sp>
        <p:nvSpPr>
          <p:cNvPr id="66" name="Chevron 65">
            <a:extLst xmlns:a="http://schemas.openxmlformats.org/drawingml/2006/main">
              <a:ext uri="{FF2B5EF4-FFF2-40B4-BE49-F238E27FC236}">
                <a16:creationId xmlns:a16="http://schemas.microsoft.com/office/drawing/2014/main" id="{017CD1F9-2190-4FAD-AC83-59559A4F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794760"/>
            <a:ext cx="1700784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" rIns="18288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72,352  </a:t>
            </a:r>
            <a:r>
              <a:rPr sz="54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institutions</a:t>
            </a:r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E4EF36FF-4BD8-4D0C-A97F-6D2EABE5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87368"/>
            <a:ext cx="155448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2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AISHE register</a:t>
            </a:r>
          </a:p>
        </p:txBody>
      </p:sp>
      <p:sp>
        <p:nvSpPr>
          <p:cNvPr id="68" name="Chevron 67">
            <a:extLst xmlns:a="http://schemas.openxmlformats.org/drawingml/2006/main">
              <a:ext uri="{FF2B5EF4-FFF2-40B4-BE49-F238E27FC236}">
                <a16:creationId xmlns:a16="http://schemas.microsoft.com/office/drawing/2014/main" id="{7513E4BC-79DE-44D1-8506-24B32B6A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94760"/>
            <a:ext cx="1700784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DCB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" rIns="18288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54,014  </a:t>
            </a:r>
            <a:r>
              <a:rPr sz="54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colleges</a:t>
            </a:r>
          </a:p>
        </p:txBody>
      </p:sp>
      <p:sp>
        <p:nvSpPr>
          <p:cNvPr id="69" name="TextBox 68">
            <a:extLst xmlns:a="http://schemas.openxmlformats.org/drawingml/2006/main">
              <a:ext uri="{FF2B5EF4-FFF2-40B4-BE49-F238E27FC236}">
                <a16:creationId xmlns:a16="http://schemas.microsoft.com/office/drawing/2014/main" id="{B05E86AC-1BBC-484A-87FD-D3B22D76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087368"/>
            <a:ext cx="155448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2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colleges only</a:t>
            </a:r>
          </a:p>
        </p:txBody>
      </p:sp>
      <p:sp>
        <p:nvSpPr>
          <p:cNvPr id="70" name="Chevron 69">
            <a:extLst xmlns:a="http://schemas.openxmlformats.org/drawingml/2006/main">
              <a:ext uri="{FF2B5EF4-FFF2-40B4-BE49-F238E27FC236}">
                <a16:creationId xmlns:a16="http://schemas.microsoft.com/office/drawing/2014/main" id="{EBA006E0-971C-422F-A588-5C03902C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794760"/>
            <a:ext cx="1700784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869EC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" rIns="18288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21,000  </a:t>
            </a:r>
            <a:r>
              <a:rPr sz="5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urban</a:t>
            </a:r>
          </a:p>
        </p:txBody>
      </p:sp>
      <p:sp>
        <p:nvSpPr>
          <p:cNvPr id="71" name="TextBox 70">
            <a:extLst xmlns:a="http://schemas.openxmlformats.org/drawingml/2006/main">
              <a:ext uri="{FF2B5EF4-FFF2-40B4-BE49-F238E27FC236}">
                <a16:creationId xmlns:a16="http://schemas.microsoft.com/office/drawing/2014/main" id="{00929711-E4CA-4712-9060-D4538AC4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59" y="4087368"/>
            <a:ext cx="155448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2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urban flag</a:t>
            </a:r>
          </a:p>
        </p:txBody>
      </p:sp>
      <p:sp>
        <p:nvSpPr>
          <p:cNvPr id="72" name="Chevron 71">
            <a:extLst xmlns:a="http://schemas.openxmlformats.org/drawingml/2006/main">
              <a:ext uri="{FF2B5EF4-FFF2-40B4-BE49-F238E27FC236}">
                <a16:creationId xmlns:a16="http://schemas.microsoft.com/office/drawing/2014/main" id="{27CDE0F7-B19C-4C81-8B13-0E838919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794760"/>
            <a:ext cx="1700784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026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" rIns="18288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111  </a:t>
            </a:r>
            <a:r>
              <a:rPr sz="5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districts</a:t>
            </a:r>
          </a:p>
        </p:txBody>
      </p:sp>
      <p:sp>
        <p:nvSpPr>
          <p:cNvPr id="73" name="TextBox 72">
            <a:extLst xmlns:a="http://schemas.openxmlformats.org/drawingml/2006/main">
              <a:ext uri="{FF2B5EF4-FFF2-40B4-BE49-F238E27FC236}">
                <a16:creationId xmlns:a16="http://schemas.microsoft.com/office/drawing/2014/main" id="{5D88AA95-3471-4D89-B7CB-838137EA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4087368"/>
            <a:ext cx="155448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2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four criteria</a:t>
            </a:r>
          </a:p>
        </p:txBody>
      </p:sp>
      <p:sp>
        <p:nvSpPr>
          <p:cNvPr id="74" name="Chevron 73">
            <a:extLst xmlns:a="http://schemas.openxmlformats.org/drawingml/2006/main">
              <a:ext uri="{FF2B5EF4-FFF2-40B4-BE49-F238E27FC236}">
                <a16:creationId xmlns:a16="http://schemas.microsoft.com/office/drawing/2014/main" id="{1CC5EE19-DF9D-44A0-9256-F95CCEA3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794760"/>
            <a:ext cx="1700784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C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" rIns="18288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2  </a:t>
            </a:r>
            <a:r>
              <a:rPr sz="54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districts, 6 sites</a:t>
            </a:r>
          </a:p>
        </p:txBody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9028895F-D447-4461-82F0-9CDB528D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87368"/>
            <a:ext cx="155448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2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cluster test, W1–2</a:t>
            </a:r>
          </a:p>
        </p:txBody>
      </p:sp>
      <p:sp>
        <p:nvSpPr>
          <p:cNvPr id="76" name="Rounded Rectangle 75">
            <a:extLst xmlns:a="http://schemas.openxmlformats.org/drawingml/2006/main">
              <a:ext uri="{FF2B5EF4-FFF2-40B4-BE49-F238E27FC236}">
                <a16:creationId xmlns:a16="http://schemas.microsoft.com/office/drawing/2014/main" id="{52BBFDCF-02A1-43AA-81B7-5102EDED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352544"/>
            <a:ext cx="8321040" cy="310896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</a:pPr>
            <a:r>
              <a:rPr sz="80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Site chosen, break survivable, revocation hedged. </a:t>
            </a:r>
            <a:r>
              <a:rPr sz="8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Now the node has to run inside a gate that an incumbent cannot pass.</a:t>
            </a:r>
          </a:p>
        </p:txBody>
      </p:sp>
      <p:sp>
        <p:nvSpPr>
          <p:cNvPr id="77" name="TextBox 76">
            <a:extLst xmlns:a="http://schemas.openxmlformats.org/drawingml/2006/main">
              <a:ext uri="{FF2B5EF4-FFF2-40B4-BE49-F238E27FC236}">
                <a16:creationId xmlns:a16="http://schemas.microsoft.com/office/drawing/2014/main" id="{5B6C2992-BFBA-4DB2-BFDC-5506F4EB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8321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</a:pPr>
            <a:r>
              <a:rPr sz="52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Sources 5,6,7  ·  111-district screen A7  ·  fragmentation A7b  ·  revocation and solvency thresholds A4</a:t>
            </a:r>
          </a:p>
        </p:txBody>
      </p:sp>
    </p:spTree>
    <p:extLst>
      <p:ext uri="{BB962C8B-B14F-4D97-AF65-F5344CB8AC3E}">
        <p14:creationId xmlns:p14="http://schemas.microsoft.com/office/powerpoint/2010/main" val="12985513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74E6847-9BB7-4AE6-BA6D-46968ADA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C122F48-7F5D-47BB-9BCC-DF1D98FA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149BB2B-223D-484C-AED7-9A2C4CCC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0EECBD9-62CB-4E09-A862-E0A90D8A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D83E0FB-1D14-409E-AE84-FADF9DD8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944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948674-2F39-4B33-B0CF-4DDC7C05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56032"/>
            <a:ext cx="420624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F35F574-B83F-4529-9D7D-531CA795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904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96C30CC-84B1-4550-ABAB-5A8570A8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BF266B8-2505-450C-BD08-ED30107E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196596"/>
            <a:ext cx="32918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THE OPERATING MODEL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2BE6251-52AA-4B7A-B1E3-24E82DE4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6596"/>
            <a:ext cx="2240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→ does it clear the hurdle?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21DC757-0B03-4131-8DF2-4B81BB82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5488"/>
            <a:ext cx="749807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</a:pPr>
            <a:r>
              <a:rPr sz="165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Gate batching cuts last mile from ₹42 to ₹17.6 an order while modelled SLA stays within 27.1 minutes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E1FF7E5-B0A4-4E23-A160-F6640607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42415"/>
            <a:ext cx="8321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72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Cost per order is lowest at exam-night peak, and the fastest state is average demand, not peak: speed and cost are different curves. We treat the fleet as a labour class and the SLA as a batching rule, and together they produce the ₹17.6 per order that slide 3 depends on.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96FB04D-B55A-4A45-A04D-DB9B1158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16736"/>
            <a:ext cx="2788920" cy="10972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6F8FD"/>
          </a:solidFill>
          <a:ln xmlns:a="http://schemas.openxmlformats.org/drawingml/2006/main" w="9525">
            <a:solidFill>
              <a:srgbClr val="DFE6F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1241F68-93A3-4896-AD15-73AB96B8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1362456"/>
            <a:ext cx="2624327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1" i="0">
                <a:solidFill>
                  <a:srgbClr val="8A5F00"/>
                </a:solidFill>
                <a:latin typeface="Calibri"/>
                <a:ea typeface="Calibri"/>
                <a:cs typeface="Calibri"/>
              </a:rPr>
              <a:t>TRIP AND BATCH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9C3FC3D-A6C1-43D4-B4B6-8AE78F3D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1499616"/>
            <a:ext cx="2624327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90" b="1" i="0">
                <a:solidFill>
                  <a:srgbClr val="0B1F3A"/>
                </a:solidFill>
                <a:latin typeface="Consolas"/>
                <a:ea typeface="Consolas"/>
                <a:cs typeface="Consolas"/>
              </a:rPr>
              <a:t>t_trip = 2·(d/v) + b·τ         trip minutes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90" b="1" i="0">
                <a:solidFill>
                  <a:srgbClr val="0B1F3A"/>
                </a:solidFill>
                <a:latin typeface="Consolas"/>
                <a:ea typeface="Consolas"/>
                <a:cs typeface="Consolas"/>
              </a:rPr>
              <a:t>C/order = (w/60)·t_trip / b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90" b="0" i="0">
                <a:solidFill>
                  <a:srgbClr val="5A6785"/>
                </a:solidFill>
                <a:latin typeface="Consolas"/>
                <a:ea typeface="Consolas"/>
                <a:cs typeface="Consolas"/>
              </a:rPr>
              <a:t>  city leg   w = ₹168/ACTIVE hr   (gig)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90" b="0" i="0">
                <a:solidFill>
                  <a:srgbClr val="5A6785"/>
                </a:solidFill>
                <a:latin typeface="Consolas"/>
                <a:ea typeface="Consolas"/>
                <a:cs typeface="Consolas"/>
              </a:rPr>
              <a:t>  gate leg   w = ₹72/ROSTERED hr  (employed)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90" b="1" i="0">
                <a:solidFill>
                  <a:srgbClr val="0B1F3A"/>
                </a:solidFill>
                <a:latin typeface="Consolas"/>
                <a:ea typeface="Consolas"/>
                <a:cs typeface="Consolas"/>
              </a:rPr>
              <a:t>  ratio 2.33× ; on UBS's anchor 1.60×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90" b="1" i="0">
                <a:solidFill>
                  <a:srgbClr val="0B1F3A"/>
                </a:solidFill>
                <a:latin typeface="Consolas"/>
                <a:ea typeface="Consolas"/>
                <a:cs typeface="Consolas"/>
              </a:rPr>
              <a:t>b(λ) = min(K, ⌈λ·W/60⌉)   W=6 min, K=12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590" b="0" i="0">
                <a:solidFill>
                  <a:srgbClr val="5A6785"/>
                </a:solidFill>
                <a:latin typeface="Consolas"/>
                <a:ea typeface="Consolas"/>
                <a:cs typeface="Consolas"/>
              </a:rPr>
              <a:t>Little's Law  L = λ·W  on the gate queue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56B7045-F7F1-4F73-9AC6-62554641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50592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0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Cost per order falls linearly in batch and rises linearly in the wage of the class serving the leg. Only the in-gate leg can change that class, so the gate is the decision and the vehicle follows from it.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C02C9A0-9A02-402F-8327-6C9865C2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852928"/>
            <a:ext cx="278892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LABOUR CLASS  ·  FIVE COSTED PARAMETERS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2C48FF-3E78-426F-A5BA-6F288869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008376"/>
            <a:ext cx="117134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CLASS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0E14310-42F5-41BF-BE68-CFC92CB0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826" y="3008376"/>
            <a:ext cx="362559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FIX/d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13DE4BF-7C13-4BC5-8CF1-9335960C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386" y="3008376"/>
            <a:ext cx="418337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₹/ord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94F3D8C-6361-43DA-9EB4-AA4B7A90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3724" y="3008376"/>
            <a:ext cx="418337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₹/hr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B3391FE8-3E6C-4AFB-AA06-3AC2BC97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062" y="3008376"/>
            <a:ext cx="418337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UTIL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F4A4BED-AB29-4E24-AF22-E767A519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36391"/>
            <a:ext cx="2788920" cy="1234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1325AAF-8B9D-4C90-8C2B-E8ED9231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50108"/>
            <a:ext cx="117134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7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GIG · city leg, to the gate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787BA00-DCC9-4B3F-A245-519473FC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826" y="3150108"/>
            <a:ext cx="362559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B3428B3D-02E3-4159-9FBD-E690326E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386" y="3150108"/>
            <a:ext cx="41833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42.06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192D417-7587-422C-88BE-92CBBBA0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3724" y="3150108"/>
            <a:ext cx="41833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1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168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35BACC4A-4CF4-4FB9-A3AB-77E364BC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062" y="3150108"/>
            <a:ext cx="41833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40%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D2B4AF2-FB15-4BB5-B5B0-8A4CE7A2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82696"/>
            <a:ext cx="117134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7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GIG · JM non-metro anchor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64FB4885-D2B6-4817-880A-B0B45435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826" y="3282696"/>
            <a:ext cx="362559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A20F6CAE-6EF8-4EAC-BD92-14C9EBA7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386" y="3282696"/>
            <a:ext cx="41833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43.96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F8D94436-9384-4AFB-A28A-327CAAE7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3724" y="3282696"/>
            <a:ext cx="41833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1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176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CC7CC237-D5A5-46F5-9F24-AA7B5DFC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062" y="3282696"/>
            <a:ext cx="41833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36%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6D3BDDD6-58F1-4F1D-9128-34DB3013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401568"/>
            <a:ext cx="2788920" cy="1234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D1961472-4B28-4DEA-A755-DEB3B278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415284"/>
            <a:ext cx="117134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7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GIG · same in-gate leg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E7A61838-E4E1-4455-905E-18A23D1D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826" y="3415284"/>
            <a:ext cx="362559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0371A995-C400-4838-A453-5D4D3115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386" y="3415284"/>
            <a:ext cx="41833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6.66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05492FD9-A8FB-4005-815A-3C492FBD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3724" y="3415284"/>
            <a:ext cx="41833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1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168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232EF469-96B0-4DBD-B684-87315DB0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062" y="3415284"/>
            <a:ext cx="41833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—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99128345-F931-418B-B88C-E931A4D4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547872"/>
            <a:ext cx="117134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7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RUNNER · in-gate, at capacity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DCB5FCB8-4761-4C99-892E-1405B575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826" y="3547872"/>
            <a:ext cx="362559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577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AFB66BA3-E2C6-4039-BBB8-7F140730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386" y="3547872"/>
            <a:ext cx="41833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2.85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956DF21D-0773-492E-9131-3D3BCD59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3724" y="3547872"/>
            <a:ext cx="41833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72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DB02103F-6C43-49C5-B764-7AC60CDD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062" y="3547872"/>
            <a:ext cx="41833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100%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5091ED14-BC22-4257-B35B-EB71873B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730752"/>
            <a:ext cx="172913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store floor · 48.6% of term volume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F2692FB8-39D1-456D-88E2-8A28A71E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730752"/>
            <a:ext cx="27889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1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681/day</a:t>
            </a:r>
          </a:p>
        </p:txBody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FD94881B-D898-429D-AFDE-8C4BEAED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831335"/>
            <a:ext cx="278892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4351AFFA-929D-4EA1-BA04-690BC1BF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863339"/>
            <a:ext cx="172913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runner floor · below it the gate is gig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363A0A39-466B-405E-9B6B-641C9B50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863339"/>
            <a:ext cx="27889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1" i="0">
                <a:solidFill>
                  <a:srgbClr val="8A5F00"/>
                </a:solidFill>
                <a:latin typeface="Calibri"/>
                <a:ea typeface="Calibri"/>
                <a:cs typeface="Calibri"/>
              </a:rPr>
              <a:t>87/day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6BF0B1AC-7B96-4114-9937-FA53A44A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032504"/>
            <a:ext cx="2788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Rows 3 and 4 are the SAME leg, like-for-like. The 87/day threshold and the per-gate roster at plan (2 runners at each of 3 gates, 6 in all) are solved against every alternative mix on A-5b, where pooling is priced as an upside.</a:t>
            </a:r>
          </a:p>
        </p:txBody>
      </p:sp>
      <p:sp>
        <p:nvSpPr>
          <p:cNvPr id="52" name="Rounded Rectangle 51">
            <a:extLst xmlns:a="http://schemas.openxmlformats.org/drawingml/2006/main">
              <a:ext uri="{FF2B5EF4-FFF2-40B4-BE49-F238E27FC236}">
                <a16:creationId xmlns:a16="http://schemas.microsoft.com/office/drawing/2014/main" id="{8D141540-3EFB-4EB7-83B6-DA593986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316736"/>
            <a:ext cx="2651760" cy="20574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6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6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SLA  ·  BATCH WAIT FALLS AS DEMAND RISES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761F0A5C-F803-45ED-82A0-F7218C12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577340"/>
            <a:ext cx="74249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27C174D4-EC39-46EA-9A81-F9FC8936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052" y="1577340"/>
            <a:ext cx="503834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ORD/HR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34522CF7-2C0D-45B3-AD75-12A06FE9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887" y="1577340"/>
            <a:ext cx="397764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BATCH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C4D89D93-ED09-4762-AC18-1A9DA983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651" y="1577340"/>
            <a:ext cx="450799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SLA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5B17BCA2-5D63-4B08-B6CA-245DD120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450" y="1577340"/>
            <a:ext cx="556869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₹/ORD</a:t>
            </a:r>
          </a:p>
        </p:txBody>
      </p:sp>
      <p:sp>
        <p:nvSpPr>
          <p:cNvPr id="58" name="Rectangle 57">
            <a:extLst xmlns:a="http://schemas.openxmlformats.org/drawingml/2006/main">
              <a:ext uri="{FF2B5EF4-FFF2-40B4-BE49-F238E27FC236}">
                <a16:creationId xmlns:a16="http://schemas.microsoft.com/office/drawing/2014/main" id="{21566D9D-A57D-4FB9-8324-A80972DD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705356"/>
            <a:ext cx="2651760" cy="1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676C2B3C-8BD0-476A-861C-8EB96B64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719072"/>
            <a:ext cx="74249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9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Trough</a:t>
            </a: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DC89CFB7-0B1F-4863-AE9E-A08657FB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052" y="1719072"/>
            <a:ext cx="50383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9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6.5</a:t>
            </a: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BDDDF577-3C6F-4A4D-B0E1-D5346010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887" y="1719072"/>
            <a:ext cx="3977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9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85BDBD60-B035-40A8-B9C4-B39100BB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651" y="1719072"/>
            <a:ext cx="450799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9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25.7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F2A9991F-1D9B-4B0E-A4FA-6C3A1C23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450" y="1719072"/>
            <a:ext cx="556869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90" b="1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54.5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EC7A542A-302B-43FE-972C-0EC263FF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879092"/>
            <a:ext cx="74249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9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Average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01F6DFA5-31B1-46A3-8A9E-461C85AC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052" y="1879092"/>
            <a:ext cx="50383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9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25.9</a:t>
            </a: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277ACC79-8493-4F9E-AD09-DECA21F7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887" y="1879092"/>
            <a:ext cx="3977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9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4CFD6572-58CD-42AD-B2B6-E670CF54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651" y="1879092"/>
            <a:ext cx="450799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9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21.6</a:t>
            </a: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F928E54E-879F-4C4D-B269-BDAA19CC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450" y="1879092"/>
            <a:ext cx="556869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9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29.0</a:t>
            </a:r>
          </a:p>
        </p:txBody>
      </p:sp>
      <p:sp>
        <p:nvSpPr>
          <p:cNvPr id="69" name="Rectangle 68">
            <a:extLst xmlns:a="http://schemas.openxmlformats.org/drawingml/2006/main">
              <a:ext uri="{FF2B5EF4-FFF2-40B4-BE49-F238E27FC236}">
                <a16:creationId xmlns:a16="http://schemas.microsoft.com/office/drawing/2014/main" id="{7137CFF8-ECE5-45A5-833F-37788C29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025395"/>
            <a:ext cx="2651760" cy="1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02FADF8D-99E7-4FB6-B80C-49028DB7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039112"/>
            <a:ext cx="74249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9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Peak 4×</a:t>
            </a:r>
          </a:p>
        </p:txBody>
      </p:sp>
      <p:sp>
        <p:nvSpPr>
          <p:cNvPr id="71" name="TextBox 70">
            <a:extLst xmlns:a="http://schemas.openxmlformats.org/drawingml/2006/main">
              <a:ext uri="{FF2B5EF4-FFF2-40B4-BE49-F238E27FC236}">
                <a16:creationId xmlns:a16="http://schemas.microsoft.com/office/drawing/2014/main" id="{A739E8CC-40AB-4AAA-8B20-0381EBA3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052" y="2039112"/>
            <a:ext cx="50383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9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103.7</a:t>
            </a:r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8BA77D2F-A1CA-4D5D-A8B5-FA06F960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887" y="2039112"/>
            <a:ext cx="3977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9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73" name="TextBox 72">
            <a:extLst xmlns:a="http://schemas.openxmlformats.org/drawingml/2006/main">
              <a:ext uri="{FF2B5EF4-FFF2-40B4-BE49-F238E27FC236}">
                <a16:creationId xmlns:a16="http://schemas.microsoft.com/office/drawing/2014/main" id="{4A21E686-09E1-43F0-910F-3DD3322C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651" y="2039112"/>
            <a:ext cx="450799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9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27.1</a:t>
            </a:r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9FB71778-2C97-4DB1-9A6D-48CFED3B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450" y="2039112"/>
            <a:ext cx="556869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9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8.5</a:t>
            </a:r>
          </a:p>
        </p:txBody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4A7C2DB8-BBBC-4A58-931D-5C8D6F17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199132"/>
            <a:ext cx="74249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9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Exam 6×</a:t>
            </a:r>
          </a:p>
        </p:txBody>
      </p:sp>
      <p:sp>
        <p:nvSpPr>
          <p:cNvPr id="76" name="TextBox 75">
            <a:extLst xmlns:a="http://schemas.openxmlformats.org/drawingml/2006/main">
              <a:ext uri="{FF2B5EF4-FFF2-40B4-BE49-F238E27FC236}">
                <a16:creationId xmlns:a16="http://schemas.microsoft.com/office/drawing/2014/main" id="{1C8B9BFE-2513-4A9B-AE1C-F6214D39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052" y="2199132"/>
            <a:ext cx="50383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9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155.6</a:t>
            </a:r>
          </a:p>
        </p:txBody>
      </p:sp>
      <p:sp>
        <p:nvSpPr>
          <p:cNvPr id="77" name="TextBox 76">
            <a:extLst xmlns:a="http://schemas.openxmlformats.org/drawingml/2006/main">
              <a:ext uri="{FF2B5EF4-FFF2-40B4-BE49-F238E27FC236}">
                <a16:creationId xmlns:a16="http://schemas.microsoft.com/office/drawing/2014/main" id="{C2D5F5A0-C519-441E-9EB5-CB435924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887" y="2199132"/>
            <a:ext cx="3977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9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0D34234B-08F1-4052-AA35-6839F518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651" y="2199132"/>
            <a:ext cx="450799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9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27.1</a:t>
            </a:r>
          </a:p>
        </p:txBody>
      </p:sp>
      <p:sp>
        <p:nvSpPr>
          <p:cNvPr id="79" name="TextBox 78">
            <a:extLst xmlns:a="http://schemas.openxmlformats.org/drawingml/2006/main">
              <a:ext uri="{FF2B5EF4-FFF2-40B4-BE49-F238E27FC236}">
                <a16:creationId xmlns:a16="http://schemas.microsoft.com/office/drawing/2014/main" id="{03B55B19-042A-4C85-87A3-EC21614A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450" y="2199132"/>
            <a:ext cx="556869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9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7.6</a:t>
            </a:r>
          </a:p>
        </p:txBody>
      </p:sp>
      <p:sp>
        <p:nvSpPr>
          <p:cNvPr id="80" name="TextBox 79">
            <a:extLst xmlns:a="http://schemas.openxmlformats.org/drawingml/2006/main">
              <a:ext uri="{FF2B5EF4-FFF2-40B4-BE49-F238E27FC236}">
                <a16:creationId xmlns:a16="http://schemas.microsoft.com/office/drawing/2014/main" id="{65206C56-A730-497D-8BC1-D9D9BA9A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308860"/>
            <a:ext cx="2651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58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A 4× spike needs 1.4× the runners, because batch size absorbs it before headcount does. 62.7% of orders fall in the peak band, which is why the volume-weighted cost is ₹17.6 and not the ₹29.0 an average-hour calculation gives. The in-gate leg is FLAT at ₹3.36 across all four states, because a rostered runner is paid whether volume arrives or not: every rupee of the swing is the gig city leg.</a:t>
            </a:r>
          </a:p>
        </p:txBody>
      </p:sp>
      <p:sp>
        <p:nvSpPr>
          <p:cNvPr id="81" name="TextBox 80">
            <a:extLst xmlns:a="http://schemas.openxmlformats.org/drawingml/2006/main">
              <a:ext uri="{FF2B5EF4-FFF2-40B4-BE49-F238E27FC236}">
                <a16:creationId xmlns:a16="http://schemas.microsoft.com/office/drawing/2014/main" id="{C14FF8E8-C5F6-4633-A370-6F9341E0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802636"/>
            <a:ext cx="265176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MODE  ·  IN-GATE ₹/ORDER BY BATCH</a:t>
            </a:r>
          </a:p>
        </p:txBody>
      </p:sp>
      <p:sp>
        <p:nvSpPr>
          <p:cNvPr id="82" name="TextBox 81">
            <a:extLst xmlns:a="http://schemas.openxmlformats.org/drawingml/2006/main">
              <a:ext uri="{FF2B5EF4-FFF2-40B4-BE49-F238E27FC236}">
                <a16:creationId xmlns:a16="http://schemas.microsoft.com/office/drawing/2014/main" id="{14469867-9A5E-4F70-B5F9-01D56630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958084"/>
            <a:ext cx="1219809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MODE</a:t>
            </a:r>
          </a:p>
        </p:txBody>
      </p:sp>
      <p:sp>
        <p:nvSpPr>
          <p:cNvPr id="83" name="TextBox 82">
            <a:extLst xmlns:a="http://schemas.openxmlformats.org/drawingml/2006/main">
              <a:ext uri="{FF2B5EF4-FFF2-40B4-BE49-F238E27FC236}">
                <a16:creationId xmlns:a16="http://schemas.microsoft.com/office/drawing/2014/main" id="{AEEF48A5-E42B-4416-8F30-7CFB217D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369" y="2958084"/>
            <a:ext cx="47731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n=1</a:t>
            </a:r>
          </a:p>
        </p:txBody>
      </p:sp>
      <p:sp>
        <p:nvSpPr>
          <p:cNvPr id="84" name="TextBox 83">
            <a:extLst xmlns:a="http://schemas.openxmlformats.org/drawingml/2006/main">
              <a:ext uri="{FF2B5EF4-FFF2-40B4-BE49-F238E27FC236}">
                <a16:creationId xmlns:a16="http://schemas.microsoft.com/office/drawing/2014/main" id="{2841B5FF-F4E2-4BFD-BBA0-1AE98017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686" y="2958084"/>
            <a:ext cx="47731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n=3</a:t>
            </a:r>
          </a:p>
        </p:txBody>
      </p:sp>
      <p:sp>
        <p:nvSpPr>
          <p:cNvPr id="85" name="TextBox 84">
            <a:extLst xmlns:a="http://schemas.openxmlformats.org/drawingml/2006/main">
              <a:ext uri="{FF2B5EF4-FFF2-40B4-BE49-F238E27FC236}">
                <a16:creationId xmlns:a16="http://schemas.microsoft.com/office/drawing/2014/main" id="{2800F33C-E8ED-42C5-A071-5B73133F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2003" y="2958084"/>
            <a:ext cx="47731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n=12</a:t>
            </a:r>
          </a:p>
        </p:txBody>
      </p:sp>
      <p:sp>
        <p:nvSpPr>
          <p:cNvPr id="86" name="Rectangle 85">
            <a:extLst xmlns:a="http://schemas.openxmlformats.org/drawingml/2006/main">
              <a:ext uri="{FF2B5EF4-FFF2-40B4-BE49-F238E27FC236}">
                <a16:creationId xmlns:a16="http://schemas.microsoft.com/office/drawing/2014/main" id="{39ED121D-B8C2-435C-871A-512B158B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086100"/>
            <a:ext cx="265176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7" name="TextBox 86">
            <a:extLst xmlns:a="http://schemas.openxmlformats.org/drawingml/2006/main">
              <a:ext uri="{FF2B5EF4-FFF2-40B4-BE49-F238E27FC236}">
                <a16:creationId xmlns:a16="http://schemas.microsoft.com/office/drawing/2014/main" id="{7BFB9D40-A451-427D-8DAF-D782A883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099816"/>
            <a:ext cx="1219809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Petrol 2W (incumbent)</a:t>
            </a:r>
          </a:p>
        </p:txBody>
      </p:sp>
      <p:sp>
        <p:nvSpPr>
          <p:cNvPr id="88" name="TextBox 87">
            <a:extLst xmlns:a="http://schemas.openxmlformats.org/drawingml/2006/main">
              <a:ext uri="{FF2B5EF4-FFF2-40B4-BE49-F238E27FC236}">
                <a16:creationId xmlns:a16="http://schemas.microsoft.com/office/drawing/2014/main" id="{4A195098-C97D-45FB-B2C5-69892BB3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369" y="3099816"/>
            <a:ext cx="47731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28.3</a:t>
            </a:r>
          </a:p>
        </p:txBody>
      </p:sp>
      <p:sp>
        <p:nvSpPr>
          <p:cNvPr id="89" name="TextBox 88">
            <a:extLst xmlns:a="http://schemas.openxmlformats.org/drawingml/2006/main">
              <a:ext uri="{FF2B5EF4-FFF2-40B4-BE49-F238E27FC236}">
                <a16:creationId xmlns:a16="http://schemas.microsoft.com/office/drawing/2014/main" id="{D977CFE1-B2CB-467A-B3AB-B292BA45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686" y="3099816"/>
            <a:ext cx="47731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14.0</a:t>
            </a:r>
          </a:p>
        </p:txBody>
      </p:sp>
      <p:sp>
        <p:nvSpPr>
          <p:cNvPr id="90" name="TextBox 89">
            <a:extLst xmlns:a="http://schemas.openxmlformats.org/drawingml/2006/main">
              <a:ext uri="{FF2B5EF4-FFF2-40B4-BE49-F238E27FC236}">
                <a16:creationId xmlns:a16="http://schemas.microsoft.com/office/drawing/2014/main" id="{106BCAB7-D908-4A16-85D8-117F20A6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2003" y="3099816"/>
            <a:ext cx="47731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—</a:t>
            </a:r>
          </a:p>
        </p:txBody>
      </p:sp>
      <p:sp>
        <p:nvSpPr>
          <p:cNvPr id="91" name="TextBox 90">
            <a:extLst xmlns:a="http://schemas.openxmlformats.org/drawingml/2006/main">
              <a:ext uri="{FF2B5EF4-FFF2-40B4-BE49-F238E27FC236}">
                <a16:creationId xmlns:a16="http://schemas.microsoft.com/office/drawing/2014/main" id="{7066AD7A-5815-4708-8A56-DE9394E1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250692"/>
            <a:ext cx="1219809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Cycle</a:t>
            </a:r>
          </a:p>
        </p:txBody>
      </p:sp>
      <p:sp>
        <p:nvSpPr>
          <p:cNvPr id="92" name="TextBox 91">
            <a:extLst xmlns:a="http://schemas.openxmlformats.org/drawingml/2006/main">
              <a:ext uri="{FF2B5EF4-FFF2-40B4-BE49-F238E27FC236}">
                <a16:creationId xmlns:a16="http://schemas.microsoft.com/office/drawing/2014/main" id="{7BFFD591-C890-4710-995B-C9784DF9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369" y="3250692"/>
            <a:ext cx="47731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18.6</a:t>
            </a:r>
          </a:p>
        </p:txBody>
      </p:sp>
      <p:sp>
        <p:nvSpPr>
          <p:cNvPr id="93" name="TextBox 92">
            <a:extLst xmlns:a="http://schemas.openxmlformats.org/drawingml/2006/main">
              <a:ext uri="{FF2B5EF4-FFF2-40B4-BE49-F238E27FC236}">
                <a16:creationId xmlns:a16="http://schemas.microsoft.com/office/drawing/2014/main" id="{C9623DB9-0F65-48C8-BB76-25751849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686" y="3250692"/>
            <a:ext cx="47731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8.4</a:t>
            </a:r>
          </a:p>
        </p:txBody>
      </p:sp>
      <p:sp>
        <p:nvSpPr>
          <p:cNvPr id="94" name="TextBox 93">
            <a:extLst xmlns:a="http://schemas.openxmlformats.org/drawingml/2006/main">
              <a:ext uri="{FF2B5EF4-FFF2-40B4-BE49-F238E27FC236}">
                <a16:creationId xmlns:a16="http://schemas.microsoft.com/office/drawing/2014/main" id="{49CC695F-38B2-4632-A857-C9744EB1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2003" y="3250692"/>
            <a:ext cx="47731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—</a:t>
            </a:r>
          </a:p>
        </p:txBody>
      </p:sp>
      <p:sp>
        <p:nvSpPr>
          <p:cNvPr id="95" name="Rectangle 94">
            <a:extLst xmlns:a="http://schemas.openxmlformats.org/drawingml/2006/main">
              <a:ext uri="{FF2B5EF4-FFF2-40B4-BE49-F238E27FC236}">
                <a16:creationId xmlns:a16="http://schemas.microsoft.com/office/drawing/2014/main" id="{262F0E3C-7626-4E79-A7BC-6DE8C299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387852"/>
            <a:ext cx="265176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6" name="TextBox 95">
            <a:extLst xmlns:a="http://schemas.openxmlformats.org/drawingml/2006/main">
              <a:ext uri="{FF2B5EF4-FFF2-40B4-BE49-F238E27FC236}">
                <a16:creationId xmlns:a16="http://schemas.microsoft.com/office/drawing/2014/main" id="{5050F69E-5130-4366-89F7-010C9EDD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401568"/>
            <a:ext cx="1219809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E-cart, stationed</a:t>
            </a:r>
          </a:p>
        </p:txBody>
      </p:sp>
      <p:sp>
        <p:nvSpPr>
          <p:cNvPr id="97" name="TextBox 96">
            <a:extLst xmlns:a="http://schemas.openxmlformats.org/drawingml/2006/main">
              <a:ext uri="{FF2B5EF4-FFF2-40B4-BE49-F238E27FC236}">
                <a16:creationId xmlns:a16="http://schemas.microsoft.com/office/drawing/2014/main" id="{8EEDA43A-0294-4DEB-AF57-2C7F1D1C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369" y="3401568"/>
            <a:ext cx="47731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15.4</a:t>
            </a:r>
          </a:p>
        </p:txBody>
      </p:sp>
      <p:sp>
        <p:nvSpPr>
          <p:cNvPr id="98" name="TextBox 97">
            <a:extLst xmlns:a="http://schemas.openxmlformats.org/drawingml/2006/main">
              <a:ext uri="{FF2B5EF4-FFF2-40B4-BE49-F238E27FC236}">
                <a16:creationId xmlns:a16="http://schemas.microsoft.com/office/drawing/2014/main" id="{A561EB1D-7F9D-4830-9DFD-A6050F1B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686" y="3401568"/>
            <a:ext cx="47731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7.2</a:t>
            </a:r>
          </a:p>
        </p:txBody>
      </p:sp>
      <p:sp>
        <p:nvSpPr>
          <p:cNvPr id="99" name="TextBox 98">
            <a:extLst xmlns:a="http://schemas.openxmlformats.org/drawingml/2006/main">
              <a:ext uri="{FF2B5EF4-FFF2-40B4-BE49-F238E27FC236}">
                <a16:creationId xmlns:a16="http://schemas.microsoft.com/office/drawing/2014/main" id="{007FB5CE-0586-4D05-99AB-E9F377F5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2003" y="3401568"/>
            <a:ext cx="47731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4.1</a:t>
            </a:r>
          </a:p>
        </p:txBody>
      </p:sp>
      <p:sp>
        <p:nvSpPr>
          <p:cNvPr id="100" name="Rounded Rectangle 99">
            <a:extLst xmlns:a="http://schemas.openxmlformats.org/drawingml/2006/main">
              <a:ext uri="{FF2B5EF4-FFF2-40B4-BE49-F238E27FC236}">
                <a16:creationId xmlns:a16="http://schemas.microsoft.com/office/drawing/2014/main" id="{61088323-BDF0-4F32-9BEE-E3834B8F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316736"/>
            <a:ext cx="2606040" cy="196596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82296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40" b="1" i="0">
                <a:solidFill>
                  <a:srgbClr val="10265C"/>
                </a:solidFill>
                <a:latin typeface="Calibri"/>
                <a:ea typeface="Calibri"/>
                <a:cs typeface="Calibri"/>
              </a:rPr>
              <a:t>THE PARTNERSHIP  ·  PRECEDENT AND SCOPE</a:t>
            </a:r>
          </a:p>
        </p:txBody>
      </p:sp>
      <p:sp>
        <p:nvSpPr>
          <p:cNvPr id="101" name="Rectangle 100">
            <a:extLst xmlns:a="http://schemas.openxmlformats.org/drawingml/2006/main">
              <a:ext uri="{FF2B5EF4-FFF2-40B4-BE49-F238E27FC236}">
                <a16:creationId xmlns:a16="http://schemas.microsoft.com/office/drawing/2014/main" id="{C5384694-FD37-40FA-A3A3-6A459E74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316736"/>
            <a:ext cx="25603" cy="1965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TextBox 101">
            <a:extLst xmlns:a="http://schemas.openxmlformats.org/drawingml/2006/main">
              <a:ext uri="{FF2B5EF4-FFF2-40B4-BE49-F238E27FC236}">
                <a16:creationId xmlns:a16="http://schemas.microsoft.com/office/drawing/2014/main" id="{34AB7D26-6274-4709-B3AE-BEC0A7A5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586484"/>
            <a:ext cx="161574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UC Davis, per package¹⁶</a:t>
            </a:r>
          </a:p>
        </p:txBody>
      </p:sp>
      <p:sp>
        <p:nvSpPr>
          <p:cNvPr id="103" name="TextBox 102">
            <a:extLst xmlns:a="http://schemas.openxmlformats.org/drawingml/2006/main">
              <a:ext uri="{FF2B5EF4-FFF2-40B4-BE49-F238E27FC236}">
                <a16:creationId xmlns:a16="http://schemas.microsoft.com/office/drawing/2014/main" id="{B1676CEB-520C-4F04-AC15-931605A4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586484"/>
            <a:ext cx="26060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$2.00</a:t>
            </a:r>
          </a:p>
        </p:txBody>
      </p:sp>
      <p:sp>
        <p:nvSpPr>
          <p:cNvPr id="104" name="Rectangle 103">
            <a:extLst xmlns:a="http://schemas.openxmlformats.org/drawingml/2006/main">
              <a:ext uri="{FF2B5EF4-FFF2-40B4-BE49-F238E27FC236}">
                <a16:creationId xmlns:a16="http://schemas.microsoft.com/office/drawing/2014/main" id="{4D2C3F45-7159-4D51-95D3-045294D5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741932"/>
            <a:ext cx="260604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5" name="TextBox 104">
            <a:extLst xmlns:a="http://schemas.openxmlformats.org/drawingml/2006/main">
              <a:ext uri="{FF2B5EF4-FFF2-40B4-BE49-F238E27FC236}">
                <a16:creationId xmlns:a16="http://schemas.microsoft.com/office/drawing/2014/main" id="{D881079D-0BDA-4175-97FB-F28B502D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773936"/>
            <a:ext cx="161574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packages per stop vs a truck</a:t>
            </a:r>
          </a:p>
        </p:txBody>
      </p:sp>
      <p:sp>
        <p:nvSpPr>
          <p:cNvPr id="106" name="TextBox 105">
            <a:extLst xmlns:a="http://schemas.openxmlformats.org/drawingml/2006/main">
              <a:ext uri="{FF2B5EF4-FFF2-40B4-BE49-F238E27FC236}">
                <a16:creationId xmlns:a16="http://schemas.microsoft.com/office/drawing/2014/main" id="{0B5B4B2D-BED8-480F-895D-15F32660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773936"/>
            <a:ext cx="26060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12 vs 3 (4×)</a:t>
            </a:r>
          </a:p>
        </p:txBody>
      </p:sp>
      <p:sp>
        <p:nvSpPr>
          <p:cNvPr id="107" name="Rectangle 106">
            <a:extLst xmlns:a="http://schemas.openxmlformats.org/drawingml/2006/main">
              <a:ext uri="{FF2B5EF4-FFF2-40B4-BE49-F238E27FC236}">
                <a16:creationId xmlns:a16="http://schemas.microsoft.com/office/drawing/2014/main" id="{54845D34-FE90-4686-BAA7-75475F73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929384"/>
            <a:ext cx="260604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8" name="TextBox 107">
            <a:extLst xmlns:a="http://schemas.openxmlformats.org/drawingml/2006/main">
              <a:ext uri="{FF2B5EF4-FFF2-40B4-BE49-F238E27FC236}">
                <a16:creationId xmlns:a16="http://schemas.microsoft.com/office/drawing/2014/main" id="{C60A4B96-9D35-4A1E-AFAA-B786447E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961388"/>
            <a:ext cx="161574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same-day rate, year one</a:t>
            </a:r>
          </a:p>
        </p:txBody>
      </p:sp>
      <p:sp>
        <p:nvSpPr>
          <p:cNvPr id="109" name="TextBox 108">
            <a:extLst xmlns:a="http://schemas.openxmlformats.org/drawingml/2006/main">
              <a:ext uri="{FF2B5EF4-FFF2-40B4-BE49-F238E27FC236}">
                <a16:creationId xmlns:a16="http://schemas.microsoft.com/office/drawing/2014/main" id="{2C22B042-87D3-4F59-8137-FE66AB0E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961388"/>
            <a:ext cx="26060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99.6%</a:t>
            </a:r>
          </a:p>
        </p:txBody>
      </p:sp>
      <p:sp>
        <p:nvSpPr>
          <p:cNvPr id="110" name="Rectangle 109">
            <a:extLst xmlns:a="http://schemas.openxmlformats.org/drawingml/2006/main">
              <a:ext uri="{FF2B5EF4-FFF2-40B4-BE49-F238E27FC236}">
                <a16:creationId xmlns:a16="http://schemas.microsoft.com/office/drawing/2014/main" id="{00D47C3B-ED2D-4327-8359-F81EEA29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116836"/>
            <a:ext cx="260604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1" name="TextBox 110">
            <a:extLst xmlns:a="http://schemas.openxmlformats.org/drawingml/2006/main">
              <a:ext uri="{FF2B5EF4-FFF2-40B4-BE49-F238E27FC236}">
                <a16:creationId xmlns:a16="http://schemas.microsoft.com/office/drawing/2014/main" id="{BCB4CC0B-4782-446C-BE3C-728E3697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148840"/>
            <a:ext cx="161574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our fee band, floor to ceiling</a:t>
            </a:r>
          </a:p>
        </p:txBody>
      </p:sp>
      <p:sp>
        <p:nvSpPr>
          <p:cNvPr id="112" name="TextBox 111">
            <a:extLst xmlns:a="http://schemas.openxmlformats.org/drawingml/2006/main">
              <a:ext uri="{FF2B5EF4-FFF2-40B4-BE49-F238E27FC236}">
                <a16:creationId xmlns:a16="http://schemas.microsoft.com/office/drawing/2014/main" id="{7D4D2603-256A-4678-9390-33209785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148840"/>
            <a:ext cx="26060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8A5F00"/>
                </a:solidFill>
                <a:latin typeface="Calibri"/>
                <a:ea typeface="Calibri"/>
                <a:cs typeface="Calibri"/>
              </a:rPr>
              <a:t>₹9.6 – ₹29.2</a:t>
            </a:r>
          </a:p>
        </p:txBody>
      </p:sp>
      <p:sp>
        <p:nvSpPr>
          <p:cNvPr id="113" name="Rounded Rectangle 112">
            <a:extLst xmlns:a="http://schemas.openxmlformats.org/drawingml/2006/main">
              <a:ext uri="{FF2B5EF4-FFF2-40B4-BE49-F238E27FC236}">
                <a16:creationId xmlns:a16="http://schemas.microsoft.com/office/drawing/2014/main" id="{AFB3E8C2-757D-46A3-9EB6-257397A0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354580"/>
            <a:ext cx="2606040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6E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0584" tIns="27432" rIns="64008" bIns="27432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</a:pPr>
            <a:r>
              <a:rPr sz="580" b="1" i="0">
                <a:solidFill>
                  <a:srgbClr val="8A5F00"/>
                </a:solidFill>
                <a:latin typeface="Calibri"/>
                <a:ea typeface="Calibri"/>
                <a:cs typeface="Calibri"/>
              </a:rPr>
              <a:t>SCOPE IT AS CONTINUOUS CIRCUITS  </a:t>
            </a:r>
            <a:r>
              <a:rPr sz="58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rather than as the parcel desk's accumulate-and-sort round. The institution supplies labour and access on a roster; it does not supply an accumulation service. Get that wrong in the licence and the service level fails even where the economics hold.</a:t>
            </a:r>
          </a:p>
        </p:txBody>
      </p:sp>
      <p:sp>
        <p:nvSpPr>
          <p:cNvPr id="114" name="Rectangle 113">
            <a:extLst xmlns:a="http://schemas.openxmlformats.org/drawingml/2006/main">
              <a:ext uri="{FF2B5EF4-FFF2-40B4-BE49-F238E27FC236}">
                <a16:creationId xmlns:a16="http://schemas.microsoft.com/office/drawing/2014/main" id="{62174940-4019-4F8B-8E04-1A5EFDB9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354580"/>
            <a:ext cx="4114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F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5" name="TextBox 114">
            <a:extLst xmlns:a="http://schemas.openxmlformats.org/drawingml/2006/main">
              <a:ext uri="{FF2B5EF4-FFF2-40B4-BE49-F238E27FC236}">
                <a16:creationId xmlns:a16="http://schemas.microsoft.com/office/drawing/2014/main" id="{50975740-4A2D-46DC-995A-D3B13A5E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976372"/>
            <a:ext cx="26060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570" b="0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11 minutes is a marketing claim, not an operating standard. Walmart's own CEO says &lt;13¹³, Euromonitor 15–20¹⁴, our 35-store field survey median 15 with 9% at ≤10³. JPM's table shows the two 10-minute operators did not batch¹¹.</a:t>
            </a:r>
          </a:p>
        </p:txBody>
      </p:sp>
      <p:sp>
        <p:nvSpPr>
          <p:cNvPr id="116" name="TextBox 115">
            <a:extLst xmlns:a="http://schemas.openxmlformats.org/drawingml/2006/main">
              <a:ext uri="{FF2B5EF4-FFF2-40B4-BE49-F238E27FC236}">
                <a16:creationId xmlns:a16="http://schemas.microsoft.com/office/drawing/2014/main" id="{A47A3CF8-3577-4FE6-9440-25B39B84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529584"/>
            <a:ext cx="539496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FLEET MIX BY DEMAND STATE  ·  THE GIG LEG SCALES 1:1 WITH VOLUME, THE IN-GATE LEG SCALES 4× ON 1.4× HEADCOUNT</a:t>
            </a:r>
          </a:p>
        </p:txBody>
      </p:sp>
      <p:sp>
        <p:nvSpPr>
          <p:cNvPr id="117" name="TextBox 116">
            <a:extLst xmlns:a="http://schemas.openxmlformats.org/drawingml/2006/main">
              <a:ext uri="{FF2B5EF4-FFF2-40B4-BE49-F238E27FC236}">
                <a16:creationId xmlns:a16="http://schemas.microsoft.com/office/drawing/2014/main" id="{CA30C983-27DB-4AD2-BAEB-573A9EBB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657600"/>
            <a:ext cx="107899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DEMAND STATE</a:t>
            </a:r>
          </a:p>
        </p:txBody>
      </p:sp>
      <p:sp>
        <p:nvSpPr>
          <p:cNvPr id="118" name="TextBox 117">
            <a:extLst xmlns:a="http://schemas.openxmlformats.org/drawingml/2006/main">
              <a:ext uri="{FF2B5EF4-FFF2-40B4-BE49-F238E27FC236}">
                <a16:creationId xmlns:a16="http://schemas.microsoft.com/office/drawing/2014/main" id="{87244462-0667-4D0F-B338-5332AA87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657600"/>
            <a:ext cx="161848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GIG RIDERS TO THE GATE</a:t>
            </a:r>
          </a:p>
        </p:txBody>
      </p:sp>
      <p:sp>
        <p:nvSpPr>
          <p:cNvPr id="119" name="TextBox 118">
            <a:extLst xmlns:a="http://schemas.openxmlformats.org/drawingml/2006/main">
              <a:ext uri="{FF2B5EF4-FFF2-40B4-BE49-F238E27FC236}">
                <a16:creationId xmlns:a16="http://schemas.microsoft.com/office/drawing/2014/main" id="{161A9632-187A-43F6-8034-CDDA2DAB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57600"/>
            <a:ext cx="161848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RUNNERS INSIDE THE GATE</a:t>
            </a:r>
          </a:p>
        </p:txBody>
      </p:sp>
      <p:sp>
        <p:nvSpPr>
          <p:cNvPr id="120" name="TextBox 119">
            <a:extLst xmlns:a="http://schemas.openxmlformats.org/drawingml/2006/main">
              <a:ext uri="{FF2B5EF4-FFF2-40B4-BE49-F238E27FC236}">
                <a16:creationId xmlns:a16="http://schemas.microsoft.com/office/drawing/2014/main" id="{B46980D2-F076-4BA4-8596-EB638582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27" y="3657600"/>
            <a:ext cx="107899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GIG : RUNNER</a:t>
            </a:r>
          </a:p>
        </p:txBody>
      </p:sp>
      <p:sp>
        <p:nvSpPr>
          <p:cNvPr id="121" name="Rectangle 120">
            <a:extLst xmlns:a="http://schemas.openxmlformats.org/drawingml/2006/main">
              <a:ext uri="{FF2B5EF4-FFF2-40B4-BE49-F238E27FC236}">
                <a16:creationId xmlns:a16="http://schemas.microsoft.com/office/drawing/2014/main" id="{1F2F4047-7C8F-4DF0-AB1F-6221898F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785616"/>
            <a:ext cx="5394960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2" name="TextBox 121">
            <a:extLst xmlns:a="http://schemas.openxmlformats.org/drawingml/2006/main">
              <a:ext uri="{FF2B5EF4-FFF2-40B4-BE49-F238E27FC236}">
                <a16:creationId xmlns:a16="http://schemas.microsoft.com/office/drawing/2014/main" id="{180CAF0C-117B-4D62-A81E-B6FDD961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799332"/>
            <a:ext cx="107899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7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Trough</a:t>
            </a:r>
          </a:p>
        </p:txBody>
      </p:sp>
      <p:sp>
        <p:nvSpPr>
          <p:cNvPr id="123" name="TextBox 122">
            <a:extLst xmlns:a="http://schemas.openxmlformats.org/drawingml/2006/main">
              <a:ext uri="{FF2B5EF4-FFF2-40B4-BE49-F238E27FC236}">
                <a16:creationId xmlns:a16="http://schemas.microsoft.com/office/drawing/2014/main" id="{178B5141-E245-4813-A150-DF45D588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799332"/>
            <a:ext cx="16184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1.6  → 2 on the pool</a:t>
            </a:r>
          </a:p>
        </p:txBody>
      </p:sp>
      <p:sp>
        <p:nvSpPr>
          <p:cNvPr id="124" name="TextBox 123">
            <a:extLst xmlns:a="http://schemas.openxmlformats.org/drawingml/2006/main">
              <a:ext uri="{FF2B5EF4-FFF2-40B4-BE49-F238E27FC236}">
                <a16:creationId xmlns:a16="http://schemas.microsoft.com/office/drawing/2014/main" id="{6E383034-0592-4436-AAE3-8F34D50A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799332"/>
            <a:ext cx="16184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1.22  → roster 2</a:t>
            </a:r>
          </a:p>
        </p:txBody>
      </p:sp>
      <p:sp>
        <p:nvSpPr>
          <p:cNvPr id="125" name="TextBox 124">
            <a:extLst xmlns:a="http://schemas.openxmlformats.org/drawingml/2006/main">
              <a:ext uri="{FF2B5EF4-FFF2-40B4-BE49-F238E27FC236}">
                <a16:creationId xmlns:a16="http://schemas.microsoft.com/office/drawing/2014/main" id="{35342B86-DE6A-46A3-8DD9-1D0C0B12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27" y="3799332"/>
            <a:ext cx="107899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1.3 : 1</a:t>
            </a:r>
          </a:p>
        </p:txBody>
      </p:sp>
      <p:sp>
        <p:nvSpPr>
          <p:cNvPr id="126" name="TextBox 125">
            <a:extLst xmlns:a="http://schemas.openxmlformats.org/drawingml/2006/main">
              <a:ext uri="{FF2B5EF4-FFF2-40B4-BE49-F238E27FC236}">
                <a16:creationId xmlns:a16="http://schemas.microsoft.com/office/drawing/2014/main" id="{8356A97F-69D5-494B-9A43-291193A5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913632"/>
            <a:ext cx="107899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7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Average</a:t>
            </a:r>
          </a:p>
        </p:txBody>
      </p:sp>
      <p:sp>
        <p:nvSpPr>
          <p:cNvPr id="127" name="TextBox 126">
            <a:extLst xmlns:a="http://schemas.openxmlformats.org/drawingml/2006/main">
              <a:ext uri="{FF2B5EF4-FFF2-40B4-BE49-F238E27FC236}">
                <a16:creationId xmlns:a16="http://schemas.microsoft.com/office/drawing/2014/main" id="{AFE988AA-001D-486F-979C-9EEA35B6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913632"/>
            <a:ext cx="16184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6.5  → 7 on the pool</a:t>
            </a:r>
          </a:p>
        </p:txBody>
      </p:sp>
      <p:sp>
        <p:nvSpPr>
          <p:cNvPr id="128" name="TextBox 127">
            <a:extLst xmlns:a="http://schemas.openxmlformats.org/drawingml/2006/main">
              <a:ext uri="{FF2B5EF4-FFF2-40B4-BE49-F238E27FC236}">
                <a16:creationId xmlns:a16="http://schemas.microsoft.com/office/drawing/2014/main" id="{6E2E6C57-796E-4B74-A11C-D5707E20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913632"/>
            <a:ext cx="16184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2.68  → roster 3</a:t>
            </a:r>
          </a:p>
        </p:txBody>
      </p:sp>
      <p:sp>
        <p:nvSpPr>
          <p:cNvPr id="129" name="TextBox 128">
            <a:extLst xmlns:a="http://schemas.openxmlformats.org/drawingml/2006/main">
              <a:ext uri="{FF2B5EF4-FFF2-40B4-BE49-F238E27FC236}">
                <a16:creationId xmlns:a16="http://schemas.microsoft.com/office/drawing/2014/main" id="{30E159E7-C5D6-4C6C-882D-72B0E708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27" y="3913632"/>
            <a:ext cx="107899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2.4 : 1</a:t>
            </a:r>
          </a:p>
        </p:txBody>
      </p:sp>
      <p:sp>
        <p:nvSpPr>
          <p:cNvPr id="130" name="Rectangle 129">
            <a:extLst xmlns:a="http://schemas.openxmlformats.org/drawingml/2006/main">
              <a:ext uri="{FF2B5EF4-FFF2-40B4-BE49-F238E27FC236}">
                <a16:creationId xmlns:a16="http://schemas.microsoft.com/office/drawing/2014/main" id="{216547E7-BDA0-49CC-A643-0FAD0D59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4014216"/>
            <a:ext cx="5394960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1" name="TextBox 130">
            <a:extLst xmlns:a="http://schemas.openxmlformats.org/drawingml/2006/main">
              <a:ext uri="{FF2B5EF4-FFF2-40B4-BE49-F238E27FC236}">
                <a16:creationId xmlns:a16="http://schemas.microsoft.com/office/drawing/2014/main" id="{55C2A455-528E-4CE9-A4D3-ED08C487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4027932"/>
            <a:ext cx="107899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7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Peak 4×</a:t>
            </a:r>
          </a:p>
        </p:txBody>
      </p:sp>
      <p:sp>
        <p:nvSpPr>
          <p:cNvPr id="132" name="TextBox 131">
            <a:extLst xmlns:a="http://schemas.openxmlformats.org/drawingml/2006/main">
              <a:ext uri="{FF2B5EF4-FFF2-40B4-BE49-F238E27FC236}">
                <a16:creationId xmlns:a16="http://schemas.microsoft.com/office/drawing/2014/main" id="{4066C7C4-4EF1-42E8-988D-73FD35C4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4027932"/>
            <a:ext cx="16184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25.9  → 26 on the pool</a:t>
            </a:r>
          </a:p>
        </p:txBody>
      </p:sp>
      <p:sp>
        <p:nvSpPr>
          <p:cNvPr id="133" name="TextBox 132">
            <a:extLst xmlns:a="http://schemas.openxmlformats.org/drawingml/2006/main">
              <a:ext uri="{FF2B5EF4-FFF2-40B4-BE49-F238E27FC236}">
                <a16:creationId xmlns:a16="http://schemas.microsoft.com/office/drawing/2014/main" id="{324CC8C0-C372-424F-9635-C4A48A63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027932"/>
            <a:ext cx="16184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3.66  → roster 4</a:t>
            </a:r>
          </a:p>
        </p:txBody>
      </p:sp>
      <p:sp>
        <p:nvSpPr>
          <p:cNvPr id="134" name="TextBox 133">
            <a:extLst xmlns:a="http://schemas.openxmlformats.org/drawingml/2006/main">
              <a:ext uri="{FF2B5EF4-FFF2-40B4-BE49-F238E27FC236}">
                <a16:creationId xmlns:a16="http://schemas.microsoft.com/office/drawing/2014/main" id="{AEB94EC9-F961-4869-8E5A-512A8446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27" y="4027932"/>
            <a:ext cx="107899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1" i="0">
                <a:solidFill>
                  <a:srgbClr val="8A5F00"/>
                </a:solidFill>
                <a:latin typeface="Calibri"/>
                <a:ea typeface="Calibri"/>
                <a:cs typeface="Calibri"/>
              </a:rPr>
              <a:t>7.1 : 1</a:t>
            </a:r>
          </a:p>
        </p:txBody>
      </p:sp>
      <p:sp>
        <p:nvSpPr>
          <p:cNvPr id="135" name="TextBox 134">
            <a:extLst xmlns:a="http://schemas.openxmlformats.org/drawingml/2006/main">
              <a:ext uri="{FF2B5EF4-FFF2-40B4-BE49-F238E27FC236}">
                <a16:creationId xmlns:a16="http://schemas.microsoft.com/office/drawing/2014/main" id="{234697D9-D6CC-46C0-88C1-06CF8B63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4142232"/>
            <a:ext cx="107899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7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Exam 6×</a:t>
            </a:r>
          </a:p>
        </p:txBody>
      </p:sp>
      <p:sp>
        <p:nvSpPr>
          <p:cNvPr id="136" name="TextBox 135">
            <a:extLst xmlns:a="http://schemas.openxmlformats.org/drawingml/2006/main">
              <a:ext uri="{FF2B5EF4-FFF2-40B4-BE49-F238E27FC236}">
                <a16:creationId xmlns:a16="http://schemas.microsoft.com/office/drawing/2014/main" id="{CD9D3572-C402-46E8-9373-FE55CF78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4142232"/>
            <a:ext cx="16184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38.9  → 39 on the pool</a:t>
            </a:r>
          </a:p>
        </p:txBody>
      </p:sp>
      <p:sp>
        <p:nvSpPr>
          <p:cNvPr id="137" name="TextBox 136">
            <a:extLst xmlns:a="http://schemas.openxmlformats.org/drawingml/2006/main">
              <a:ext uri="{FF2B5EF4-FFF2-40B4-BE49-F238E27FC236}">
                <a16:creationId xmlns:a16="http://schemas.microsoft.com/office/drawing/2014/main" id="{0CF87FD0-D4B4-4143-843C-8F338D00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142232"/>
            <a:ext cx="16184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5.06  → roster 6</a:t>
            </a:r>
          </a:p>
        </p:txBody>
      </p:sp>
      <p:sp>
        <p:nvSpPr>
          <p:cNvPr id="138" name="TextBox 137">
            <a:extLst xmlns:a="http://schemas.openxmlformats.org/drawingml/2006/main">
              <a:ext uri="{FF2B5EF4-FFF2-40B4-BE49-F238E27FC236}">
                <a16:creationId xmlns:a16="http://schemas.microsoft.com/office/drawing/2014/main" id="{94EB29A4-1394-46A8-91DA-523E620E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27" y="4142232"/>
            <a:ext cx="107899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70" b="1" i="0">
                <a:solidFill>
                  <a:srgbClr val="8A5F00"/>
                </a:solidFill>
                <a:latin typeface="Calibri"/>
                <a:ea typeface="Calibri"/>
                <a:cs typeface="Calibri"/>
              </a:rPr>
              <a:t>7.7 : 1</a:t>
            </a:r>
          </a:p>
        </p:txBody>
      </p:sp>
      <p:sp>
        <p:nvSpPr>
          <p:cNvPr id="139" name="Rounded Rectangle 138">
            <a:extLst xmlns:a="http://schemas.openxmlformats.org/drawingml/2006/main">
              <a:ext uri="{FF2B5EF4-FFF2-40B4-BE49-F238E27FC236}">
                <a16:creationId xmlns:a16="http://schemas.microsoft.com/office/drawing/2014/main" id="{A91E95D0-3521-4427-A681-ABCCC5D2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352544"/>
            <a:ext cx="8321040" cy="310896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</a:pPr>
            <a:r>
              <a:rPr sz="80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The operating model is a labour-class decision and a queueing rule. </a:t>
            </a:r>
            <a:r>
              <a:rPr sz="8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are low-cost and reversible decisions on a structurally committed node, and together they produce the ₹17.6 the dead-zone case depends on.</a:t>
            </a:r>
          </a:p>
        </p:txBody>
      </p:sp>
      <p:sp>
        <p:nvSpPr>
          <p:cNvPr id="140" name="TextBox 139">
            <a:extLst xmlns:a="http://schemas.openxmlformats.org/drawingml/2006/main">
              <a:ext uri="{FF2B5EF4-FFF2-40B4-BE49-F238E27FC236}">
                <a16:creationId xmlns:a16="http://schemas.microsoft.com/office/drawing/2014/main" id="{1C600A2A-6B8B-4D3D-ABA1-E55DF5CF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8321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</a:pPr>
            <a:r>
              <a:rPr sz="52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Sources 1,3,11,12,13,14,16  ·  trip identity and volume weighting A5  ·  labour-class provenance A2  ·  SLA × access-regime matrix A4</a:t>
            </a:r>
          </a:p>
        </p:txBody>
      </p:sp>
    </p:spTree>
    <p:extLst>
      <p:ext uri="{BB962C8B-B14F-4D97-AF65-F5344CB8AC3E}">
        <p14:creationId xmlns:p14="http://schemas.microsoft.com/office/powerpoint/2010/main" val="155430349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18CA1F-29CA-44A6-929D-F87CC6D8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C1602D8-D656-4E20-9E9D-C4544768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10E9FCE-EC42-473D-972C-EC38FB77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60C5E7E-BCAC-4308-BA23-CCDC8877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CB6614B-2395-40DC-A585-1CB66F62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944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AC0E6F-9428-4D98-9E52-43774A74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D813B65-07EF-44BE-9C3C-FB1DED48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1176" y="256032"/>
            <a:ext cx="420624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91B02E8-E5C2-435F-B3F9-1C06CD72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6C47AB2-AB97-46C8-9DCA-4BD6808B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196596"/>
            <a:ext cx="32918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THE FINANCIALS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011AC7A-E14F-43BC-820E-17F39D87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6596"/>
            <a:ext cx="2240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→ what breaks it, and when would we know?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9EE7B15-FDBF-4266-B37B-F04E297D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5488"/>
            <a:ext cx="749807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</a:pPr>
            <a:r>
              <a:rPr sz="165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One node returns 34% on ₹324 lakh at a 30% non-grocery basket, and 40% at ₹755 — inside the 30–40% non-grocery range disclosed by Swiggy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2713277-C065-43A7-9DDB-CA7C8C1C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42415"/>
            <a:ext cx="8321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72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The basket is fitted to the one disclosed quarterly series in which an Indian operator actually lifted AOV. AOV = 11.28·x + 391, R² = 0.918, n = 4 quarters¹⁰.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5458E8D-E271-4CF5-A1C9-DDA7CE9E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16736"/>
            <a:ext cx="3977639" cy="20574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6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6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ONE NODE, ONE YEAR   ·   ₹ LAKH</a:t>
            </a:r>
          </a:p>
        </p:txBody>
      </p:sp>
      <p:pic>
        <p:nvPicPr>
          <p:cNvPr id="10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dc7490a6e4e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7068" y="1568196"/>
            <a:ext cx="3006462" cy="1371600"/>
          </a:xfrm>
          <a:prstGeom xmlns:a="http://schemas.openxmlformats.org/drawingml/2006/main" prst="rect">
            <a:avLst/>
          </a:prstGeom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96D2F4A-968A-400D-8944-CECCF88E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80944"/>
            <a:ext cx="246613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capex, midpoint of the band²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5B548ED-5C36-44F6-B5F0-FEAC8FF4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80944"/>
            <a:ext cx="3977639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₹235 L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574D3AF-8DC6-42D0-AB33-BB514F70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18103"/>
            <a:ext cx="3977639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79A10C2-703C-40A2-AEAF-1C20BC3A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50108"/>
            <a:ext cx="246613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working capital at 14 NWC days⁸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0C53B41-98F6-4E48-A4EC-BC755DA2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50108"/>
            <a:ext cx="3977639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₹89 L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4EC2D39-857F-4003-AF2D-25B2AEB0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87268"/>
            <a:ext cx="3977639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56DC49E-5F69-4016-9F27-D7045470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319272"/>
            <a:ext cx="246613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capital employed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D7C9B3E-154E-4D2E-AFE8-CD1BF4AE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319272"/>
            <a:ext cx="3977639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8A5F00"/>
                </a:solidFill>
                <a:latin typeface="Calibri"/>
                <a:ea typeface="Calibri"/>
                <a:cs typeface="Calibri"/>
              </a:rPr>
              <a:t>₹324 L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71BDE2E-3E6A-4C85-AAE2-8A49D726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456432"/>
            <a:ext cx="3977639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E0ADA9D-9DDD-4730-BE9F-ACC01A11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488436"/>
            <a:ext cx="246613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cash conversion cycle⁹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B07E144C-2D5F-4413-B2D6-3B3140EE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488436"/>
            <a:ext cx="3977639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-47 days — supplier-funded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04147F92-C9A4-4A0C-BFB3-88BE4EFE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16736"/>
            <a:ext cx="2011680" cy="196596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82296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40" b="1" i="0">
                <a:solidFill>
                  <a:srgbClr val="10265C"/>
                </a:solidFill>
                <a:latin typeface="Calibri"/>
                <a:ea typeface="Calibri"/>
                <a:cs typeface="Calibri"/>
              </a:rPr>
              <a:t>THE BASKET LADDER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FB143D16-5774-4F0E-8E42-D4DCEBE1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16736"/>
            <a:ext cx="25603" cy="1965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6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2132ba8b746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75090" y="1559052"/>
            <a:ext cx="1605498" cy="1078992"/>
          </a:xfrm>
          <a:prstGeom xmlns:a="http://schemas.openxmlformats.org/drawingml/2006/main" prst="rect">
            <a:avLst/>
          </a:prstGeom>
        </p:spPr>
      </p:pic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CA74ACD-0DE1-4DB9-944C-E2A44531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65476"/>
            <a:ext cx="2011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58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₹450 → ₹525 on term-start durables → ₹573 at 24.3% non-grocery, from 20% today. The 40% hurdle needs 32.3% — still inside the stated 30–40% ceiling, with +7.7 pts of headroom.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0B461944-9B50-4BA6-A1E1-0B8BB065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316736"/>
            <a:ext cx="1965960" cy="196596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82296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40" b="1" i="0">
                <a:solidFill>
                  <a:srgbClr val="10265C"/>
                </a:solidFill>
                <a:latin typeface="Calibri"/>
                <a:ea typeface="Calibri"/>
                <a:cs typeface="Calibri"/>
              </a:rPr>
              <a:t>RETURNS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5F046B45-5ED5-4C06-A6D8-3C5EC450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316736"/>
            <a:ext cx="25603" cy="1965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BE89D2C8-15A2-4171-85D6-69188788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586484"/>
            <a:ext cx="121889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breakeven AOV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1AF68E58-85F9-40C0-A1AC-ED43C36E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586484"/>
            <a:ext cx="19659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₹571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AB906581-89DD-432D-AFAA-91E42D0E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732788"/>
            <a:ext cx="196596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DF19076A-4C1C-40A5-8755-10E9FD94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764792"/>
            <a:ext cx="121889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hurdle AOV, pre-tax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313D7311-3E03-4741-A916-E3CFE880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764792"/>
            <a:ext cx="19659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8A5F00"/>
                </a:solidFill>
                <a:latin typeface="Calibri"/>
                <a:ea typeface="Calibri"/>
                <a:cs typeface="Calibri"/>
              </a:rPr>
              <a:t>₹755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BAB4A473-70D0-453C-B762-9EA0CD75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911095"/>
            <a:ext cx="196596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1060282-BBBB-411C-8B30-A1561B46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943100"/>
            <a:ext cx="121889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post-tax at 25.17%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2147BF23-17BD-4EDC-BD9D-BE1EBFAF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943100"/>
            <a:ext cx="19659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₹817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4314744B-8F2A-4DF1-B44C-CE32C71A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089403"/>
            <a:ext cx="196596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A5319055-1539-4394-98C2-11B02246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121408"/>
            <a:ext cx="121889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IRR, 5-yr, 3-mo ramp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711636CE-A053-4FBB-A0D1-56CBD0A5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121408"/>
            <a:ext cx="19659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34.4%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E3585F45-CDD5-4432-A917-6EF58AEF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267711"/>
            <a:ext cx="196596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CEB39D4B-D8FE-48C9-9285-B3DB2A3C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299715"/>
            <a:ext cx="121889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ramp 2 – 6 months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90DA4ACF-8C4E-4F75-B862-E8FDB4A2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299715"/>
            <a:ext cx="19659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35% – 31%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87B61B41-2C84-4E71-A247-9DC67220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446019"/>
            <a:ext cx="196596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17719BA6-DCAF-4B6A-8EB4-DBC37FF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478023"/>
            <a:ext cx="121889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node life anchor¹¹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B6DA2CFC-2C3D-4386-8502-CE8E73E0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478023"/>
            <a:ext cx="19659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56 mo payback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4F23A59D-5603-46B5-A6FC-6EE9B3E4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55264"/>
            <a:ext cx="416052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SCENARIOS  ·  ALL ON INPUTS ALREADY PRICED ELSEWHERE IN THE DECK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1DE82A7A-0788-487F-9E5F-618CEE5E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10712"/>
            <a:ext cx="166420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SCENARIO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AFC7D5B0-0304-476B-8A16-535743F4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410712"/>
            <a:ext cx="49926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AOV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2FE640B3-9BC7-4E2C-8494-8D798B7C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5470" y="3410712"/>
            <a:ext cx="540867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1C5691F5-4857-4D2E-B02D-769CC97F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338" y="3410712"/>
            <a:ext cx="457657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TURN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87226585-79CB-41F5-9A3B-385F7253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995" y="3410712"/>
            <a:ext cx="49926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ROCE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6775C807-1F80-46B4-BB00-BEDA1E12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257" y="3410712"/>
            <a:ext cx="49926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PAYBACK mo</a:t>
            </a:r>
          </a:p>
        </p:txBody>
      </p:sp>
      <p:sp>
        <p:nvSpPr>
          <p:cNvPr id="57" name="Rectangle 56">
            <a:extLst xmlns:a="http://schemas.openxmlformats.org/drawingml/2006/main">
              <a:ext uri="{FF2B5EF4-FFF2-40B4-BE49-F238E27FC236}">
                <a16:creationId xmlns:a16="http://schemas.microsoft.com/office/drawing/2014/main" id="{C9798E6F-34ED-4ADC-95B6-6BC2D642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38727"/>
            <a:ext cx="4160520" cy="1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BE608998-AF4B-4D71-8079-A9FFFFCC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52444"/>
            <a:ext cx="166420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Underwritten (AOV at breakeven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ECDCE976-69B6-43B6-B7BC-44947E07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552444"/>
            <a:ext cx="49926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₹571</a:t>
            </a: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A0B9F186-3CD5-4802-B30D-B624DA83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5470" y="3552444"/>
            <a:ext cx="54086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-0.00%</a:t>
            </a: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2AA915DD-BA21-4DCB-8A48-3EBCE6AA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338" y="3552444"/>
            <a:ext cx="45765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6.38×</a:t>
            </a: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1B63C769-EF2E-4572-9E3D-40C09432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995" y="3552444"/>
            <a:ext cx="49926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-0.0%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03FA415-1972-41FB-A34D-3C833987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257" y="3552444"/>
            <a:ext cx="49926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0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—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C25EDD22-8970-4659-B67C-16E90E23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2463"/>
            <a:ext cx="166420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Basket at 30% non-grocery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C1841B42-7901-43F5-9FD2-A0E12FF9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712463"/>
            <a:ext cx="49926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₹729</a:t>
            </a: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D3B9765A-4B1D-453C-B2D2-B4C7393D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5470" y="3712463"/>
            <a:ext cx="54086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4.22%</a:t>
            </a:r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C62A73E5-4E66-47F9-8406-E1CF8C40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338" y="3712463"/>
            <a:ext cx="45765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8.15×</a:t>
            </a: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E4743003-D7F7-46DB-B8E3-32278E31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995" y="3712463"/>
            <a:ext cx="49926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34.4%</a:t>
            </a:r>
          </a:p>
        </p:txBody>
      </p:sp>
      <p:sp>
        <p:nvSpPr>
          <p:cNvPr id="69" name="TextBox 68">
            <a:extLst xmlns:a="http://schemas.openxmlformats.org/drawingml/2006/main">
              <a:ext uri="{FF2B5EF4-FFF2-40B4-BE49-F238E27FC236}">
                <a16:creationId xmlns:a16="http://schemas.microsoft.com/office/drawing/2014/main" id="{1077BB8D-0CD7-42C4-BD61-6F5B821C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257" y="3712463"/>
            <a:ext cx="49926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70" name="Rectangle 69">
            <a:extLst xmlns:a="http://schemas.openxmlformats.org/drawingml/2006/main">
              <a:ext uri="{FF2B5EF4-FFF2-40B4-BE49-F238E27FC236}">
                <a16:creationId xmlns:a16="http://schemas.microsoft.com/office/drawing/2014/main" id="{EE1AC299-9896-4D5F-8DE7-D822F3F5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58768"/>
            <a:ext cx="4160520" cy="1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1" name="TextBox 70">
            <a:extLst xmlns:a="http://schemas.openxmlformats.org/drawingml/2006/main">
              <a:ext uri="{FF2B5EF4-FFF2-40B4-BE49-F238E27FC236}">
                <a16:creationId xmlns:a16="http://schemas.microsoft.com/office/drawing/2014/main" id="{26B1AE49-D14E-46D8-945B-93FB70AD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72483"/>
            <a:ext cx="166420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Basket at 40% non-grocery</a:t>
            </a:r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7F658C1A-623A-48C2-9B6D-B3AE3D67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872483"/>
            <a:ext cx="49926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₹842</a:t>
            </a:r>
          </a:p>
        </p:txBody>
      </p:sp>
      <p:sp>
        <p:nvSpPr>
          <p:cNvPr id="73" name="TextBox 72">
            <a:extLst xmlns:a="http://schemas.openxmlformats.org/drawingml/2006/main">
              <a:ext uri="{FF2B5EF4-FFF2-40B4-BE49-F238E27FC236}">
                <a16:creationId xmlns:a16="http://schemas.microsoft.com/office/drawing/2014/main" id="{A22BBBE1-2F77-45ED-AB6D-F3AEEB74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5470" y="3872483"/>
            <a:ext cx="54086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6.25%</a:t>
            </a:r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68ADFDCD-CF06-4F24-82E2-436B5ECD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338" y="3872483"/>
            <a:ext cx="45765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9.41×</a:t>
            </a:r>
          </a:p>
        </p:txBody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8CF92BC0-D836-491E-84D8-0C34E467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995" y="3872483"/>
            <a:ext cx="49926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58.8%</a:t>
            </a:r>
          </a:p>
        </p:txBody>
      </p:sp>
      <p:sp>
        <p:nvSpPr>
          <p:cNvPr id="76" name="TextBox 75">
            <a:extLst xmlns:a="http://schemas.openxmlformats.org/drawingml/2006/main">
              <a:ext uri="{FF2B5EF4-FFF2-40B4-BE49-F238E27FC236}">
                <a16:creationId xmlns:a16="http://schemas.microsoft.com/office/drawing/2014/main" id="{59B3EFFB-DA6C-4918-9E2F-DCE69C93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257" y="3872483"/>
            <a:ext cx="49926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0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77" name="TextBox 76">
            <a:extLst xmlns:a="http://schemas.openxmlformats.org/drawingml/2006/main">
              <a:ext uri="{FF2B5EF4-FFF2-40B4-BE49-F238E27FC236}">
                <a16:creationId xmlns:a16="http://schemas.microsoft.com/office/drawing/2014/main" id="{74548682-70B8-4F47-966F-CEF7029B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32503"/>
            <a:ext cx="166420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Basket at 30%, volume -30%</a:t>
            </a: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1C4B2560-BB5F-4314-B1CD-6CE2D384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032503"/>
            <a:ext cx="49926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₹729</a:t>
            </a:r>
          </a:p>
        </p:txBody>
      </p:sp>
      <p:sp>
        <p:nvSpPr>
          <p:cNvPr id="79" name="TextBox 78">
            <a:extLst xmlns:a="http://schemas.openxmlformats.org/drawingml/2006/main">
              <a:ext uri="{FF2B5EF4-FFF2-40B4-BE49-F238E27FC236}">
                <a16:creationId xmlns:a16="http://schemas.microsoft.com/office/drawing/2014/main" id="{45E77B85-A5F5-4D7B-B97D-D306B6ED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5470" y="4032503"/>
            <a:ext cx="54086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2.46%</a:t>
            </a:r>
          </a:p>
        </p:txBody>
      </p:sp>
      <p:sp>
        <p:nvSpPr>
          <p:cNvPr id="80" name="TextBox 79">
            <a:extLst xmlns:a="http://schemas.openxmlformats.org/drawingml/2006/main">
              <a:ext uri="{FF2B5EF4-FFF2-40B4-BE49-F238E27FC236}">
                <a16:creationId xmlns:a16="http://schemas.microsoft.com/office/drawing/2014/main" id="{6C525EAE-311B-40CE-B99D-0929CC9F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338" y="4032503"/>
            <a:ext cx="45765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5.71×</a:t>
            </a:r>
          </a:p>
        </p:txBody>
      </p:sp>
      <p:sp>
        <p:nvSpPr>
          <p:cNvPr id="81" name="TextBox 80">
            <a:extLst xmlns:a="http://schemas.openxmlformats.org/drawingml/2006/main">
              <a:ext uri="{FF2B5EF4-FFF2-40B4-BE49-F238E27FC236}">
                <a16:creationId xmlns:a16="http://schemas.microsoft.com/office/drawing/2014/main" id="{8E635274-60F7-45A5-9008-8BD83D75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995" y="4032503"/>
            <a:ext cx="49926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14.0%</a:t>
            </a:r>
          </a:p>
        </p:txBody>
      </p:sp>
      <p:sp>
        <p:nvSpPr>
          <p:cNvPr id="82" name="TextBox 81">
            <a:extLst xmlns:a="http://schemas.openxmlformats.org/drawingml/2006/main">
              <a:ext uri="{FF2B5EF4-FFF2-40B4-BE49-F238E27FC236}">
                <a16:creationId xmlns:a16="http://schemas.microsoft.com/office/drawing/2014/main" id="{29958728-FA86-42CE-BB32-E2A8DCFB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257" y="4032503"/>
            <a:ext cx="49926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0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62</a:t>
            </a:r>
          </a:p>
        </p:txBody>
      </p:sp>
      <p:sp>
        <p:nvSpPr>
          <p:cNvPr id="83" name="Rounded Rectangle 82">
            <a:extLst xmlns:a="http://schemas.openxmlformats.org/drawingml/2006/main">
              <a:ext uri="{FF2B5EF4-FFF2-40B4-BE49-F238E27FC236}">
                <a16:creationId xmlns:a16="http://schemas.microsoft.com/office/drawing/2014/main" id="{BABB172C-3532-4069-AC53-F6E02B3F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712463"/>
            <a:ext cx="3977639" cy="548640"/>
          </a:xfrm>
          <a:prstGeom xmlns:a="http://schemas.openxmlformats.org/drawingml/2006/main" prst="roundRect">
            <a:avLst>
              <a:gd name="adj" fmla="val 9000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B3261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27432" rIns="64008" bIns="27432" anchor="ctr"/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</a:pPr>
            <a:r>
              <a:rPr sz="590" b="1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THE LIMIT, COMPUTED   </a:t>
            </a:r>
            <a:r>
              <a:rPr sz="59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At a 30% basket with volume −30%, ROCE falls to 14.0% and payback runs to 62 months — longer than the 60 months the node's own life is anchored on. </a:t>
            </a:r>
            <a:r>
              <a:rPr sz="59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Under that combination the node does not pay back within its life, which is why the day-90 gate measures volume before anything else.</a:t>
            </a:r>
          </a:p>
        </p:txBody>
      </p:sp>
      <p:sp>
        <p:nvSpPr>
          <p:cNvPr id="84" name="TextBox 83">
            <a:extLst xmlns:a="http://schemas.openxmlformats.org/drawingml/2006/main">
              <a:ext uri="{FF2B5EF4-FFF2-40B4-BE49-F238E27FC236}">
                <a16:creationId xmlns:a16="http://schemas.microsoft.com/office/drawing/2014/main" id="{EA2DFF24-2A14-40BD-B015-F5FB2FA1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78808"/>
            <a:ext cx="41605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5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Second lever, unused in the base case: Minutes' free-delivery threshold is ₹149 — the market's lowest (Instamart ₹199, Blinkit ₹499), and already inside Minutes' control.</a:t>
            </a:r>
          </a:p>
        </p:txBody>
      </p:sp>
      <p:sp>
        <p:nvSpPr>
          <p:cNvPr id="85" name="Rounded Rectangle 84">
            <a:extLst xmlns:a="http://schemas.openxmlformats.org/drawingml/2006/main">
              <a:ext uri="{FF2B5EF4-FFF2-40B4-BE49-F238E27FC236}">
                <a16:creationId xmlns:a16="http://schemas.microsoft.com/office/drawing/2014/main" id="{57072E83-DC16-4802-AD41-61B0059B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352544"/>
            <a:ext cx="8321040" cy="310896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</a:pPr>
            <a:r>
              <a:rPr sz="80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The node clears the benchmark on a basket mix inside a disclosed industry range — a scenario boundary, not a Flipkart commitment. </a:t>
            </a:r>
            <a:r>
              <a:rPr sz="8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One dependency binds: term volume. The first 90 days are built to measure it.</a:t>
            </a:r>
          </a:p>
        </p:txBody>
      </p:sp>
      <p:sp>
        <p:nvSpPr>
          <p:cNvPr id="86" name="TextBox 85">
            <a:extLst xmlns:a="http://schemas.openxmlformats.org/drawingml/2006/main">
              <a:ext uri="{FF2B5EF4-FFF2-40B4-BE49-F238E27FC236}">
                <a16:creationId xmlns:a16="http://schemas.microsoft.com/office/drawing/2014/main" id="{7AD5ADD0-D154-470A-81EC-4F5BA3FB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8321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</a:pPr>
            <a:r>
              <a:rPr sz="52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Sources 2,4,8,9,10,11  ·  NPV at 12% / 15% [analytical discount-rate sensitivities; no Flipkart WACC is disclosed]: ₹158 L / ₹129 L  ·  P&amp;L, capital and ROCE derivation A6b  ·  basket fit A6  ·  working-capital constructs A5  ·  scenarios A3</a:t>
            </a:r>
          </a:p>
        </p:txBody>
      </p:sp>
    </p:spTree>
    <p:extLst>
      <p:ext uri="{BB962C8B-B14F-4D97-AF65-F5344CB8AC3E}">
        <p14:creationId xmlns:p14="http://schemas.microsoft.com/office/powerpoint/2010/main" val="10967965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A9980A-4EC5-4BF0-A289-C9E3A2E4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BE624EA-C718-4078-BA75-55528B19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75356B8-BD8B-465A-8FE4-1394456F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5E0B8B8-08D5-4E50-B2FE-B0E47EF3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7DD160F-BFDF-4E1E-9696-69A07EE2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944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12C511E-D0CB-4D7F-A8AB-461D0A96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442E942-B6DB-4C59-8F04-3B7E166B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1176" y="256032"/>
            <a:ext cx="31089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9AA1ED3-90E0-4F4D-88F5-507A18F0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56032"/>
            <a:ext cx="420624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0D999ED-D8E0-4F03-AFC7-62B703C5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196596"/>
            <a:ext cx="32918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ROADMAP, RISK, GATE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4B97AF1-DB7A-4D6F-BA0B-FC59A451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6596"/>
            <a:ext cx="2240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→ decision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1CE8DD8-B15F-4CC4-98FE-E93A0CC4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5488"/>
            <a:ext cx="749807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</a:pPr>
            <a:r>
              <a:rPr sz="165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90 days to a measured go/no-go: four workstreams, four instrumented metrics, and one dependency that can stop the rollout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32FBC13-F971-4A93-887F-4C161774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42415"/>
            <a:ext cx="8321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72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Every action fires on a calendar date rather than on observed volume: semester demand steps, it does not ramp. The gate metrics are Round 1's metric architecture, now doing the job it was designed for.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4D4F0B1-7359-4245-982C-4173166D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16736"/>
            <a:ext cx="4983480" cy="20574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6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6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90 DAYS   ·   WORKSTREAM × WEEK, WITH OWNERS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FBE710F-4861-4D1E-BA22-7393EBBF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577340"/>
            <a:ext cx="118872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90" b="1" i="0">
                <a:solidFill>
                  <a:srgbClr val="8A5F00"/>
                </a:solidFill>
                <a:latin typeface="Calibri"/>
                <a:ea typeface="Calibri"/>
                <a:cs typeface="Calibri"/>
              </a:rPr>
              <a:t>SITE &amp; LICENCE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F647A8B-F314-4AC4-8071-53272446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696212"/>
            <a:ext cx="11887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4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Contracts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852A152-7492-4CB5-A55F-27A19CCC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577340"/>
            <a:ext cx="4754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6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W1–2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346DC7A-E1A3-40FA-B148-9FEF5BA8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1577340"/>
            <a:ext cx="32552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59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shortlist 6 sites in 2 districts, uncontested-catchment test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738BC48-D823-4C54-848A-9EE328F2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709928"/>
            <a:ext cx="4754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6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W3–5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B416762-DA17-49C2-A76E-7D4B2852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1709928"/>
            <a:ext cx="32552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59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campus licence + DORMANCY CLAUSE in supplier terms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92E02B0-0C36-490E-9FDC-2A432F54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842516"/>
            <a:ext cx="4754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6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W6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B6C942A-B80A-46DA-82FE-0F7D12DC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1842516"/>
            <a:ext cx="32552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59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sign; publish the academic calendar into the ops calendar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E6FF498-8300-4731-B8CD-54AD8CE1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997964"/>
            <a:ext cx="498348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0E125D0-B570-4DFC-A947-39768F85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25396"/>
            <a:ext cx="118872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90" b="1" i="0">
                <a:solidFill>
                  <a:srgbClr val="8A5F00"/>
                </a:solidFill>
                <a:latin typeface="Calibri"/>
                <a:ea typeface="Calibri"/>
                <a:cs typeface="Calibri"/>
              </a:rPr>
              <a:t>NODE BUILD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CC6CDAB-CEDF-4251-8DCE-4D1D6799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144268"/>
            <a:ext cx="11887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4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Cluster ops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A81CF235-C208-46B8-8550-C4EB0835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025396"/>
            <a:ext cx="4754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6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W3–6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1F452ECC-37A7-4D9C-81DD-C9A76724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2025396"/>
            <a:ext cx="32552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59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fit-out 2,000 sqft small-format, one chilled zone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DCE83424-F6C1-4679-8DBE-233733DE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157984"/>
            <a:ext cx="4754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6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W7–9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C0CB54CE-A6AE-4B20-B226-75460224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2157984"/>
            <a:ext cx="32552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59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hire 25 store staff; 4-week lead on the rehire pool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8BCE304E-C77A-4A46-8399-BF36EF85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322576"/>
            <a:ext cx="498348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333E6216-7559-4EB2-BD04-66E272AD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350008"/>
            <a:ext cx="118872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90" b="1" i="0">
                <a:solidFill>
                  <a:srgbClr val="8A5F00"/>
                </a:solidFill>
                <a:latin typeface="Calibri"/>
                <a:ea typeface="Calibri"/>
                <a:cs typeface="Calibri"/>
              </a:rPr>
              <a:t>FLEET &amp; PARTNER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63A36048-F0D2-4CB5-8190-26A6025A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68880"/>
            <a:ext cx="11887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4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Fleet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F3614C1C-348F-4D4E-B8E4-3A16C178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350008"/>
            <a:ext cx="4754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6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W5–8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F361B800-7A37-4012-BA09-0AF4E141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2350008"/>
            <a:ext cx="32552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59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institution runner agreement, per-parcel fee, SLA-linked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03B65CB9-7EDA-48E4-A991-2ABBCBF7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482596"/>
            <a:ext cx="4754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6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W8–10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A3EF5A5E-4B40-4C0A-BC85-EB75D39B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2482596"/>
            <a:ext cx="32552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59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e-cart circuits mapped, OTP chain of custody live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05DEAF47-B399-4969-BEFF-CB3123D5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47188"/>
            <a:ext cx="498348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D599145F-226C-43A5-96AF-4DD4A57D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74620"/>
            <a:ext cx="118872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90" b="1" i="0">
                <a:solidFill>
                  <a:srgbClr val="8A5F00"/>
                </a:solidFill>
                <a:latin typeface="Calibri"/>
                <a:ea typeface="Calibri"/>
                <a:cs typeface="Calibri"/>
              </a:rPr>
              <a:t>COMMERCIAL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E426E3FC-B0EB-4334-B2CF-D481F90D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793492"/>
            <a:ext cx="11887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4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Category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80A5B966-2E3C-4C05-ABC1-D9A0DBC8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674620"/>
            <a:ext cx="4754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6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W6–9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B15808BC-6A22-42CA-964E-6F9CD0E8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2674620"/>
            <a:ext cx="32552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59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non-grocery mix to 25%: durables, accessories, print, BPC, OTC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EA2EE30-675A-45F7-A2AE-DE443C4B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807208"/>
            <a:ext cx="4754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6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W10–12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A68EDF99-B2FD-443D-A4BF-F93556A4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2807208"/>
            <a:ext cx="32552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59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campus free-delivery threshold test vs the ₹149 network floor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C1089002-7455-4CA0-B967-C1555D04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71800"/>
            <a:ext cx="498348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7D8FDD34-51B7-4C17-8431-F0F8DC30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017520"/>
            <a:ext cx="49834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70" b="0" i="1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Ramp-up cannot be gradual: semester-start demand STEPS, so every ramp action is dated off the published academic calendar.</a:t>
            </a:r>
          </a:p>
        </p:txBody>
      </p:sp>
      <p:sp>
        <p:nvSpPr>
          <p:cNvPr id="46" name="Rounded Rectangle 45">
            <a:extLst xmlns:a="http://schemas.openxmlformats.org/drawingml/2006/main">
              <a:ext uri="{FF2B5EF4-FFF2-40B4-BE49-F238E27FC236}">
                <a16:creationId xmlns:a16="http://schemas.microsoft.com/office/drawing/2014/main" id="{E6A4562B-1961-4E00-BD4C-EF88789E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16736"/>
            <a:ext cx="3200400" cy="196596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82296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40" b="1" i="0">
                <a:solidFill>
                  <a:srgbClr val="10265C"/>
                </a:solidFill>
                <a:latin typeface="Calibri"/>
                <a:ea typeface="Calibri"/>
                <a:cs typeface="Calibri"/>
              </a:rPr>
              <a:t>DAY-90 GATE   ·   ROUND 1's METRICS, INSTRUMENTED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0FDB6191-B854-41F3-995F-F12A33AB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16736"/>
            <a:ext cx="25603" cy="1965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3ED265A0-1742-41DA-A151-24F743D8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568196"/>
            <a:ext cx="217627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GATE METRIC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A17B7638-93EE-4275-B3A9-54CD165A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1568196"/>
            <a:ext cx="102412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60" b="1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THRESHOLD</a:t>
            </a:r>
          </a:p>
        </p:txBody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35ABAC20-4434-4D67-A080-F3220D77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696212"/>
            <a:ext cx="320040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F383024B-62A0-4ACE-B175-8F1CD310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709928"/>
            <a:ext cx="217627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Peak-to-Trough Demand Ratio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1B12B083-42D2-418A-9985-C8FB29C7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1709928"/>
            <a:ext cx="102412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&gt; 4.0×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BA35F0EC-AE29-4C4E-93C0-1E96C8AD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879092"/>
            <a:ext cx="217627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Gate-Drop Consolidation Ratio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CCFC2DBC-796B-46C5-9E91-8776F7C9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1879092"/>
            <a:ext cx="102412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≥ 3.0×</a:t>
            </a:r>
          </a:p>
        </p:txBody>
      </p:sp>
      <p:sp>
        <p:nvSpPr>
          <p:cNvPr id="55" name="Rectangle 54">
            <a:extLst xmlns:a="http://schemas.openxmlformats.org/drawingml/2006/main">
              <a:ext uri="{FF2B5EF4-FFF2-40B4-BE49-F238E27FC236}">
                <a16:creationId xmlns:a16="http://schemas.microsoft.com/office/drawing/2014/main" id="{5B4FD567-F0AC-4D72-A779-3C0E9C85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34540"/>
            <a:ext cx="320040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5550654E-1415-4321-A511-D911FE55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48256"/>
            <a:ext cx="217627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Term-Weighted CM + Break Runway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E11B0D2B-4AEF-481E-BEC1-694E4E12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048256"/>
            <a:ext cx="102412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≥ 1.0×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178DA9AA-3577-43C7-9F23-6F6E4BDB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17420"/>
            <a:ext cx="217627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Calendar-Linked Labour Share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EE9D5F51-5017-4FF2-9099-0B73BBE2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217420"/>
            <a:ext cx="102412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157347"/>
                </a:solidFill>
                <a:latin typeface="Calibri"/>
                <a:ea typeface="Calibri"/>
                <a:cs typeface="Calibri"/>
              </a:rPr>
              <a:t>≥ 50%</a:t>
            </a: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6C89B384-BB57-4221-A879-4D500388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450592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580" b="0" i="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Volume is the first read: at 1,000 orders/day the asset-turn ratio is 0.67 and at −30% the node does not pay back within its life. Measure it before capital goes to node two.</a:t>
            </a: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C3BC6CD5-186D-4F4B-B280-B4A6A701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98064"/>
            <a:ext cx="320040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PRICED SHOCKS  ·  AGAINST THE ₹580 BREAKEVEN</a:t>
            </a:r>
          </a:p>
        </p:txBody>
      </p:sp>
      <p:graphicFrame>
        <p:nvGraphicFramePr>
          <p:cNvPr id="133" name="Chart 61"/>
          <p:cNvGraphicFramePr/>
          <p:nvPr/>
        </p:nvGraphicFramePr>
        <p:xfrm>
          <a:off xmlns:a="http://schemas.openxmlformats.org/drawingml/2006/main" x="5532120" y="2953512"/>
          <a:ext xmlns:a="http://schemas.openxmlformats.org/drawingml/2006/main" cx="3200400" cy="10058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17c4bc1b104bb7"/>
          </a:graphicData>
        </a:graphic>
      </p:graphicFrame>
      <p:sp>
        <p:nvSpPr>
          <p:cNvPr id="63" name="Connector 62">
            <a:extLst xmlns:a="http://schemas.openxmlformats.org/drawingml/2006/main">
              <a:ext uri="{FF2B5EF4-FFF2-40B4-BE49-F238E27FC236}">
                <a16:creationId xmlns:a16="http://schemas.microsoft.com/office/drawing/2014/main" id="{3EC9900C-BF28-4AF0-BC4C-2A6173B2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964" y="2998774"/>
            <a:ext cx="0" cy="784556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0D1F5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D8CBCE83-125E-42EA-ADF2-CB508896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644" y="2884474"/>
            <a:ext cx="548640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2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₹573 base</a:t>
            </a:r>
          </a:p>
        </p:txBody>
      </p:sp>
      <p:sp>
        <p:nvSpPr>
          <p:cNvPr id="65" name="Connector 64">
            <a:extLst xmlns:a="http://schemas.openxmlformats.org/drawingml/2006/main">
              <a:ext uri="{FF2B5EF4-FFF2-40B4-BE49-F238E27FC236}">
                <a16:creationId xmlns:a16="http://schemas.microsoft.com/office/drawing/2014/main" id="{40FF5A5F-D6AC-400B-AD0B-F3FA63CD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429" y="2998774"/>
            <a:ext cx="0" cy="784556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FFC22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F8A90FFC-09DD-4644-AEF5-56D1D366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565" y="2884474"/>
            <a:ext cx="1188720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20" b="1" i="0">
                <a:solidFill>
                  <a:srgbClr val="B57F00"/>
                </a:solidFill>
                <a:latin typeface="Calibri"/>
                <a:ea typeface="Calibri"/>
                <a:cs typeface="Calibri"/>
              </a:rPr>
              <a:t>₹637 · a 30% basket reaches</a:t>
            </a:r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C12D495C-BB40-4A16-B836-1EC7D4DB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954780"/>
            <a:ext cx="3200400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0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Axis starts at ₹560 — the argument is distance to the basket line, not to zero.</a:t>
            </a: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00963B11-96CF-4566-940B-E505938E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023360"/>
            <a:ext cx="3200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</a:pPr>
            <a:r>
              <a:rPr sz="540" b="0" i="0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Coverage is a lift from Minutes' own post-occasion basket: 30% non-grocery reaches ₹637, 40% reaches ₹750. Three of four sit inside ₹637. Only volume is genuinely open: the levy is tabled, shrinkage is bounded and already netted, and fragmentation is chosen at siting. One binding dependency rather than four. Owners: volume Cluster ops at day 90 · levy Contracts · shrinkage Store · fragmentation Site.</a:t>
            </a:r>
          </a:p>
        </p:txBody>
      </p:sp>
      <p:sp>
        <p:nvSpPr>
          <p:cNvPr id="69" name="Rounded Rectangle 68">
            <a:extLst xmlns:a="http://schemas.openxmlformats.org/drawingml/2006/main">
              <a:ext uri="{FF2B5EF4-FFF2-40B4-BE49-F238E27FC236}">
                <a16:creationId xmlns:a16="http://schemas.microsoft.com/office/drawing/2014/main" id="{6906AD6F-6830-4FE6-BAC4-761CA001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712463"/>
            <a:ext cx="4983480" cy="530352"/>
          </a:xfrm>
          <a:prstGeom xmlns:a="http://schemas.openxmlformats.org/drawingml/2006/main" prst="roundRect">
            <a:avLst>
              <a:gd name="adj" fmla="val 9000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8A5F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27432" rIns="64008" bIns="27432" anchor="ctr"/>
          <a:lstStyle xmlns:a="http://schemas.openxmlformats.org/drawingml/2006/main"/>
          <a:p xmlns:a="http://schemas.openxmlformats.org/drawingml/2006/main">
            <a:pPr algn="ctr">
              <a:lnSpc>
                <a:spcPct val="93000"/>
              </a:lnSpc>
              <a:buNone/>
            </a:pPr>
            <a:r>
              <a:rPr sz="590" b="1" i="0">
                <a:solidFill>
                  <a:srgbClr val="8A5F00"/>
                </a:solidFill>
                <a:latin typeface="Calibri"/>
                <a:ea typeface="Calibri"/>
                <a:cs typeface="Calibri"/>
              </a:rPr>
              <a:t>THREE CONCESSIONS, STATED UP FRONT   </a:t>
            </a:r>
            <a:r>
              <a:rPr sz="590" b="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11 minutes is a marketing claim, and we do not price it (slide 6). The industry relocates rather than mothballs, and we never proposed mothballing: holding costs 24% of one move. We are not first, and slide 1 names all three incumbents. None of them underwrites a node on the cluster itself.</a:t>
            </a:r>
          </a:p>
        </p:txBody>
      </p:sp>
      <p:sp>
        <p:nvSpPr>
          <p:cNvPr id="70" name="Rounded Rectangle 69">
            <a:extLst xmlns:a="http://schemas.openxmlformats.org/drawingml/2006/main">
              <a:ext uri="{FF2B5EF4-FFF2-40B4-BE49-F238E27FC236}">
                <a16:creationId xmlns:a16="http://schemas.microsoft.com/office/drawing/2014/main" id="{3F50E1B6-52FE-41DE-B54E-70656EC5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352544"/>
            <a:ext cx="8321040" cy="310896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</a:pPr>
            <a:r>
              <a:rPr sz="80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Approve one pilot node, ₹324 lakh of capital employed, and a day-90 gate on four metrics. </a:t>
            </a:r>
            <a:r>
              <a:rPr sz="8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If volume clears, node two is a site-selection decision we have already made 111 times.</a:t>
            </a:r>
          </a:p>
        </p:txBody>
      </p:sp>
      <p:sp>
        <p:nvSpPr>
          <p:cNvPr id="71" name="TextBox 70">
            <a:extLst xmlns:a="http://schemas.openxmlformats.org/drawingml/2006/main">
              <a:ext uri="{FF2B5EF4-FFF2-40B4-BE49-F238E27FC236}">
                <a16:creationId xmlns:a16="http://schemas.microsoft.com/office/drawing/2014/main" id="{60BB26DF-8CC5-41F5-89B0-E23F8A22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8321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</a:pPr>
            <a:r>
              <a:rPr sz="520" b="0" i="1">
                <a:solidFill>
                  <a:srgbClr val="5A6785"/>
                </a:solidFill>
                <a:latin typeface="Calibri"/>
                <a:ea typeface="Calibri"/>
                <a:cs typeface="Calibri"/>
              </a:rPr>
              <a:t>Sources 8,13,19,20,21  ·  shock derivations A5  ·  assumption ledger A3  ·  fragmentation A7b  ·  playbook triggers and owners A4</a:t>
            </a:r>
          </a:p>
        </p:txBody>
      </p:sp>
    </p:spTree>
    <p:extLst>
      <p:ext uri="{BB962C8B-B14F-4D97-AF65-F5344CB8AC3E}">
        <p14:creationId xmlns:p14="http://schemas.microsoft.com/office/powerpoint/2010/main" val="10795278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86C256A-FD99-4A77-B43F-C4B9CABF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0"/>
            <a:ext cx="8321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Appendix · the verification kit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1DCBEF3-AB1F-4B3E-BFCD-F2AF7607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10512"/>
            <a:ext cx="749807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Every figure on the eight content slides is produced by code in a public repository, and checked by four scripts that anyone can run in a browser in under a minute.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BEDBC954-D77D-41BC-9633-7EEA57D8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06040"/>
            <a:ext cx="1970531" cy="84124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E2A63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28736F0-C18A-426C-9B86-2F1A3CB8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2706624"/>
            <a:ext cx="175107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344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13CC2C0-7B8F-4637-B348-FFFDD677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2999232"/>
            <a:ext cx="17510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assertions in audit.py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A7F46FC-3F24-4C7D-9AD1-557E56DF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3154680"/>
            <a:ext cx="175107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the model against itself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AB66EF59-734A-42CC-A68C-37A9F1FF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740" y="2606040"/>
            <a:ext cx="1970531" cy="84124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E2A63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7DD8ABB-E06E-4AFE-937A-01E5228A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468" y="2706624"/>
            <a:ext cx="175107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FA0FF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5A9A3E3-53D8-4B0D-8925-BC95B15D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468" y="2999232"/>
            <a:ext cx="17510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HANDOFF figures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9290CE2-EE25-4172-B0D0-452DE768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468" y="3154680"/>
            <a:ext cx="175107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the numbers doc against the model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4CBB836-6747-46A2-A16D-633ED097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6040"/>
            <a:ext cx="1970531" cy="84124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E2A63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99A92FE-4710-40F3-B6E4-AFBEC218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706624"/>
            <a:ext cx="175107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FA0FF"/>
                </a:solidFill>
                <a:latin typeface="Calibri"/>
                <a:ea typeface="Calibri"/>
                <a:cs typeface="Calibri"/>
              </a:rPr>
              <a:t>79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DC0BB2D-FE6C-4D32-B4F5-DB85617B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999232"/>
            <a:ext cx="17510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spec figures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6F116F5-A036-4ABD-8BF5-671D3FAF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3154680"/>
            <a:ext cx="175107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the slide copy against the model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93D0B4C-4899-4EA1-B493-CC9F1DD3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259" y="2606040"/>
            <a:ext cx="1970531" cy="84124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E2A63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B23B7DC-A2A3-4A90-A26E-57393C6B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988" y="2706624"/>
            <a:ext cx="1751076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133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91F5A8D-831B-4FF0-B142-B1A18A5C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988" y="2999232"/>
            <a:ext cx="17510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deck checks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74DF79A-32C9-45B6-B2D8-70165BD7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988" y="3154680"/>
            <a:ext cx="175107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the BUILT .pptx against the model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F115023-57CF-4502-A96C-9714A46F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703320"/>
            <a:ext cx="8321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Each of the four is a command with an output. The outputs follow on A-1.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27A86279-DCD6-4D33-B364-FB001D6B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069080"/>
            <a:ext cx="8321040" cy="310896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FFC22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18872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4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THE REPOSITORY   </a:t>
            </a:r>
            <a:r>
              <a:rPr sz="7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github.com/mba25015-maker/flipkart-wired-x-campus-node</a:t>
            </a:r>
            <a:r>
              <a:rPr sz="74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   ·   public, no login, six runnable notebooks   ·   paid analyst PDFs deliberately excluded</a:t>
            </a:r>
          </a:p>
        </p:txBody>
      </p:sp>
    </p:spTree>
    <p:extLst>
      <p:ext uri="{BB962C8B-B14F-4D97-AF65-F5344CB8AC3E}">
        <p14:creationId xmlns:p14="http://schemas.microsoft.com/office/powerpoint/2010/main" val="2840550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0BA3695-F73C-41C8-B6BB-42CB19AC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0896"/>
            <a:ext cx="6400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Every number is asserted in code, and the check reopens the built file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43B9C05-C41A-4752-B297-52ABB186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184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A-1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52BE8A0-EC16-44D3-8F1C-525714A7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731520"/>
            <a:ext cx="832104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2616657a346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17720" y="896112"/>
            <a:ext cx="4114800" cy="1579664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24406B"/>
            </a:solidFill>
          </a:ln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B50F015-17A7-492B-9A1E-E696E386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530640"/>
            <a:ext cx="41148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1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audit.py — the model checked against itself, 344 assertions</a:t>
            </a:r>
          </a:p>
        </p:txBody>
      </p:sp>
      <p:pic>
        <p:nvPicPr>
          <p:cNvPr id="35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341f0b79047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74166" y="2786672"/>
            <a:ext cx="3801907" cy="1298448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24406B"/>
            </a:solidFill>
          </a:ln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557CD67-BE6D-49FB-8113-9F39B5AE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139984"/>
            <a:ext cx="41148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600" b="0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verify_deck.py opens the BUILT PowerPoint, pulls every run of text and every chart value out of it, and checks the slides against the model. A figure that drifts between model and deck fails here even when audit.py passes. It also asserts absence: no superseded Round 1 figure, no placeholder text, no banned attribution wording, no stale verification count.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F232811-BC6A-40D1-A5D6-BACAF6CE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96112"/>
            <a:ext cx="3977639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E2A63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0FF93C7-3B4F-4DA5-A980-A748086D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5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344 / 344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3DFCFEE-C3C3-49DF-9180-5870622D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996696"/>
            <a:ext cx="2011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audit.py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FF3BFC8-C96E-46D7-9668-3A92DE97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1161288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model vs itself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99077AB2-0EC6-44CF-8B8E-03A4FA60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536192"/>
            <a:ext cx="3977639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E2A63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5714C57-8B48-4DDF-9924-82C45D3E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18488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5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133</a:t>
            </a:r>
            <a:r>
              <a:rPr sz="145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 / </a:t>
            </a:r>
            <a:r>
              <a:rPr sz="145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133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F51C609-B28A-44E0-9D35-E8F85FAB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1636776"/>
            <a:ext cx="2011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verify_deck.py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3A086FF-DD09-4FF6-87AD-CA01463F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1801368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built slides vs model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D68E3745-9B71-4E8C-8B93-4D37ECAF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176272"/>
            <a:ext cx="3977639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E2A63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17617FB-EF28-4CD0-B00D-3277DAEE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58568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5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E4A618F-39CE-433E-BCBB-6641992F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2276856"/>
            <a:ext cx="2011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headline figures typed by hand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86BEBFE-4986-4137-AFD3-4134BA0F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2441448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every value imported from the model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866B7CE6-713A-4A03-B91B-90062C6A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871216"/>
            <a:ext cx="3977639" cy="1170432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A2052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8F4E77F-8738-430E-A0F5-70646E17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3794759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REPRODUCE IT IN UNDER A MINUTE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4BCDFC1-7CA5-4E61-9DCB-A1178E9B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81528"/>
            <a:ext cx="3794759" cy="9129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$ git clone flipkart-wired-x-campus-node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$ python3 Model/run_all.py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audit.py                 344 / 344   model vs itself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verify_docs.py             31 / 31   HANDOFF vs model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verify_spec.py             79 / 79   spec vs model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verify_deck.py           </a:t>
            </a: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133</a:t>
            </a: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/ </a:t>
            </a: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133</a:t>
            </a: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 built slides vs model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one command, four layers, nonzero exit on any failure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87B58D6-CC52-4332-8C73-9B35777E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33087"/>
            <a:ext cx="27889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</a:pPr>
            <a:r>
              <a:rPr sz="640" b="0" i="1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The notebook below runs the first of the four in a browser, with no local install. Each line is a command with an output.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56429ABF-5BBE-4259-913E-01C9AC03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389120"/>
            <a:ext cx="2788920" cy="27432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FFC22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▶  </a:t>
            </a:r>
            <a:r>
              <a:rPr sz="7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RUN IT — colab.research.google.com/github/mba2501…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40786D7-3E05-433E-A27F-3AD38F4A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4160520"/>
            <a:ext cx="73152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9f766f0c24c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7560" y="4187952"/>
            <a:ext cx="676656" cy="67665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4971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39B9DB1-3287-42DC-A4DB-94002069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0896"/>
            <a:ext cx="6400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Source register — twenty-two numbered citations, tiered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757E53D-D9F4-4EA6-849B-BB748056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184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A-2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C07E871-5D0B-4616-80C3-1ECD54FD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731520"/>
            <a:ext cx="832104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EF78996-2FD8-47A9-9E42-2DDBD489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22960"/>
            <a:ext cx="8321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1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Superscripts on the content slides index this table. Tier: T1 company filing, regulator, statute or direct institutional source  ·  T2 broker, analyst or reputable media  ·  D our own field data  ·  A peer-reviewed.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12E1D2E-428A-4FB1-BEE7-CDD80B9E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60704"/>
            <a:ext cx="2377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E31AEC9-EEA8-4E2C-B480-AB3249EA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1060704"/>
            <a:ext cx="3310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JM Financial, Eternal model — dark-store cost stack Ex.12/13; tier rent bands Ex.5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AC2B746-FBEC-4BC5-BD95-6066C8A1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1060704"/>
            <a:ext cx="34747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6FA0FF"/>
                </a:solidFill>
                <a:latin typeface="Calibri"/>
                <a:ea typeface="Calibri"/>
                <a:cs typeface="Calibri"/>
              </a:rPr>
              <a:t>T2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C25BA7C-5BEC-408E-A125-B5729D5B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25880"/>
            <a:ext cx="402336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CB3B0E5-E382-4527-B61F-5F7924B2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76172"/>
            <a:ext cx="2377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E7D4048-0F0C-422E-8EB9-69E588F8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1376172"/>
            <a:ext cx="3310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JM Financial Ex.29 — Blinkit orders/day/store, nine quarters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52C0E04-466B-4AA0-80A0-D05587BD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1376172"/>
            <a:ext cx="34747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6FA0FF"/>
                </a:solidFill>
                <a:latin typeface="Calibri"/>
                <a:ea typeface="Calibri"/>
                <a:cs typeface="Calibri"/>
              </a:rPr>
              <a:t>T2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13E2962-1DDA-471B-ACAE-199F4CBB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641348"/>
            <a:ext cx="402336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256E63E-4090-43AC-9C6B-4E3BBF1F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691639"/>
            <a:ext cx="2377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A846B8B-8B71-46A5-8AF7-2D128441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1691639"/>
            <a:ext cx="3310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JM Financial Ex.33 + 35-store field survey — non-metro multiple, delivery times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5E0A547-CDAB-4211-B377-88C5A07E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1691639"/>
            <a:ext cx="34747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6FA0FF"/>
                </a:solidFill>
                <a:latin typeface="Calibri"/>
                <a:ea typeface="Calibri"/>
                <a:cs typeface="Calibri"/>
              </a:rPr>
              <a:t>T2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6F9968C-DA3C-4E5F-952E-612371A4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956815"/>
            <a:ext cx="402336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5C76A03-4FF7-4682-889B-35A6A6DF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07107"/>
            <a:ext cx="2377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D097CC4-5AC7-48B1-9922-432A6DF0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007107"/>
            <a:ext cx="3310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TechCrunch, 22 Aug 2026 — Minutes AOV ₹400–500, Flipkart internal, confirmed by the reporter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83E1C85-0145-49BE-A431-027313E6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007107"/>
            <a:ext cx="34747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6FA0FF"/>
                </a:solidFill>
                <a:latin typeface="Calibri"/>
                <a:ea typeface="Calibri"/>
                <a:cs typeface="Calibri"/>
              </a:rPr>
              <a:t>T2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0073737-32C1-43B0-B80C-3117A0B3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72284"/>
            <a:ext cx="402336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EF445A8-D5F9-4E0D-B057-13E33F3E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322576"/>
            <a:ext cx="2377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4A3E541-B14A-46C3-86C0-94643AE4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322576"/>
            <a:ext cx="3310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Bernstein via Economic Times, 18 Jul 2026 — store counts, pin codes, five-operator overlap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1BD5C2F-8BD4-4456-8346-C4C74EBE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322576"/>
            <a:ext cx="34747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6FA0FF"/>
                </a:solidFill>
                <a:latin typeface="Calibri"/>
                <a:ea typeface="Calibri"/>
                <a:cs typeface="Calibri"/>
              </a:rPr>
              <a:t>T2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FC0237D3-AF05-474E-BC6E-C165722E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587751"/>
            <a:ext cx="402336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892E7409-2017-4BE3-AA44-B0B8A608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38044"/>
            <a:ext cx="2377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933797D8-5BB7-445B-AC22-A47366D0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638044"/>
            <a:ext cx="3310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AISHE institution register, as on 28-8-2026 — 54,014 colleges, urban/rural flag, district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84746D8-9984-4E70-9DB1-B037EDA7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638044"/>
            <a:ext cx="34747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T1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DEA4039-4823-4A2A-B192-85D26A84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03219"/>
            <a:ext cx="402336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376949D-A11B-4495-8CA5-C6F40741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53511"/>
            <a:ext cx="2377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248EDD4C-64CF-4AD5-83B5-FA9D78AF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953511"/>
            <a:ext cx="3310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AISHE 2023-24 report — enrolment, hostel occupancy. DIFFERENT INSTRUMENT from [6]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6D66C499-0C33-4480-945D-1861ACCA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953511"/>
            <a:ext cx="34747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T1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33645B74-B51B-4717-A177-8E98F6C7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18687"/>
            <a:ext cx="402336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3C618833-8C98-4DF6-AE80-C112AAF4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68979"/>
            <a:ext cx="2377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D6B8F670-0F16-454D-A3C1-93BB2678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3268979"/>
            <a:ext cx="3310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Eternal / Blinkit FY26 disclosures — take rate 19.41%, ₹29.4/order, shrinkage, NWC days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1FBCF890-FDF7-4082-9136-EA85B552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3268979"/>
            <a:ext cx="34747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T1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2C76418E-76A5-41A3-952A-DBF0B54F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534155"/>
            <a:ext cx="402336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80219A64-052B-4B1F-851A-AF95C6BB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584447"/>
            <a:ext cx="2377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C6B04D65-1E0A-4F9E-A754-5BD27DFF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3584447"/>
            <a:ext cx="3310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Zepto, MCA-filed audited consolidated accounts — 13 days inventory, ~60 days payables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C8EA1CE5-18DA-42AA-89A6-8FE2DD9F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3584447"/>
            <a:ext cx="34747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T1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ECF28B33-3C22-4E1C-9895-6ED9091E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849623"/>
            <a:ext cx="402336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A0732113-22A1-4F5F-9818-9E49D483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899915"/>
            <a:ext cx="2377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7F0022A0-75FF-4301-B037-FE92E84E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3899915"/>
            <a:ext cx="3310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Swiggy Instamart quarterly disclosures — non-grocery share vs AOV; the 30–40% ceiling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B593257C-0229-4EDB-8BCE-843A00EC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3899915"/>
            <a:ext cx="34747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T1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653B7141-AF8D-49BA-AB06-24FD7883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65091"/>
            <a:ext cx="402336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167971DE-8888-452A-A3F5-0FF0CAEB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215383"/>
            <a:ext cx="2377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6FF9234A-6345-482B-A218-9C710BBF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4215383"/>
            <a:ext cx="3310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J.P. Morgan quick-commerce channel work — 4.0 orders/active hour, sub-2km leg, rider cost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9DCBE2E5-D24D-4754-96D1-6E5CEB01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4215383"/>
            <a:ext cx="34747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6FA0FF"/>
                </a:solidFill>
                <a:latin typeface="Calibri"/>
                <a:ea typeface="Calibri"/>
                <a:cs typeface="Calibri"/>
              </a:rPr>
              <a:t>T2</a:t>
            </a:r>
          </a:p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7EAF1BCE-C61B-40F6-AB77-4C83F2D5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480559"/>
            <a:ext cx="402336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5BE96A8C-470D-445E-983D-EAB596E5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060704"/>
            <a:ext cx="2377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2ADD97FC-0F1C-444F-A3C8-796EC2FB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1060704"/>
            <a:ext cx="3310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UBS Evidence Lab rider survey, n=100, Nov–Dec 2025 — batching incidence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9E934860-5518-4E4B-B91D-B0D38C19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060704"/>
            <a:ext cx="34747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6FA0FF"/>
                </a:solidFill>
                <a:latin typeface="Calibri"/>
                <a:ea typeface="Calibri"/>
                <a:cs typeface="Calibri"/>
              </a:rPr>
              <a:t>T2</a:t>
            </a:r>
          </a:p>
        </p:txBody>
      </p:sp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C28AD219-8726-4B95-B894-E26F15FB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325880"/>
            <a:ext cx="402336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7B76B7FA-6210-4620-A5CB-5D4ABC99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376172"/>
            <a:ext cx="2377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E7CBA3C0-2A2F-484E-9AFF-BE13E191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1376172"/>
            <a:ext cx="3310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Walmart Q1 FY27 earnings call, 21 May 2026 — &gt;800 MFCs, &lt;13 minutes, &gt;30 cities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AB4AF233-5DB8-486D-A7FA-344B024C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376172"/>
            <a:ext cx="34747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T1</a:t>
            </a:r>
          </a:p>
        </p:txBody>
      </p:sp>
      <p:sp>
        <p:nvSpPr>
          <p:cNvPr id="57" name="Rectangle 56">
            <a:extLst xmlns:a="http://schemas.openxmlformats.org/drawingml/2006/main">
              <a:ext uri="{FF2B5EF4-FFF2-40B4-BE49-F238E27FC236}">
                <a16:creationId xmlns:a16="http://schemas.microsoft.com/office/drawing/2014/main" id="{748530B2-0B30-4D3C-9B5C-CBB22C26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41348"/>
            <a:ext cx="402336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C73D4AE6-FBD4-4149-98D6-9C6B0343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91639"/>
            <a:ext cx="2377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E93CC1AC-8E31-4AA4-997B-F5EBC98C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1691639"/>
            <a:ext cx="3310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Euromonitor International — Consumer Foodservice by Location in India, Mar 2026</a:t>
            </a: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D14691DD-CCAF-4E89-ABE7-3CB05940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691639"/>
            <a:ext cx="34747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6FA0FF"/>
                </a:solidFill>
                <a:latin typeface="Calibri"/>
                <a:ea typeface="Calibri"/>
                <a:cs typeface="Calibri"/>
              </a:rPr>
              <a:t>T2</a:t>
            </a:r>
          </a:p>
        </p:txBody>
      </p:sp>
      <p:sp>
        <p:nvSpPr>
          <p:cNvPr id="61" name="Rectangle 60">
            <a:extLst xmlns:a="http://schemas.openxmlformats.org/drawingml/2006/main">
              <a:ext uri="{FF2B5EF4-FFF2-40B4-BE49-F238E27FC236}">
                <a16:creationId xmlns:a16="http://schemas.microsoft.com/office/drawing/2014/main" id="{67264D73-1D87-42BA-98B4-441B920B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956815"/>
            <a:ext cx="402336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69364FE2-5FD7-4D68-BC25-CEF7076A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007107"/>
            <a:ext cx="2377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FACE46D7-199C-4D7A-ABAD-30BA42FD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2007107"/>
            <a:ext cx="3310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Food On Demand, 10 Jun 2026 — Starship exit; Avride–Chartwells master agreement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0D700CC2-E004-4CB5-B145-0E4031E0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2007107"/>
            <a:ext cx="34747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6FA0FF"/>
                </a:solidFill>
                <a:latin typeface="Calibri"/>
                <a:ea typeface="Calibri"/>
                <a:cs typeface="Calibri"/>
              </a:rPr>
              <a:t>T2</a:t>
            </a:r>
          </a:p>
        </p:txBody>
      </p:sp>
      <p:sp>
        <p:nvSpPr>
          <p:cNvPr id="65" name="Rectangle 64">
            <a:extLst xmlns:a="http://schemas.openxmlformats.org/drawingml/2006/main">
              <a:ext uri="{FF2B5EF4-FFF2-40B4-BE49-F238E27FC236}">
                <a16:creationId xmlns:a16="http://schemas.microsoft.com/office/drawing/2014/main" id="{BC21A13B-A198-4130-8637-389C8E14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272284"/>
            <a:ext cx="402336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E9BAC655-7A3B-43A3-BBEB-9DB33A54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322576"/>
            <a:ext cx="2377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3F19DF14-022A-47C0-842E-A03A5823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2322576"/>
            <a:ext cx="3310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UC Davis Finance, Operations &amp; Administration — Last Mile Initiative</a:t>
            </a: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EC59841F-4B34-438C-86BE-5FB4CDC3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2322576"/>
            <a:ext cx="34747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T1</a:t>
            </a:r>
          </a:p>
        </p:txBody>
      </p:sp>
      <p:sp>
        <p:nvSpPr>
          <p:cNvPr id="69" name="Rectangle 68">
            <a:extLst xmlns:a="http://schemas.openxmlformats.org/drawingml/2006/main">
              <a:ext uri="{FF2B5EF4-FFF2-40B4-BE49-F238E27FC236}">
                <a16:creationId xmlns:a16="http://schemas.microsoft.com/office/drawing/2014/main" id="{4403DD0D-37FA-41DF-9FBD-8759DC7D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587751"/>
            <a:ext cx="402336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1A517C5C-FACF-434E-8DBC-C6B9B57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638044"/>
            <a:ext cx="2377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71" name="TextBox 70">
            <a:extLst xmlns:a="http://schemas.openxmlformats.org/drawingml/2006/main">
              <a:ext uri="{FF2B5EF4-FFF2-40B4-BE49-F238E27FC236}">
                <a16:creationId xmlns:a16="http://schemas.microsoft.com/office/drawing/2014/main" id="{9E5AAB31-8711-4B38-A425-20F78034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2638044"/>
            <a:ext cx="3310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CRISIL — warehousing occupier contracts, fixed-cost share, power tariffs</a:t>
            </a:r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026B9F34-4051-4B1D-BC40-6F71B05B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2638044"/>
            <a:ext cx="34747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6FA0FF"/>
                </a:solidFill>
                <a:latin typeface="Calibri"/>
                <a:ea typeface="Calibri"/>
                <a:cs typeface="Calibri"/>
              </a:rPr>
              <a:t>T2</a:t>
            </a:r>
          </a:p>
        </p:txBody>
      </p:sp>
      <p:sp>
        <p:nvSpPr>
          <p:cNvPr id="73" name="Rectangle 72">
            <a:extLst xmlns:a="http://schemas.openxmlformats.org/drawingml/2006/main">
              <a:ext uri="{FF2B5EF4-FFF2-40B4-BE49-F238E27FC236}">
                <a16:creationId xmlns:a16="http://schemas.microsoft.com/office/drawing/2014/main" id="{F1E289E1-8CB6-480E-B6AC-1A0E9B7C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03219"/>
            <a:ext cx="402336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12E8156C-38A5-4FF0-B1BC-AA9A110F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53511"/>
            <a:ext cx="2377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A4FC9619-7A10-4E77-8D3D-1A4A0329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2953511"/>
            <a:ext cx="3310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Kambli, Sinha &amp; Srinivas (2020), J. Hosp. &amp; Tourism Mgmt 43, 62–70</a:t>
            </a:r>
          </a:p>
        </p:txBody>
      </p:sp>
      <p:sp>
        <p:nvSpPr>
          <p:cNvPr id="76" name="TextBox 75">
            <a:extLst xmlns:a="http://schemas.openxmlformats.org/drawingml/2006/main">
              <a:ext uri="{FF2B5EF4-FFF2-40B4-BE49-F238E27FC236}">
                <a16:creationId xmlns:a16="http://schemas.microsoft.com/office/drawing/2014/main" id="{4C833DCA-D5C5-4129-A986-0C2D1827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2953511"/>
            <a:ext cx="34747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77" name="Rectangle 76">
            <a:extLst xmlns:a="http://schemas.openxmlformats.org/drawingml/2006/main">
              <a:ext uri="{FF2B5EF4-FFF2-40B4-BE49-F238E27FC236}">
                <a16:creationId xmlns:a16="http://schemas.microsoft.com/office/drawing/2014/main" id="{DD33778B-EAA5-4673-ACC9-A1D26BE1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218687"/>
            <a:ext cx="402336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E6863796-3F7C-4C3A-B620-14E86EF3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268979"/>
            <a:ext cx="2377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79" name="TextBox 78">
            <a:extLst xmlns:a="http://schemas.openxmlformats.org/drawingml/2006/main">
              <a:ext uri="{FF2B5EF4-FFF2-40B4-BE49-F238E27FC236}">
                <a16:creationId xmlns:a16="http://schemas.microsoft.com/office/drawing/2014/main" id="{4F947566-D715-490C-B424-0FC1F7CE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3268979"/>
            <a:ext cx="3310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Parliamentary Standing Committee, 201st report, 7 Aug 2026 — gig social-security levy</a:t>
            </a:r>
          </a:p>
        </p:txBody>
      </p:sp>
      <p:sp>
        <p:nvSpPr>
          <p:cNvPr id="80" name="TextBox 79">
            <a:extLst xmlns:a="http://schemas.openxmlformats.org/drawingml/2006/main">
              <a:ext uri="{FF2B5EF4-FFF2-40B4-BE49-F238E27FC236}">
                <a16:creationId xmlns:a16="http://schemas.microsoft.com/office/drawing/2014/main" id="{9F7AA2E3-72DC-47DD-B39D-D74E4AFE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268979"/>
            <a:ext cx="34747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T1</a:t>
            </a:r>
          </a:p>
        </p:txBody>
      </p:sp>
      <p:sp>
        <p:nvSpPr>
          <p:cNvPr id="81" name="Rectangle 80">
            <a:extLst xmlns:a="http://schemas.openxmlformats.org/drawingml/2006/main">
              <a:ext uri="{FF2B5EF4-FFF2-40B4-BE49-F238E27FC236}">
                <a16:creationId xmlns:a16="http://schemas.microsoft.com/office/drawing/2014/main" id="{9E87B601-EC75-4531-ABC4-FF6BAFA7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534155"/>
            <a:ext cx="402336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TextBox 81">
            <a:extLst xmlns:a="http://schemas.openxmlformats.org/drawingml/2006/main">
              <a:ext uri="{FF2B5EF4-FFF2-40B4-BE49-F238E27FC236}">
                <a16:creationId xmlns:a16="http://schemas.microsoft.com/office/drawing/2014/main" id="{85CACEC8-3F6E-4A75-B93C-E76FFD55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584447"/>
            <a:ext cx="2377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83" name="TextBox 82">
            <a:extLst xmlns:a="http://schemas.openxmlformats.org/drawingml/2006/main">
              <a:ext uri="{FF2B5EF4-FFF2-40B4-BE49-F238E27FC236}">
                <a16:creationId xmlns:a16="http://schemas.microsoft.com/office/drawing/2014/main" id="{4A1B3014-6F38-4FFE-A78D-165E655C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3584447"/>
            <a:ext cx="3310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Netscribes / Elara via EMIS — Flipkart festive hubs; Swiggy student programme</a:t>
            </a:r>
          </a:p>
        </p:txBody>
      </p:sp>
      <p:sp>
        <p:nvSpPr>
          <p:cNvPr id="84" name="TextBox 83">
            <a:extLst xmlns:a="http://schemas.openxmlformats.org/drawingml/2006/main">
              <a:ext uri="{FF2B5EF4-FFF2-40B4-BE49-F238E27FC236}">
                <a16:creationId xmlns:a16="http://schemas.microsoft.com/office/drawing/2014/main" id="{95077365-1FF9-4A7F-97D2-830464F8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584447"/>
            <a:ext cx="34747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6FA0FF"/>
                </a:solidFill>
                <a:latin typeface="Calibri"/>
                <a:ea typeface="Calibri"/>
                <a:cs typeface="Calibri"/>
              </a:rPr>
              <a:t>T2</a:t>
            </a:r>
          </a:p>
        </p:txBody>
      </p:sp>
      <p:sp>
        <p:nvSpPr>
          <p:cNvPr id="85" name="Rectangle 84">
            <a:extLst xmlns:a="http://schemas.openxmlformats.org/drawingml/2006/main">
              <a:ext uri="{FF2B5EF4-FFF2-40B4-BE49-F238E27FC236}">
                <a16:creationId xmlns:a16="http://schemas.microsoft.com/office/drawing/2014/main" id="{86CBB259-A314-4054-B649-7149AA42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849623"/>
            <a:ext cx="402336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6" name="TextBox 85">
            <a:extLst xmlns:a="http://schemas.openxmlformats.org/drawingml/2006/main">
              <a:ext uri="{FF2B5EF4-FFF2-40B4-BE49-F238E27FC236}">
                <a16:creationId xmlns:a16="http://schemas.microsoft.com/office/drawing/2014/main" id="{7104A01C-F43E-41F3-8768-09D9CA38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899915"/>
            <a:ext cx="2377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87" name="TextBox 86">
            <a:extLst xmlns:a="http://schemas.openxmlformats.org/drawingml/2006/main">
              <a:ext uri="{FF2B5EF4-FFF2-40B4-BE49-F238E27FC236}">
                <a16:creationId xmlns:a16="http://schemas.microsoft.com/office/drawing/2014/main" id="{46234746-B451-44BB-9E33-7A164EBE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3899915"/>
            <a:ext cx="3310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Company announcements — Zepto Express Prints, Blinkit–Adani CSMIA, Swiggy YISU MoU</a:t>
            </a:r>
          </a:p>
        </p:txBody>
      </p:sp>
      <p:sp>
        <p:nvSpPr>
          <p:cNvPr id="88" name="TextBox 87">
            <a:extLst xmlns:a="http://schemas.openxmlformats.org/drawingml/2006/main">
              <a:ext uri="{FF2B5EF4-FFF2-40B4-BE49-F238E27FC236}">
                <a16:creationId xmlns:a16="http://schemas.microsoft.com/office/drawing/2014/main" id="{F0F4BC14-5A03-484E-B547-563D3A33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899915"/>
            <a:ext cx="34747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T1</a:t>
            </a:r>
          </a:p>
        </p:txBody>
      </p:sp>
      <p:sp>
        <p:nvSpPr>
          <p:cNvPr id="89" name="Rectangle 88">
            <a:extLst xmlns:a="http://schemas.openxmlformats.org/drawingml/2006/main">
              <a:ext uri="{FF2B5EF4-FFF2-40B4-BE49-F238E27FC236}">
                <a16:creationId xmlns:a16="http://schemas.microsoft.com/office/drawing/2014/main" id="{B5656E7A-F87A-4A55-92A8-EEF8AE4B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165091"/>
            <a:ext cx="402336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0" name="TextBox 89">
            <a:extLst xmlns:a="http://schemas.openxmlformats.org/drawingml/2006/main">
              <a:ext uri="{FF2B5EF4-FFF2-40B4-BE49-F238E27FC236}">
                <a16:creationId xmlns:a16="http://schemas.microsoft.com/office/drawing/2014/main" id="{E0AC6582-A490-48A2-B79E-1D6DF731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215383"/>
            <a:ext cx="2377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91" name="TextBox 90">
            <a:extLst xmlns:a="http://schemas.openxmlformats.org/drawingml/2006/main">
              <a:ext uri="{FF2B5EF4-FFF2-40B4-BE49-F238E27FC236}">
                <a16:creationId xmlns:a16="http://schemas.microsoft.com/office/drawing/2014/main" id="{19B209CB-9237-4D69-B53B-0474C3E1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4215383"/>
            <a:ext cx="3310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VOC 2026 consumer survey, n=1,002 — Gen Z consumption occasions</a:t>
            </a:r>
          </a:p>
        </p:txBody>
      </p:sp>
      <p:sp>
        <p:nvSpPr>
          <p:cNvPr id="92" name="TextBox 91">
            <a:extLst xmlns:a="http://schemas.openxmlformats.org/drawingml/2006/main">
              <a:ext uri="{FF2B5EF4-FFF2-40B4-BE49-F238E27FC236}">
                <a16:creationId xmlns:a16="http://schemas.microsoft.com/office/drawing/2014/main" id="{A51EC823-BB87-45B6-BDAD-850DBC4B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215383"/>
            <a:ext cx="34747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D</a:t>
            </a:r>
          </a:p>
        </p:txBody>
      </p:sp>
      <p:sp>
        <p:nvSpPr>
          <p:cNvPr id="93" name="Rectangle 92">
            <a:extLst xmlns:a="http://schemas.openxmlformats.org/drawingml/2006/main">
              <a:ext uri="{FF2B5EF4-FFF2-40B4-BE49-F238E27FC236}">
                <a16:creationId xmlns:a16="http://schemas.microsoft.com/office/drawing/2014/main" id="{1AE896C1-1C64-4399-98EB-FB8ECAC5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480559"/>
            <a:ext cx="402336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4" name="TextBox 93">
            <a:extLst xmlns:a="http://schemas.openxmlformats.org/drawingml/2006/main">
              <a:ext uri="{FF2B5EF4-FFF2-40B4-BE49-F238E27FC236}">
                <a16:creationId xmlns:a16="http://schemas.microsoft.com/office/drawing/2014/main" id="{C52EE5C3-F8B4-434F-8C7E-681FBA94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572000"/>
            <a:ext cx="3977639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1">
                <a:solidFill>
                  <a:srgbClr val="FF9A8B"/>
                </a:solidFill>
                <a:latin typeface="Calibri"/>
                <a:ea typeface="Calibri"/>
                <a:cs typeface="Calibri"/>
              </a:rPr>
              <a:t>[6] and [7] are never mixed: a count from one, an enrolment from the other.</a:t>
            </a:r>
          </a:p>
        </p:txBody>
      </p:sp>
      <p:sp>
        <p:nvSpPr>
          <p:cNvPr id="95" name="Rounded Rectangle 94">
            <a:extLst xmlns:a="http://schemas.openxmlformats.org/drawingml/2006/main">
              <a:ext uri="{FF2B5EF4-FFF2-40B4-BE49-F238E27FC236}">
                <a16:creationId xmlns:a16="http://schemas.microsoft.com/office/drawing/2014/main" id="{CEC8CF78-6C7E-4879-A0E0-5509CED0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498848"/>
            <a:ext cx="2788920" cy="27432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FFC22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▶  </a:t>
            </a:r>
            <a:r>
              <a:rPr sz="7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RUN IT — docs.google.com/spreadsheets/d/1CEo9XOH5…</a:t>
            </a:r>
          </a:p>
        </p:txBody>
      </p:sp>
      <p:sp>
        <p:nvSpPr>
          <p:cNvPr id="96" name="Rectangle 95">
            <a:extLst xmlns:a="http://schemas.openxmlformats.org/drawingml/2006/main">
              <a:ext uri="{FF2B5EF4-FFF2-40B4-BE49-F238E27FC236}">
                <a16:creationId xmlns:a16="http://schemas.microsoft.com/office/drawing/2014/main" id="{5E52FE52-4B61-42CE-A57A-F02E9878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7" y="4270248"/>
            <a:ext cx="73152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93" name="Picture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2280ae139e4c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3800" y="4297680"/>
            <a:ext cx="676656" cy="67665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28944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C9C921A-D09A-4327-9B3A-1827399F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0896"/>
            <a:ext cx="6400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Assumption ledger — twelve down to five: two point estimates, three solved-across ranges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5740308-FF7E-47F6-BFCF-BB6A9565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184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A-3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909D6BD-2432-4809-87D6-6113236C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731520"/>
            <a:ext cx="832104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F8172BA-70DD-431B-964C-82FE6421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41248"/>
            <a:ext cx="4160520" cy="2057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E2A63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6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RESOLVED, AND HOW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450C771-5C8A-43E7-879A-E58EA265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20140"/>
            <a:ext cx="14173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6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Rider working days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2C44A2E-0463-4CBB-B29F-542D497F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257300"/>
            <a:ext cx="141732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9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SOLVED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7260675-7916-4F88-85AF-7C471FF0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1120140"/>
            <a:ext cx="2670048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₹26,500/mo ÷ (21 orders/day × D) = ₹44 → D = 28.7 days; on Round 1's ₹42, D = 30.0. Both inside a plausible gig roster.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CBF29A1-8FB9-4884-B554-395BDE06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522476"/>
            <a:ext cx="416052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54B9765-E463-4A4B-9F26-0DAC465C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577340"/>
            <a:ext cx="14173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6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Runner roster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393EFA3-7B23-4903-A1BC-79652E1C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714500"/>
            <a:ext cx="141732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9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SOURCED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59F3D94-FBF4-40E4-BAD7-2B282467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1577340"/>
            <a:ext cx="2670048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8h day / 48h week under the Shops and Establishments Acts. Statutory, not assumed.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0A9C924-7D74-4B57-987C-28557B40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979676"/>
            <a:ext cx="416052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F9547D6-F0D4-4E28-8F96-694A0E67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34540"/>
            <a:ext cx="14173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6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Drop time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8E87372-386E-44E8-83A3-E8FA80D1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171700"/>
            <a:ext cx="141732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9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COLLAPSED + TESTED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1BADEB9-A28D-4477-94C6-34D7F887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2034540"/>
            <a:ext cx="2670048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One parameter, shelf:room ratio. ₹9.5 → ₹7.3 per order across 1.00 → 0.10. The conclusion holds across the whole plausible range.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9CF6199-FA77-4129-A0EE-D30B65A5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36876"/>
            <a:ext cx="416052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0F9BBF2-00A7-4271-8ECF-AAA1A052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91740"/>
            <a:ext cx="14173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6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In-cluster spread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F823669-5C6D-43D8-9B97-303F6E90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28900"/>
            <a:ext cx="141732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9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NEUTRALISED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809A0AD-4183-4983-AB26-751FDBD6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2491740"/>
            <a:ext cx="2670048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0 → 0.5 km/drop moves cost per order by under ₹1. Immaterial.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756080A-BA96-4F96-B2CB-8C0E07B9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894076"/>
            <a:ext cx="416052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66B8A04-2AA8-48A0-8B6A-926F99F6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48940"/>
            <a:ext cx="14173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6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Four reactivation inputs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75461AC-CFED-4B6D-8865-3519BBD2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086100"/>
            <a:ext cx="141732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9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NEUTRALISED IN ONE MOVE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FB201F0-02BA-435C-BF4D-10FD7842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2948940"/>
            <a:ext cx="2670048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Wind-down saves ₹13.05 L against a ₹2.62 L reactivation estimate. Reactivation would have to be 5.0× our estimate before winding down stops being worth doing.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DA2B4CFD-7556-4041-9D39-09CB62D4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351276"/>
            <a:ext cx="416052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E0CF7F08-7188-4A76-995E-0D95F8FC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841248"/>
            <a:ext cx="3977639" cy="2057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E2A63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6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WHAT REMAINS ASSUMED, STATED PLAINLY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F645BA1-2160-470A-8CCF-91C56D99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120140"/>
            <a:ext cx="2307031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ASSUMPTION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D5FE7CBA-C83D-433C-9CE5-9CBFA735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1911" y="1120140"/>
            <a:ext cx="954633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VALUE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1D163AF-AB4B-4DF8-B0CB-F80144F1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44" y="1120140"/>
            <a:ext cx="715975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FORM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FD39971-B010-49B0-BF21-FD0FA3B4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263700"/>
            <a:ext cx="3977639" cy="189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B81C100D-D5EA-4477-8119-96D9B089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280160"/>
            <a:ext cx="2307031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LT commercial electricity tariff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5AA13E86-F0E7-4DFB-A32B-A22D763F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1911" y="1280160"/>
            <a:ext cx="954633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₹9.50/kWh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E676AE84-B323-4ACD-86EB-9537E594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44" y="1280160"/>
            <a:ext cx="7159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point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54B21621-D470-4CB2-A85A-AC2A40B8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476756"/>
            <a:ext cx="2307031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Doorstep / in-cluster dwell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D4ECC00D-80F1-4B4F-A570-D3275FBC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1911" y="1476756"/>
            <a:ext cx="954633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2.0 min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1775DC3F-3A91-4271-BD4E-1AFE2617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44" y="1476756"/>
            <a:ext cx="7159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point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53ABCDB4-7564-4470-AD75-040E5FAD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656892"/>
            <a:ext cx="3977639" cy="189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4BC7EC7C-14B9-4A45-A444-512DF53F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673352"/>
            <a:ext cx="2307031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Residual campus demand share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2B6B2EAC-CC28-4BE4-B4FA-95C47FD8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1911" y="1673352"/>
            <a:ext cx="954633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8–15%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2D2D378B-6C65-4B3B-B158-A5FE7056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44" y="1673352"/>
            <a:ext cx="7159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0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range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D5DC5F56-C9AF-4616-BBCE-657E7553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69948"/>
            <a:ext cx="2307031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Fixed-core share of store area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7D7001F7-9B41-4ACD-9482-E1BD0C69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1911" y="1869948"/>
            <a:ext cx="954633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30–60%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762D9CE5-39BB-4ADA-8E46-74C48718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44" y="1869948"/>
            <a:ext cx="7159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0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range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6A55E2A7-BC96-4CB6-BF94-A2AF6F7C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050084"/>
            <a:ext cx="3977639" cy="189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E571CE69-8539-4A11-B565-678725F6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066544"/>
            <a:ext cx="2307031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Demand profile, peak × hours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6FA8C2AA-1D86-43AC-AE55-851A8198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1911" y="2066544"/>
            <a:ext cx="954633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4× · 4/8/6h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AB1D5EFB-A559-4A03-BFE0-649146EE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44" y="2066544"/>
            <a:ext cx="7159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0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range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75B74538-7F6C-49F4-9E11-46EC182C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157984"/>
            <a:ext cx="3977639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</a:pPr>
            <a:r>
              <a:rPr sz="6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Three of the five are RANGES the model is solved across, not point estimates. The fifth is a parameter our own Round 1 metric architecture was built to measure once live data exists. Dwell is one of two unknowns in the trip identity; the other — batching — is solved from it.</a:t>
            </a:r>
          </a:p>
        </p:txBody>
      </p:sp>
      <p:sp>
        <p:nvSpPr>
          <p:cNvPr id="49" name="Rounded Rectangle 48">
            <a:extLst xmlns:a="http://schemas.openxmlformats.org/drawingml/2006/main">
              <a:ext uri="{FF2B5EF4-FFF2-40B4-BE49-F238E27FC236}">
                <a16:creationId xmlns:a16="http://schemas.microsoft.com/office/drawing/2014/main" id="{F86C6012-1D0B-4D1C-82C6-D93B521D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651760"/>
            <a:ext cx="3977639" cy="9601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A2052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944C9586-D45A-4778-B346-00F030AC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06624"/>
            <a:ext cx="3794759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THE E-CART, PRICED — the contradiction closed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capex      ₹/order   one campus gate, 14,000 orders/mo, 60-mo life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150,000      0.18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250,000      0.30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350,000      0.42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capex at which it would add ₹1/order:  ₹840,000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058EE19C-4218-46DC-99D1-29164348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675887"/>
            <a:ext cx="39776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40" b="0" i="1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An e-cart would have to cost ₹8.4 lakh before it registered against a ₹17.6/order total. The no-vehicle-capex argument survives, now quantified rather than asserted.</a:t>
            </a:r>
          </a:p>
        </p:txBody>
      </p:sp>
      <p:sp>
        <p:nvSpPr>
          <p:cNvPr id="52" name="Rounded Rectangle 51">
            <a:extLst xmlns:a="http://schemas.openxmlformats.org/drawingml/2006/main">
              <a:ext uri="{FF2B5EF4-FFF2-40B4-BE49-F238E27FC236}">
                <a16:creationId xmlns:a16="http://schemas.microsoft.com/office/drawing/2014/main" id="{5CCD1E34-68E2-42E8-8806-F8FEABF9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33087"/>
            <a:ext cx="8321040" cy="384048"/>
          </a:xfrm>
          <a:prstGeom xmlns:a="http://schemas.openxmlformats.org/drawingml/2006/main" prst="roundRect">
            <a:avLst>
              <a:gd name="adj" fmla="val 9000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FFC22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DF9711E7-7FEA-4A88-950F-88E4AB59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0"/>
            <a:ext cx="8046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70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FIVE INPUTS REMAIN, AND NONE CAN CHANGE THE DECISION. Two are point estimates, three are ranges the model is solved across — different categories, so we name them separately. That is a stronger position than sourcing them badly, and it is the move Round 1 used on campus AOV.</a:t>
            </a:r>
          </a:p>
        </p:txBody>
      </p:sp>
    </p:spTree>
    <p:extLst>
      <p:ext uri="{BB962C8B-B14F-4D97-AF65-F5344CB8AC3E}">
        <p14:creationId xmlns:p14="http://schemas.microsoft.com/office/powerpoint/2010/main" val="143880804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98F5AFF-C1FC-44D4-A838-66263BC4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0896"/>
            <a:ext cx="6400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dead-zone solver — five strategies, four constraints, one basis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CE014A4-01DF-4B2C-A0AA-BE2A99AA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184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A-4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584CC54-B1D2-4A3C-BF89-515D1267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731520"/>
            <a:ext cx="832104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2b61c87ee44f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7610" y="896112"/>
            <a:ext cx="3715019" cy="1874519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24406B"/>
            </a:solidFill>
          </a:ln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F7BF369-364D-439D-9BE2-39E85365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825496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40" b="0" i="1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solver.py output. BEST = REPURPOSE is the solver's answer under the constraints below, not a preference applied afterwards.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2C89CCE-A250-4018-8335-BFBEBBF5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154679"/>
            <a:ext cx="4114800" cy="2057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E2A63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6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WHY REPURPOSE WINS, IN ONE LINE EACH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5356CC3-EE91-4994-A37D-671184BC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433572"/>
            <a:ext cx="131673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STRATEGY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726FD27-B94C-46E3-B544-715F0B0D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3433572"/>
            <a:ext cx="98755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DEAD ZONE, 3.5 mo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96FD90E-3B95-48BF-9D43-07682F4E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433572"/>
            <a:ext cx="181051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WHAT IT DOES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88B80E1-303A-4053-BD5C-0B594985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577132"/>
            <a:ext cx="4114800" cy="170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BE62509-D9FC-45AB-987E-73DC0F41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593591"/>
            <a:ext cx="131673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DO_NOTHING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26FE590-92AD-4F7C-B6A4-04DB981D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3593591"/>
            <a:ext cx="98755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9A8B"/>
                </a:solidFill>
                <a:latin typeface="Calibri"/>
                <a:ea typeface="Calibri"/>
                <a:cs typeface="Calibri"/>
              </a:rPr>
              <a:t>₹31.6 L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F8B1E4E-FDF4-4D1C-9543-177361D1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593591"/>
            <a:ext cx="181051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70.8% residual, no mitigation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6D5B726-D335-4182-BD75-E8004707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771900"/>
            <a:ext cx="131673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LABOUR_FLEX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63B50DE-4B5E-4617-8712-678576E6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3771900"/>
            <a:ext cx="98755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₹21.6 L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1A9CE16-BCEF-4D7C-B3A4-4D40CDE6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771900"/>
            <a:ext cx="181051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flexes 71.2% of the base, stops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2077D10-F81C-4813-8EC2-8DB0909D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933748"/>
            <a:ext cx="4114800" cy="170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6F7787D-8EA8-4279-8919-E876FAC9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950208"/>
            <a:ext cx="131673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COLD_RIGHTSIZE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B6EA577-21F3-4CCF-B3D4-8DDF04AC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3950208"/>
            <a:ext cx="98755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₹21.2 L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CA4093F-71AB-4556-A69A-6A2F2428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950208"/>
            <a:ext cx="181051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chiller only; rent persists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37EF923-6082-4BE5-858B-D0FCFFEB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128516"/>
            <a:ext cx="131673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SMALL_FORMAT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4F78C42-2673-4580-A8CC-110EBFD4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4128516"/>
            <a:ext cx="98755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₹18.5 L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AB00CA9-C88D-4D2D-9178-97A9BD32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128516"/>
            <a:ext cx="181051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2,000 sqft; best cost answer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DF9B0B4D-3303-4DB3-B74B-4607DECB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290364"/>
            <a:ext cx="4114800" cy="170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B96F28E7-47FA-4196-8A99-E647B13C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306824"/>
            <a:ext cx="131673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REPURPOSE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D4EC8D00-860B-46BA-9E17-F8799610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4306824"/>
            <a:ext cx="98755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₹0.0 L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DE216576-C33B-4EC2-9134-18C1D06F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306824"/>
            <a:ext cx="181051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not a cost configuration at all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A496E82-FE2F-4A5A-9979-0CB0FAA5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457700"/>
            <a:ext cx="4114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</a:pPr>
            <a:r>
              <a:rPr sz="6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REPURPOSE runs the SMALL_FORMAT base and fills 48.6% of it from adjacent catchment. It is the only row that is a demand answer rather than a cost answer, which is why cost levers alone cannot reach it.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BBAFB00B-A2C3-4133-B9C3-9D21223F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96112"/>
            <a:ext cx="3977639" cy="13258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A2052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1FCFE844-E563-426C-9B8F-C127BB76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50976"/>
            <a:ext cx="3794759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THE PROGRAM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19B4943B-C7C2-4C6D-A2EB-A3FA8D24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06424"/>
            <a:ext cx="3794759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minimise dead-zone cash burn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subject to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reactivation lead time  ≥ 28 days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average SLA at peak     ≤ 27.1 min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revocation survival     ≥ 513 orders/day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no calendar-indexed lease exists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wind-down needs          ≥ 7 weeks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one basis throughout: GROSS order value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190D1E46-2A21-4BB3-B22E-81FA5CF0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359152"/>
            <a:ext cx="3977639" cy="2057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E2A63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6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THE PLAYBOOK — WHAT FIRES, WHEN, AND WHO OWNS IT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3467EE76-4A9E-491E-9674-90342751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38044"/>
            <a:ext cx="63642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TRIGGER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5694B44E-D49D-40B3-AA3F-25138762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902" y="2638044"/>
            <a:ext cx="246613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ACTION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08BA5BD1-C527-4604-A5AC-281F5A31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039" y="2638044"/>
            <a:ext cx="8750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OWNER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78AD42A2-D262-45B3-B0FD-BB058611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781604"/>
            <a:ext cx="3977639" cy="1755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EE26DB02-2CD3-4B95-ADB8-FA9D847B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798064"/>
            <a:ext cx="63642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T−21d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E630723C-A6F7-4033-88D5-34BE7EB5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902" y="2798064"/>
            <a:ext cx="246613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Wind-down decision fires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0DFEBEA2-A1E1-4D53-BEDD-FA170BBA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039" y="2798064"/>
            <a:ext cx="8750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Cluster ops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3C40EEDA-DC80-4AAE-BCCF-F138CF22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80944"/>
            <a:ext cx="63642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T−14d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D170BC8F-7F84-4CCC-9404-819F443F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902" y="2980944"/>
            <a:ext cx="246613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Rehire pool contacted, 4-week lead starts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8362CE4A-1C0A-4232-97BA-70E1518B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039" y="2980944"/>
            <a:ext cx="8750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Store mgr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A690CC20-DCFF-4D4F-970D-F61D461F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47364"/>
            <a:ext cx="3977639" cy="1755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57EAD23F-D56F-40F9-A681-D927D6D8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63824"/>
            <a:ext cx="63642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T−10d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CCCA6F42-AB8F-4A85-964E-D0490727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902" y="3163824"/>
            <a:ext cx="246613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Catchment repurpose: radius and SKU swap live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0974B991-5F95-4833-AC60-555D9D20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039" y="3163824"/>
            <a:ext cx="8750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Category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EF989355-83DD-4B3E-AD2D-8EB67BC1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346704"/>
            <a:ext cx="63642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T−7d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0094B6E8-782E-4BA1-88CF-0390D380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902" y="3346704"/>
            <a:ext cx="246613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Chilled zone rightsized; supplier dormancy invoked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75873207-8000-4894-BC03-C62F7BBE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039" y="3346704"/>
            <a:ext cx="8750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Contracts</a:t>
            </a:r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630884ED-21B1-43A1-A8AE-4CF8EACA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513124"/>
            <a:ext cx="3977639" cy="1755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54E8F89F-ED74-4501-A314-24B4D890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529584"/>
            <a:ext cx="63642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T−5d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11EA3757-4301-4BA0-B767-CA4EC516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902" y="3529584"/>
            <a:ext cx="246613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Runner roster suspended; gig-only gate leg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EFD834A1-2A05-408B-A8D5-05B9114F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039" y="3529584"/>
            <a:ext cx="8750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Fleet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FF97F41B-245F-4612-8545-1EEA782F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785615"/>
            <a:ext cx="3977639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40" b="0" i="1">
                <a:solidFill>
                  <a:srgbClr val="FF9A8B"/>
                </a:solidFill>
                <a:latin typeface="Calibri"/>
                <a:ea typeface="Calibri"/>
                <a:cs typeface="Calibri"/>
              </a:rPr>
              <a:t>Every trigger is a calendar date off the published academic calendar, never an observed-volume threshold. Semester demand steps; it does not ramp, so a volume trigger fires too late by construction.</a:t>
            </a:r>
          </a:p>
        </p:txBody>
      </p:sp>
      <p:sp>
        <p:nvSpPr>
          <p:cNvPr id="56" name="Rounded Rectangle 55">
            <a:extLst xmlns:a="http://schemas.openxmlformats.org/drawingml/2006/main">
              <a:ext uri="{FF2B5EF4-FFF2-40B4-BE49-F238E27FC236}">
                <a16:creationId xmlns:a16="http://schemas.microsoft.com/office/drawing/2014/main" id="{494BFA6A-604D-4433-AE59-0DF74DEA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389120"/>
            <a:ext cx="2788920" cy="27432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FFC22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▶  </a:t>
            </a:r>
            <a:r>
              <a:rPr sz="7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RUN IT — colab.research.google.com/github/mba2501…</a:t>
            </a:r>
          </a:p>
        </p:txBody>
      </p:sp>
      <p:sp>
        <p:nvSpPr>
          <p:cNvPr id="57" name="Rectangle 56">
            <a:extLst xmlns:a="http://schemas.openxmlformats.org/drawingml/2006/main">
              <a:ext uri="{FF2B5EF4-FFF2-40B4-BE49-F238E27FC236}">
                <a16:creationId xmlns:a16="http://schemas.microsoft.com/office/drawing/2014/main" id="{A0AC4616-1ACF-4856-9800-DFCD0CAD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4160520"/>
            <a:ext cx="73152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6" name="Picture 5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315b34bde40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7560" y="4187952"/>
            <a:ext cx="676656" cy="67665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84428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996623A-AB65-4803-80DB-32B3A2E0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0896"/>
            <a:ext cx="6400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Derivations — the cost base, the trip, and the working capital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AB2335B-5F3C-43C9-BB32-946F05C3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184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A-5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4EAD166-084A-4380-AFCA-0B7EADBE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731520"/>
            <a:ext cx="832104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2F49BA4-CF45-47E6-A4E0-1B82A1C3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41248"/>
            <a:ext cx="4160520" cy="11887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A2052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065081C-D14A-44BB-A71E-B21B761E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96112"/>
            <a:ext cx="3977639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THE COST BASE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BFDCDF3-9505-48DA-AAB8-F0F89789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3977639" cy="923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FIXED BASE  ₹9.02 L/month  [1, Ex.12/13]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rent 24.1%   staff 41.6%   util+cold 5.5%   other 28.8%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tier identified from the Ex.5 rent band, not assumed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band ₹8.71–9.18 L, width 5.2% — conclusion holds across it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'other fixed' is a residual off JM's blended ₹100/sqft line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and is the one allocated line in the stack. It persists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through the break, which is why it is stated here.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1CDEFD1-9C5D-4D2B-8259-2E6EFFF0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121408"/>
            <a:ext cx="4160520" cy="12984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A2052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0E84D30-2487-4DDA-B223-DBFB7311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76272"/>
            <a:ext cx="3977639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THE TRIP AND THE BATCH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542EB53-85AE-412D-8226-C37FBA62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31720"/>
            <a:ext cx="3977639" cy="10332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t_trip = 2·(d/v) + b·τ                trip minutes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C/order = (w/60)·t_trip / b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city leg  w = ₹168 per ACTIVE hour   (gig)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gate leg  w = ₹72 per ROSTERED hour  (employed)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b(λ) = min(K, ⌈λ·W/60⌉)   W = 6 min, K = 12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Little's Law  L = λ·W  on the gate queue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volume weighting: 62.7% of orders fall in the peak band,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so ₹17.6 — not the ₹28.9 an average hour would give.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AB50B00-A012-4961-8726-DB5FA813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841248"/>
            <a:ext cx="3977639" cy="2057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E2A63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6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WORKING CAPITAL — THREE CONSTRUCTS, ONE ADOPTED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31E886F-14E9-49E7-97C9-C5218F6C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120140"/>
            <a:ext cx="206837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CONSTRUCT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74147FC-D1AE-4C71-A37E-96CBBAF7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252" y="1120140"/>
            <a:ext cx="954633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VALUE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358153E-34D6-49BD-BA46-B963E93A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886" y="1120140"/>
            <a:ext cx="954633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STATUS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445D781-7ABD-496D-A92F-FEFE5FFE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263700"/>
            <a:ext cx="3977639" cy="189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5D43B41-A16C-487D-B94C-76098D06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280160"/>
            <a:ext cx="206837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NWC days × NOV  [8]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440A268-0C7A-400C-998D-C335C467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252" y="1280160"/>
            <a:ext cx="954633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₹88.9 L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1C3F9F5-82F1-4178-85CB-F033635D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886" y="1280160"/>
            <a:ext cx="954633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ADOPTED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DAE7569-637A-4F2E-8530-3484B763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476756"/>
            <a:ext cx="206837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12-day steady state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9F518BD-D046-4EA1-8FFD-DB0B9034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252" y="1476756"/>
            <a:ext cx="954633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₹76.2 L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D579952-0744-416F-B1F8-8C3B9959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886" y="1476756"/>
            <a:ext cx="954633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sensitivity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B9178A0-4FB4-4594-A03E-62FBE51B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656892"/>
            <a:ext cx="3977639" cy="189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9852416-DC1D-4A3A-BECB-C17ED961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673352"/>
            <a:ext cx="206837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COGS × 18 days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38FD7E0-8ACD-4274-93A4-5DA747D3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252" y="1673352"/>
            <a:ext cx="954633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0" i="0">
                <a:solidFill>
                  <a:srgbClr val="FF9A8B"/>
                </a:solidFill>
                <a:latin typeface="Calibri"/>
                <a:ea typeface="Calibri"/>
                <a:cs typeface="Calibri"/>
              </a:rPr>
              <a:t>₹116.4 L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C8F8F1B-581F-4D03-928B-23DE5AB9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886" y="1673352"/>
            <a:ext cx="954633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9A8B"/>
                </a:solidFill>
                <a:latin typeface="Calibri"/>
                <a:ea typeface="Calibri"/>
                <a:cs typeface="Calibri"/>
              </a:rPr>
              <a:t>REJECTED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8F5DC16B-9BEB-4D4E-8006-8A00E466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33372"/>
            <a:ext cx="397763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The COGS construct is rejected because it double-counts supplier funding: Zepto's audited accounts show 13 days of inventory against ~60 days of payables, a −47-day cash conversion cycle [9]. Inventory is supplier-funded, so charging it again to working capital overstates capital employed by 31%.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8BAECDA9-888D-486B-A46E-57206369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121408"/>
            <a:ext cx="3977639" cy="2057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E2A63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6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THE FOUR PRICED SHOCKS, AS DERIVED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519129CE-60B2-415D-81BB-3C4F73E1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400300"/>
            <a:ext cx="159105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SHOCK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C2E351F8-8D59-4156-B25D-6FFBFB07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400300"/>
            <a:ext cx="954633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BREAKEVEN AOV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63DC03A7-82EF-4305-8C06-7BDB43F4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69" y="2400300"/>
            <a:ext cx="143195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BASIS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E57001A-4208-499B-A83A-F249C08C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543860"/>
            <a:ext cx="3977639" cy="170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88859C62-4BAE-4801-AAD5-E9DE4707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560320"/>
            <a:ext cx="159105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9A8B"/>
                </a:solidFill>
                <a:latin typeface="Calibri"/>
                <a:ea typeface="Calibri"/>
                <a:cs typeface="Calibri"/>
              </a:rPr>
              <a:t>Volume −30%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067D134B-EF61-42EC-8445-96F3D168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560320"/>
            <a:ext cx="954633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9A8B"/>
                </a:solidFill>
                <a:latin typeface="Calibri"/>
                <a:ea typeface="Calibri"/>
                <a:cs typeface="Calibri"/>
              </a:rPr>
              <a:t>₹640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6E66CA6F-8CD3-40B3-A3C6-7610EF3F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69" y="2560320"/>
            <a:ext cx="143195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thinner base absorption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C9D067FB-4DD0-47DA-884C-BE416164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38627"/>
            <a:ext cx="159105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Shrinkage, upper bound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5337CBA2-3BB2-47EA-9A34-0FA3D063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738627"/>
            <a:ext cx="954633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₹615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2109F846-645B-42FD-908F-61F919CA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69" y="2738627"/>
            <a:ext cx="143195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1.8% of NOV [8]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A27ACED5-9C42-44BC-A19C-BDF6EC1E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900476"/>
            <a:ext cx="3977639" cy="170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146DF509-56BB-48A5-8A1B-F518E405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916935"/>
            <a:ext cx="159105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Gig social-security levy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7803DCC7-E47A-49F3-9736-0807715C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916935"/>
            <a:ext cx="954633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₹588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0D95344C-5D12-4363-8779-719B0F9F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69" y="2916935"/>
            <a:ext cx="143195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201st report [19]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63D2339D-9830-4C06-8301-CE1E1C05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095243"/>
            <a:ext cx="159105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Calendar fragmentation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4E37A61E-973B-44EE-9D7F-DF1B2E79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3095243"/>
            <a:ext cx="954633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₹582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65D3FA6D-A653-4A55-BB1D-ECF22892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69" y="3095243"/>
            <a:ext cx="143195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shape, not length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09178393-8C27-46D5-9EBA-60E42F15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346704"/>
            <a:ext cx="397763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40" b="0" i="1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Shrinkage is an UPPER BOUND. The cost stack was calibrated on a reported contribution figure already net of shrinkage, so charging it again double-counts. It is carried at its maximum for completeness.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4BDFC7C1-9B2A-47AA-90FE-099A4620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493008"/>
            <a:ext cx="4160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</a:pPr>
            <a:r>
              <a:rPr sz="6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Cost per order falls linearly in batch size and rises linearly in the wage of the labour class serving the leg. Only the in-gate leg can change that class — which is why the gate, and not the vehicle, is the decision.</a:t>
            </a: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D92E3863-A4DC-4771-9EF8-54EC0996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895344"/>
            <a:ext cx="4160520" cy="402336"/>
          </a:xfrm>
          <a:prstGeom xmlns:a="http://schemas.openxmlformats.org/drawingml/2006/main" prst="roundRect">
            <a:avLst>
              <a:gd name="adj" fmla="val 9000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FFC22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97C4E09F-7A4E-4D5E-817F-97A8C03B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959352"/>
            <a:ext cx="3931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20" b="0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TWO UNKNOWNS IN THE TRIP IDENTITY, AND WE SOLVED ONE. Batching is solved from the queue; dwell is not, so it is on A-3 as an assumption and A-10 as a gap.</a:t>
            </a:r>
          </a:p>
        </p:txBody>
      </p:sp>
      <p:sp>
        <p:nvSpPr>
          <p:cNvPr id="49" name="Rounded Rectangle 48">
            <a:extLst xmlns:a="http://schemas.openxmlformats.org/drawingml/2006/main">
              <a:ext uri="{FF2B5EF4-FFF2-40B4-BE49-F238E27FC236}">
                <a16:creationId xmlns:a16="http://schemas.microsoft.com/office/drawing/2014/main" id="{E4C69BEA-6885-496F-9F40-B0EFE3C9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425696"/>
            <a:ext cx="2788920" cy="27432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FFC22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▶  </a:t>
            </a:r>
            <a:r>
              <a:rPr sz="7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RUN IT — colab.research.google.com/github/mba2501…</a:t>
            </a:r>
          </a:p>
        </p:txBody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D895F2A2-BEE6-44A6-B226-7434A483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4197096"/>
            <a:ext cx="73152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01" name="Picture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92fe098a4a45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7560" y="4224528"/>
            <a:ext cx="676656" cy="67665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72636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DDCF833-D589-4E36-930F-E6517B0D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0896"/>
            <a:ext cx="6400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Fleet mix, optimised — solved per gate, with pooling priced as an upside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F10AEAF-FFEA-4691-A424-1D65279A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184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A-5b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6B32D98-EC26-400C-9CE4-D717BA1F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731520"/>
            <a:ext cx="832104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13B2A45-F536-45ED-91AC-B031C1FF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22960"/>
            <a:ext cx="8321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1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The mix is a decision variable, not a description. α is the share of in-gate orders on rostered runners; the rest rides gig on the same leg. A node serves 3 campus gates, so the roster is solved at ONE gate (467/day) and aggregated — pooling across gates is priced below as an upside, not assumed.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A6FFFDD-95FC-470A-8DE0-647335B6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42415"/>
            <a:ext cx="3977639" cy="12984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A2052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95AD2AC-8816-462C-8472-7CEA330F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3794759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THE PROGRAM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96632DD-5BCF-48F1-A339-C52043E8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52728"/>
            <a:ext cx="3794759" cy="10332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minimise  C(α,V) = [ R(α)·577 + (1−α)·V·₹6.66 ] / V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R(α) = ⌈ αV / 202 ⌉        runners are integers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A runner costs ₹577 whether volume arrives or not, so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the LAST runner is only worth rostering if the volume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left for it clears the breakeven. Hence a closed form: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R* = ⌊ V/202 ⌋ ; add one iff residual ≥ 87, else gig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8E3F15D-2A35-4340-9768-6B2CBAEC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395728"/>
            <a:ext cx="397763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20" b="0" i="1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Checked against a 2,001-point search at every volume from 50 to 1,600 a day: the closed form is never beaten. Asserted in audit.py.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A4A2049-ED55-4492-84E5-6690CA23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743200"/>
            <a:ext cx="3977639" cy="2057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E2A63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6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THE ROSTER, BY VOLUME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7033E95-D5F9-45E0-BB1C-12BA641F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003804"/>
            <a:ext cx="103418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VOLUME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3AB1B37-623B-473B-B4E9-12F342C9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666" y="3003804"/>
            <a:ext cx="63642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RUNNERS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581AC35-57F3-4703-9839-09F5D19A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088" y="3003804"/>
            <a:ext cx="63642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α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6CCB173-7CA4-416E-A421-6C0C480C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511" y="3003804"/>
            <a:ext cx="83530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₹/ORDER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E789560-8E64-4BCC-9D28-83ACB61B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815" y="3003804"/>
            <a:ext cx="83530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VS ALL-GIG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F73F98F-3614-4161-82CB-7C312806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47364"/>
            <a:ext cx="3977639" cy="1618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6AFE8EC-56D3-4FE2-B7C0-FF9B2EB6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63824"/>
            <a:ext cx="103418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87/day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DE37BA8-4847-46E0-883C-F221C829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666" y="3163824"/>
            <a:ext cx="63642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74B9C8E-A124-4CF0-966E-C054D5BE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088" y="3163824"/>
            <a:ext cx="63642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100%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715334D-9535-4B79-B59A-C605918F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511" y="3163824"/>
            <a:ext cx="83530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₹6.63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68594A2-92DA-4C72-9772-A49A0134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815" y="3163824"/>
            <a:ext cx="83530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0%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1E708D9-8226-45FA-9340-E6442C57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332988"/>
            <a:ext cx="103418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227/day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44CEF91-F1A5-406F-9ECD-5B15AA21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666" y="3332988"/>
            <a:ext cx="63642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8AB98D5-79B4-4B68-9AD3-A1865157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088" y="3332988"/>
            <a:ext cx="63642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89%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D0E166C-D301-4DEA-B94C-ECD60784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511" y="3332988"/>
            <a:ext cx="83530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₹3.27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B2E13F44-1454-4906-BF75-0FA59017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815" y="3332988"/>
            <a:ext cx="83530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51%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2E359A0B-BC43-4713-AC8C-989DDE57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485692"/>
            <a:ext cx="3977639" cy="1618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6E008A8-E7DE-4020-99C2-40D37499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502152"/>
            <a:ext cx="103418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467/day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B4BE89C8-EDB4-4604-9259-D64A24CD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666" y="3502152"/>
            <a:ext cx="63642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8508336B-6419-44B0-99D2-19D12F99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088" y="3502152"/>
            <a:ext cx="63642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87%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9A76C01B-9594-4192-8D6A-C577FC87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511" y="3502152"/>
            <a:ext cx="83530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₹3.36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EF3D81A7-BBAA-49BE-8095-296D23CF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815" y="3502152"/>
            <a:ext cx="83530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49%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BF3E1239-5D0E-4B9B-B0F6-B10869DD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671315"/>
            <a:ext cx="103418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1,400/day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FA6F75B-F8AF-4B2A-A5D5-86C6C4CE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666" y="3671315"/>
            <a:ext cx="63642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40E9DCA9-A0CF-41AE-A224-127555D7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088" y="3671315"/>
            <a:ext cx="63642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100%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4E2208A5-C333-46A1-A822-18AD73EE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511" y="3671315"/>
            <a:ext cx="83530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₹2.88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B58DDF2E-D25F-43BC-A2D2-878B3DF0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815" y="3671315"/>
            <a:ext cx="83530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57%</a:t>
            </a: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12BFF0C2-C139-44AA-BD37-3D1D43CD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042415"/>
            <a:ext cx="4114800" cy="230428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E2A63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graphicFrame>
        <p:nvGraphicFramePr>
          <p:cNvPr id="92" name="Chart 38"/>
          <p:cNvGraphicFramePr/>
          <p:nvPr/>
        </p:nvGraphicFramePr>
        <p:xfrm>
          <a:off xmlns:a="http://schemas.openxmlformats.org/drawingml/2006/main" x="4681728" y="1078992"/>
          <a:ext xmlns:a="http://schemas.openxmlformats.org/drawingml/2006/main" cx="3986784" cy="2231136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d2e35b5d6c48b6"/>
          </a:graphicData>
        </a:graphic>
      </p:graphicFrame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07E7CE98-BD58-4C0E-B008-C35644AA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401568"/>
            <a:ext cx="41148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COST PER ORDER ON THE IN-GATE LEG, AGAINST THE RUNNER SHARE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7B836A40-874A-4FC6-8FC9-F3572F8A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566160"/>
            <a:ext cx="411480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 the plan's gate volume the optimum is α = 87%, not 100%.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98BE7505-F544-48FD-AD75-CFADFE2E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698748"/>
            <a:ext cx="411480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2 runners at each of 3 gates, ₹3.36 an order, 49% under all-gig. The residual 13% rides gig rather than stranding a third runner.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3BF1C6BA-C5F8-4B43-99AA-9F0B84B0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858768"/>
            <a:ext cx="411480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 the store floor, the optimum is 89%, not 100%.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C6ED0ADC-15E2-466A-AAEE-76F348E3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991355"/>
            <a:ext cx="411480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The fourth runner would sit idle, so the residual rides gig. Roster to the whole runner, top up.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FE3CEE2F-AA11-488F-8C4C-C3287855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151376"/>
            <a:ext cx="411480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 the runner floor the curve is U-shaped.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48053555-F0CD-4212-BAF4-206F96F7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283964"/>
            <a:ext cx="411480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Partial rostering is the WORST option there: either one runner or none.</a:t>
            </a: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B80AEE91-91D1-4EF4-B08A-1F95077D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443984"/>
            <a:ext cx="4114800" cy="457200"/>
          </a:xfrm>
          <a:prstGeom xmlns:a="http://schemas.openxmlformats.org/drawingml/2006/main" prst="roundRect">
            <a:avLst>
              <a:gd name="adj" fmla="val 9000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7BD3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E66A37A6-958B-46F8-B133-169CA9DE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4489704"/>
            <a:ext cx="387705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</a:pPr>
            <a:r>
              <a:rPr sz="59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POOLING IS AN UPSIDE, NOT THE PLAN. One dispatch pool across all 3 gates solves to 7 runners at α = 100% and ₹2.88 — ₹0.48 an order better, because integer runners fill more fully in one queue. It assumes cross-gate repositioning at no time cost, which we have not validated, so the base case stays per-gate and the pilot's movement test is what would promote it.</a:t>
            </a:r>
          </a:p>
        </p:txBody>
      </p:sp>
      <p:sp>
        <p:nvSpPr>
          <p:cNvPr id="49" name="Rounded Rectangle 48">
            <a:extLst xmlns:a="http://schemas.openxmlformats.org/drawingml/2006/main">
              <a:ext uri="{FF2B5EF4-FFF2-40B4-BE49-F238E27FC236}">
                <a16:creationId xmlns:a16="http://schemas.microsoft.com/office/drawing/2014/main" id="{787A37C9-71FD-40BD-92A7-B2D75898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895344"/>
            <a:ext cx="3977639" cy="384048"/>
          </a:xfrm>
          <a:prstGeom xmlns:a="http://schemas.openxmlformats.org/drawingml/2006/main" prst="roundRect">
            <a:avLst>
              <a:gd name="adj" fmla="val 9000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FFC22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0ABA2C2A-BA06-46FD-9B7F-E94DABB0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941063"/>
            <a:ext cx="37490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</a:pPr>
            <a:r>
              <a:rPr sz="6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BLOCK SHELF, PRICED. A door drop costs ₹4.66 an order on the same circuit against ₹2.85 to a block-level shelf. The licence clause on slide 6 is worth ₹1.80 an order.</a:t>
            </a:r>
          </a:p>
        </p:txBody>
      </p:sp>
      <p:sp>
        <p:nvSpPr>
          <p:cNvPr id="51" name="Rounded Rectangle 50">
            <a:extLst xmlns:a="http://schemas.openxmlformats.org/drawingml/2006/main">
              <a:ext uri="{FF2B5EF4-FFF2-40B4-BE49-F238E27FC236}">
                <a16:creationId xmlns:a16="http://schemas.microsoft.com/office/drawing/2014/main" id="{01A87973-483D-4FBF-89A8-1D619F72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526280"/>
            <a:ext cx="2788920" cy="27432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FFC22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▶  </a:t>
            </a:r>
            <a:r>
              <a:rPr sz="7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RUN IT — colab.research.google.com/github/mba2501…</a:t>
            </a: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AE06D0B0-2F48-4397-982D-2E0879DE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4297680"/>
            <a:ext cx="73152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06" name="Picture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95cd107f94f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7560" y="4325112"/>
            <a:ext cx="676656" cy="67665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15158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D366A2C-1073-4514-9914-EADC5F83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0896"/>
            <a:ext cx="6400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Basis proof, and the basket — why the identity closing exactly is the evidence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09D3EBD-886D-4613-B44C-F0BADF9A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184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A-6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BDD8A8E-B9A4-4370-8A74-1D36702D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731520"/>
            <a:ext cx="832104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CB228B5-FD87-4D57-BE6C-67081FD6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41248"/>
            <a:ext cx="4160520" cy="12344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A2052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DB0DF1D-E7EF-481F-8F3C-B7CB3B63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96112"/>
            <a:ext cx="3977639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THE BASIS PROOF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D0953C2-FCAD-4F0E-867B-6E8F2AD8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3977639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THE CONTRIBUTION IDENTITY, ON A GROSS BASIS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take rate            19.41%  of GOV        [8]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AOV                  ₹694                  [8]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revenue per order    ₹134.7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itemised cost stack  ₹93.0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unallocated residual ₹12.3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model contribution   ₹29.4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REPORTED contribution ₹29.4               [8]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difference            ₹0.0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5DF40B5-7435-4D3A-9E88-F2C1DF64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139696"/>
            <a:ext cx="4160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66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mixed basis cannot land on a reported figure. If we had built the stack on net order value and compared it to a gross-basis disclosure, the identity would miss by roughly the take rate — about ₹26 an order. It closes to zero, which is the only external check available on a cost stack we assembled ourselves.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98073B7-26CB-4206-A76F-F5D613B0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743200"/>
            <a:ext cx="41605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40" b="0" i="1">
                <a:solidFill>
                  <a:srgbClr val="FF9A8B"/>
                </a:solidFill>
                <a:latin typeface="Calibri"/>
                <a:ea typeface="Calibri"/>
                <a:cs typeface="Calibri"/>
              </a:rPr>
              <a:t>Round 1 quoted a city asset turn on a mixed basis. That figure is withdrawn — see A-8. Every turnover figure in this deck is gross, and the basis is named wherever it appears.</a:t>
            </a:r>
          </a:p>
        </p:txBody>
      </p:sp>
      <p:pic>
        <p:nvPicPr>
          <p:cNvPr id="29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ebd26aa824d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5758" y="841248"/>
            <a:ext cx="3155883" cy="1965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24406B"/>
            </a:solidFill>
          </a:ln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9CFE579-DFC3-4388-B353-3C82E596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862072"/>
            <a:ext cx="3977639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40" b="0" i="1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basket.py — the one disclosed quarterly series in which an Indian operator actually lifted AOV by shifting non-grocery mix [10].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A73E36B-F66E-4119-A281-27E13332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172968"/>
            <a:ext cx="3977639" cy="78638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A2052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F00469B-1E92-4D3D-8ABD-BD87F4BB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27832"/>
            <a:ext cx="3794759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AOV = 11.28·x + 390.9      x = non-grocery % of GOV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R² = 0.918     n = 4 quarters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LIMITATION, STATED: four points. We show the fit rather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than describe it, because four points shown honestly beat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a lifting rate asserted with no source at all.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D9A06B70-D768-4BBB-A463-6220535E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55264"/>
            <a:ext cx="4160520" cy="914400"/>
          </a:xfrm>
          <a:prstGeom xmlns:a="http://schemas.openxmlformats.org/drawingml/2006/main" prst="roundRect">
            <a:avLst>
              <a:gd name="adj" fmla="val 9000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FFC22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B80D180-6F17-4B69-8DD0-D3124ED5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328416"/>
            <a:ext cx="39319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</a:pPr>
            <a:r>
              <a:rPr sz="62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TWO WAYS TO READ THIS LINE, AND THE DECK USES BOTH — always with the basis named. As a LEVEL: 11.28x + 390.9 gives ₹729 at a 30% mix, which is the AOV the ROCE scenarios on slide 7 are computed at. As an ANCHORED DELTA from Minutes' own post-occasion basket (₹525): ₹637 at 30%, which is what the shock-coverage test on slide 8 measures against.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14E29B2-2A1B-4BF1-A134-BE04654B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913632"/>
            <a:ext cx="3931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00" b="0" i="1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Different quantities, both correct. Each is quoted with its basis wherever it appears.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B832307F-DF80-48F8-93E0-2957DE61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315968"/>
            <a:ext cx="2788920" cy="27432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FFC22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▶  </a:t>
            </a:r>
            <a:r>
              <a:rPr sz="7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RUN IT — colab.research.google.com/github/mba2501…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2791005-2A5B-47BF-9EC2-06ED41D6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4087368"/>
            <a:ext cx="73152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8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3f786994d043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7560" y="4114800"/>
            <a:ext cx="676656" cy="67665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01531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1228100-3DA5-4CD0-96C0-D661F779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0896"/>
            <a:ext cx="6400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Return on capital — the closed form, and the two asset turns reconciled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9DD56D7-3CEB-4FAD-973E-34624927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184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A-6b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DA80CB2-AF6C-414D-91D5-B4361557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731520"/>
            <a:ext cx="832104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4d42d24554f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03052" y="841248"/>
            <a:ext cx="2675655" cy="2633472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24406B"/>
            </a:solidFill>
          </a:ln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96E08CD-637B-4AC3-B344-996BAF6D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529584"/>
            <a:ext cx="33832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1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roce.py — solved in closed form, not searched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9BC0704-4123-472A-83BD-9D725371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730752"/>
            <a:ext cx="33832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DAY-COUNT NOTE: the ₹571 breakeven ties to the ₹573 D2 spine within ₹2.14. The gap is a convention — a 365-day year here against 12 × 30-day months there. Asserted and left visible rather than smoothed away, because a reader who reconciles the two will find it anyway.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A280DAC5-CAEC-449E-BC9E-A0DEBF53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41248"/>
            <a:ext cx="4754880" cy="1078992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A2052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80B8F74-6244-4DBA-BDC1-D96881E4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96112"/>
            <a:ext cx="45720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THE IDENTITY THE BENCHMARK IS SET ON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CDD1CD0-163D-47A0-A8C5-1A9DAF7F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4572000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ROCE = EBIT/CE = (EBIT/NOV) × (NOV/CE)        [DuPont]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                 margin leg    turnover leg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= 4.74% × 8.44×  =  40%   at AOV ₹755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AOV* = (ROCE·CE + F·12)/(τ·N) + c/τ      closed form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 no search, no goal-seek, one line of algebra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CECC9FD-CF12-446C-981C-78A64BA8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11680"/>
            <a:ext cx="4754880" cy="2057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E2A63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6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CAPITAL EMPLOYED, AND WHAT IT RETURNS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8AB00BF-5F33-43BE-9060-9815CF06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72284"/>
            <a:ext cx="31382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DD5C629-AAAB-47B3-8EA8-A7ACEDB7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700" y="2272284"/>
            <a:ext cx="1616659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732FAC1-152F-4821-83EB-7D2F44AB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15844"/>
            <a:ext cx="4754880" cy="143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8C81012-4C8C-4CFD-BA47-8080BBFB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32304"/>
            <a:ext cx="31382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capex, midpoint of the band [2]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833412B-5408-4371-9BA8-A890C915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700" y="2432304"/>
            <a:ext cx="1616659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₹235.0 L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FC56DAB-C2FB-44E2-9431-10079581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583180"/>
            <a:ext cx="31382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working capital, 14 NWC days [8]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673AB68-C7E4-48AE-87F4-8BF7FAF0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700" y="2583180"/>
            <a:ext cx="1616659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₹88.9 L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CB64F98-9BFE-4DED-900A-75EC661C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717596"/>
            <a:ext cx="4754880" cy="143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60EDD43-D730-492A-8EDD-FFA8F036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734056"/>
            <a:ext cx="31382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capital employed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7873EEF-DD57-44DE-84C1-B59ED9AF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700" y="2734056"/>
            <a:ext cx="1616659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₹323.9 L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966D5F9-AAF5-4A6E-A551-98E57979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884932"/>
            <a:ext cx="31382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AOV for ROCE = 0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01DEEA3-91FA-4599-A211-399BFCA6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700" y="2884932"/>
            <a:ext cx="1616659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₹571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5E2FF90-EB38-4EE3-911D-4DD56507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019348"/>
            <a:ext cx="4754880" cy="143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F9C7D44-F4FE-42BD-837F-CC6BCEEA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035808"/>
            <a:ext cx="31382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AOV for the 40% benchmark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B5DE1659-18B9-441E-A7FC-EDAB918A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700" y="3035808"/>
            <a:ext cx="1616659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₹755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2E35E8D-59C2-4DD4-AB54-A8C3DCB0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86684"/>
            <a:ext cx="31382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post-tax at 25.17%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C0064B1-1327-4490-A6C3-081EE55D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700" y="3186684"/>
            <a:ext cx="1616659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₹817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E0B02C5-F0D8-494D-BFAE-3F1600A1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321100"/>
            <a:ext cx="4754880" cy="143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573867A-3A66-4C90-9276-4735089A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337560"/>
            <a:ext cx="31382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IRR, 5-year life, 3-month ramp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AD5393F-EB56-4E08-AE90-BC036AA7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700" y="3337560"/>
            <a:ext cx="1616659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34.4%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0534247C-A732-4553-A7BD-DB649797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488436"/>
            <a:ext cx="31382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NPV at 12% / 15% [assumed]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2413E9E1-4EFA-4CAE-B8DA-18A42839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700" y="3488436"/>
            <a:ext cx="1616659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₹157.6 L / ₹128.9 L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1CFE0234-8CF2-4ACC-A1D1-B79EA190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694176"/>
            <a:ext cx="4754880" cy="530352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FFC22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DEEE7299-DA29-4316-AB37-F177EBE2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3758184"/>
            <a:ext cx="45354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TWO ASSET TURNS, BOTH CORRECT.  6.93× is like-for-like at a COMMON AOV ₹450 — it isolates density × calendar and is the slide-4 quantity. 8.44× is the node's own turnover at its benchmark-implied AOV on capital employed including working capital — the DuPont leg. Always quote the basis.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D7DD0C88-5781-4FC1-9F83-6504079F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370832"/>
            <a:ext cx="2788920" cy="27432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FFC22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▶  </a:t>
            </a:r>
            <a:r>
              <a:rPr sz="7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RUN IT — colab.research.google.com/github/mba2501…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5058BBFC-B29A-48BF-9DD4-B2707C81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4142232"/>
            <a:ext cx="73152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6" name="Picture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96fe4cf4448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7560" y="4169664"/>
            <a:ext cx="676656" cy="67665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92564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9AD73E7-4562-4AD4-A653-3044FA1E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0896"/>
            <a:ext cx="6400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District register and screen — 760 districts, four criteria, 111 candidates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403EF8D-EAB5-4776-8256-6CC9A8F7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184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A-7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48252CA-CC84-44AD-9C1C-1382F1CE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731520"/>
            <a:ext cx="832104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b3af998bc45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1569" y="841248"/>
            <a:ext cx="2537460" cy="17373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24406B"/>
            </a:solidFill>
          </a:ln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08B602-684A-43BC-9004-05180A97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33472"/>
            <a:ext cx="3977639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40" b="0" i="1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aishe_district.py — the register is per-institution and carries the urban/rural flag and the district. Every row is an institution.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5BAF2AA-4397-479E-A3C5-B5E6E0FF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44368"/>
            <a:ext cx="3977639" cy="10058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A2052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E73851C-AC26-4372-9E1D-FA5EB320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99232"/>
            <a:ext cx="3794759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THE SCREEN, IN ORDER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72,352 institutions  →  54,014 colleges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urban flag           →  21,000 urban (39.4%)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non-metro            →  17,805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≥ 5 urban colleges + Tier-1/2 + no metro overlap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     →  111 of 760 districts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3FAEDFC-2138-48E3-AD9C-04CEEBE6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841248"/>
            <a:ext cx="4114800" cy="2057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E2A63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6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TOP CANDIDATES, AND THE FLAG THAT DISQUALIFIED MOST OF THEM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2E8BE73-40F4-434D-9B04-2E7E2D75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101852"/>
            <a:ext cx="139903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DISTRICT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9E76BFE-A783-477D-9E4D-35BF0627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1101852"/>
            <a:ext cx="115214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8B771BB-AA2F-48BE-A4EC-9AA2BCD6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1101852"/>
            <a:ext cx="8229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URBAN COLLEGES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A63241E-742A-4A45-BF4B-5BD7BF96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1101852"/>
            <a:ext cx="7406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PROXIMITY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425EAE9-A48B-4FDB-8EF3-63552C6E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245412"/>
            <a:ext cx="4114800" cy="1618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BFAEC85-CC90-4407-97F9-91F639C0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261872"/>
            <a:ext cx="139903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Khordha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367A78F-38BD-4EBE-A0A5-996125D8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1261872"/>
            <a:ext cx="115214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Odisha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FC5BF34-2194-4BD3-8B77-1399AE70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1261872"/>
            <a:ext cx="8229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169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9EC8521-763A-41C6-A5C2-92B3989B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1261872"/>
            <a:ext cx="74066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9A8B"/>
                </a:solidFill>
                <a:latin typeface="Calibri"/>
                <a:ea typeface="Calibri"/>
                <a:cs typeface="Calibri"/>
              </a:rPr>
              <a:t>stacked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4050E96-004B-4447-A694-2AC9063F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431036"/>
            <a:ext cx="139903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Kalaburagi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59D0484-9EC8-4FAD-AAE6-5F809643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1431036"/>
            <a:ext cx="115214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Karnataka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5C3FC22-8AF2-41E2-B30E-B97DD2D5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1431036"/>
            <a:ext cx="8229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229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CC60D9E-89BA-46E0-AC15-56FB4F85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1431036"/>
            <a:ext cx="74066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9A8B"/>
                </a:solidFill>
                <a:latin typeface="Calibri"/>
                <a:ea typeface="Calibri"/>
                <a:cs typeface="Calibri"/>
              </a:rPr>
              <a:t>stacked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EFCC599-E5EE-4271-94CB-9F68F23B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83740"/>
            <a:ext cx="4114800" cy="1618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1178D67-F919-43E6-A64F-4927EA6F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00200"/>
            <a:ext cx="139903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Belagavi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9E6E73C-2823-4C86-9A2E-388D458D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1600200"/>
            <a:ext cx="115214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Karnataka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EFC4BC0-2639-4698-AFC6-667F232F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1600200"/>
            <a:ext cx="8229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190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BA9314B-0D45-4A0F-8517-372B52A2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1600200"/>
            <a:ext cx="74066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9A8B"/>
                </a:solidFill>
                <a:latin typeface="Calibri"/>
                <a:ea typeface="Calibri"/>
                <a:cs typeface="Calibri"/>
              </a:rPr>
              <a:t>stacked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D382C12F-85FC-4075-A94B-03CD2545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769364"/>
            <a:ext cx="139903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Visakhapatnam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7643F53D-C1AC-42E0-B316-4194955F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1769364"/>
            <a:ext cx="115214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Andhra Prades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9F2F6DF4-BF7C-49D4-9DC8-10422F74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1769364"/>
            <a:ext cx="8229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133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5930525F-6C05-4679-AEEA-DF5A14B9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1769364"/>
            <a:ext cx="74066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9A8B"/>
                </a:solidFill>
                <a:latin typeface="Calibri"/>
                <a:ea typeface="Calibri"/>
                <a:cs typeface="Calibri"/>
              </a:rPr>
              <a:t>stacked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68872931-42BF-40C2-814E-3C45A49F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922068"/>
            <a:ext cx="4114800" cy="1618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0E384DA7-5B1C-4D27-8E22-5D0E5C4E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938528"/>
            <a:ext cx="139903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Dharwad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83752046-07DB-474F-BF79-ED47FA9B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1938528"/>
            <a:ext cx="115214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Karnataka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3F46CEBA-1ABE-4E32-B429-CA1F0091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1938528"/>
            <a:ext cx="8229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160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E663F7B0-C5CB-43A1-B50C-557F7C89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1938528"/>
            <a:ext cx="74066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9A8B"/>
                </a:solidFill>
                <a:latin typeface="Calibri"/>
                <a:ea typeface="Calibri"/>
                <a:cs typeface="Calibri"/>
              </a:rPr>
              <a:t>stacked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6368F99F-8C02-4F04-8338-FB662C43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107692"/>
            <a:ext cx="139903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Dakshina Kannada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A9EFA6BA-50B8-4C91-8C77-0DB32D2B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2107692"/>
            <a:ext cx="115214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Karnataka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8C9FDB-972B-409D-9149-C11A7C7E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2107692"/>
            <a:ext cx="8229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158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BD2FD184-AC3D-424B-8FFB-19AB9463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2107692"/>
            <a:ext cx="74066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9A8B"/>
                </a:solidFill>
                <a:latin typeface="Calibri"/>
                <a:ea typeface="Calibri"/>
                <a:cs typeface="Calibri"/>
              </a:rPr>
              <a:t>stacked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671C803A-A4CC-4971-B8DA-28D75BD6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260396"/>
            <a:ext cx="4114800" cy="1618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DAF072FF-52E3-43DA-BFF0-C374F270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276856"/>
            <a:ext cx="139903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Mysuru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644C085C-A359-4E4D-9F7B-620DD55D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2276856"/>
            <a:ext cx="115214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Karnataka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91616535-EF31-4776-A126-E39B896D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2276856"/>
            <a:ext cx="8229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156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EEFE20A4-EC40-4820-B6DA-0DF8F0F9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2276856"/>
            <a:ext cx="74066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9A8B"/>
                </a:solidFill>
                <a:latin typeface="Calibri"/>
                <a:ea typeface="Calibri"/>
                <a:cs typeface="Calibri"/>
              </a:rPr>
              <a:t>stacked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0D00E02B-F729-456F-8E8D-A5926E61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446020"/>
            <a:ext cx="139903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Bidar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329375ED-4F31-4422-90D2-6633AD12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2446020"/>
            <a:ext cx="115214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Karnataka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6796B53B-E50B-492D-AEDF-EA6D7B1C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2446020"/>
            <a:ext cx="8229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148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A14F6536-18EA-4682-9D90-BD680DC4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2446020"/>
            <a:ext cx="74066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9A8B"/>
                </a:solidFill>
                <a:latin typeface="Calibri"/>
                <a:ea typeface="Calibri"/>
                <a:cs typeface="Calibri"/>
              </a:rPr>
              <a:t>stacked</a:t>
            </a:r>
          </a:p>
        </p:txBody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BFF0E7D8-468E-4016-9605-D85DA8B5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598724"/>
            <a:ext cx="4114800" cy="1618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567077F2-E646-4B68-BA75-9D38AEFD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615184"/>
            <a:ext cx="139903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Vijayapura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1F88CAF8-07A5-440D-9C38-42A6DDFB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2615184"/>
            <a:ext cx="115214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Karnataka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6FA2D3A6-5CC9-4D65-B998-59137BD3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2615184"/>
            <a:ext cx="8229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138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BBA8FC8E-72C1-4E41-B002-F7B18787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2615184"/>
            <a:ext cx="74066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9A8B"/>
                </a:solidFill>
                <a:latin typeface="Calibri"/>
                <a:ea typeface="Calibri"/>
                <a:cs typeface="Calibri"/>
              </a:rPr>
              <a:t>stacked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03ACF532-FBD4-4505-830E-BA34ABF9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784348"/>
            <a:ext cx="139903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Raichur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00DFC971-E351-4154-972B-ADB78F5E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2784348"/>
            <a:ext cx="115214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Karnataka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CBFE0F63-0EE6-4E21-AD68-18590ADA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2784348"/>
            <a:ext cx="8229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119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E604C035-8BA2-4AF5-8EC6-4DD0534D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2784348"/>
            <a:ext cx="74066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1" i="0">
                <a:solidFill>
                  <a:srgbClr val="FF9A8B"/>
                </a:solidFill>
                <a:latin typeface="Calibri"/>
                <a:ea typeface="Calibri"/>
                <a:cs typeface="Calibri"/>
              </a:rPr>
              <a:t>stacked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423AE30D-36DD-4983-9603-3414045A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035808"/>
            <a:ext cx="4114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</a:pPr>
            <a:r>
              <a:rPr sz="6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CONTESTEDNESS: 9 uncontested, 22 contested, 80 stacked. Expected incumbent stores = urban colleges × non-metro store density, so 'uncontested' is arithmetically 'the smallest districts on the screen's own floor'. The flag ranks candidates; siting runs the cluster test. It disqualified 72% of our own shortlist.</a:t>
            </a: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AD121117-F619-4BE0-AA1B-9B398859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712463"/>
            <a:ext cx="4114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20" b="0" i="1">
                <a:solidFill>
                  <a:srgbClr val="FF9A8B"/>
                </a:solidFill>
                <a:latin typeface="Calibri"/>
                <a:ea typeface="Calibri"/>
                <a:cs typeface="Calibri"/>
              </a:rPr>
              <a:t>The register carries no enrolment [6], so district student counts are imputed off state ratios [7] and labelled as imputed everywhere they appear. Two instruments, never mixed.</a:t>
            </a:r>
          </a:p>
        </p:txBody>
      </p:sp>
      <p:sp>
        <p:nvSpPr>
          <p:cNvPr id="61" name="Rounded Rectangle 60">
            <a:extLst xmlns:a="http://schemas.openxmlformats.org/drawingml/2006/main">
              <a:ext uri="{FF2B5EF4-FFF2-40B4-BE49-F238E27FC236}">
                <a16:creationId xmlns:a16="http://schemas.microsoft.com/office/drawing/2014/main" id="{27800291-3262-4F7A-BC31-2E179F2A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389120"/>
            <a:ext cx="2788920" cy="27432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FFC22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▶  </a:t>
            </a:r>
            <a:r>
              <a:rPr sz="7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RUN IT — colab.research.google.com/github/mba2501…</a:t>
            </a:r>
          </a:p>
        </p:txBody>
      </p:sp>
      <p:sp>
        <p:nvSpPr>
          <p:cNvPr id="62" name="Rectangle 61">
            <a:extLst xmlns:a="http://schemas.openxmlformats.org/drawingml/2006/main">
              <a:ext uri="{FF2B5EF4-FFF2-40B4-BE49-F238E27FC236}">
                <a16:creationId xmlns:a16="http://schemas.microsoft.com/office/drawing/2014/main" id="{1D4D9905-8831-4384-A50D-D4C2CA04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4160520"/>
            <a:ext cx="73152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6" name="Picture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4e22837c0647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7560" y="4187952"/>
            <a:ext cx="676656" cy="67665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4270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B61EBB7-C9A5-47CB-A91D-B0F402F8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0896"/>
            <a:ext cx="6400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Calendar fragmentation — the shape of the break, not its length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F6353D1-2383-4A3C-9BC1-80B4DF80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184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A-7b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4681C26-6407-454F-9248-66100571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731520"/>
            <a:ext cx="832104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8130FFF-A420-4A12-9E27-29742E8A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68680"/>
            <a:ext cx="4846320" cy="2057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E2A63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6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FOUR CALENDAR SHAPES, PRICED ON THE SAME BASE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F61D156-1C8B-4EDB-BEDE-E55E27BA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47572"/>
            <a:ext cx="2229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CALENDAR SHAPE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C23B85E-6CFC-4FDC-9BF4-30C64554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787" y="1147572"/>
            <a:ext cx="9692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WIND-DOWNABLE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77B132A-FA8A-4AEE-BA29-350B2210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0051" y="1147572"/>
            <a:ext cx="87233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DEAD ZONE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20A54A9-F50D-4611-9FEB-75749BC8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388" y="1147572"/>
            <a:ext cx="775411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vs BASE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0A9EF88-5E30-4C15-9AF3-0304315E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291132"/>
            <a:ext cx="4846320" cy="189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B759211-A96D-44FA-95A4-F7FD99E5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07592"/>
            <a:ext cx="2229307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Contiguous (model's current assump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FB3691B-39A3-4073-A803-2B47F7C1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787" y="1307592"/>
            <a:ext cx="96926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100%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5B89131-5332-42F4-AE5B-9B0E0618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0051" y="1307592"/>
            <a:ext cx="872337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₹21.3 L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1BB1EE7-078A-43E5-AB09-08A7E8ED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388" y="1307592"/>
            <a:ext cx="775411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+0%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56870C6-ED2B-43A7-A69C-57DBF47D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504188"/>
            <a:ext cx="2229307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Typical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12C6DB7-6070-4420-92B3-B726FB9A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787" y="1504188"/>
            <a:ext cx="96926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53%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120C5B2-F91B-4711-925B-601ADBDA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0051" y="1504188"/>
            <a:ext cx="872337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₹27.5 L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50A8583-3481-4CB7-870E-7F5E3B92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388" y="1504188"/>
            <a:ext cx="775411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+29%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0CBF27C9-3B2C-41A6-838B-8441A861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684324"/>
            <a:ext cx="4846320" cy="189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E9AA83E-A983-497B-8694-6175098B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700784"/>
            <a:ext cx="2229307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Fragmented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90EEB30-ADDF-4174-B331-FCE286DF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787" y="1700784"/>
            <a:ext cx="96926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9A8B"/>
                </a:solidFill>
                <a:latin typeface="Calibri"/>
                <a:ea typeface="Calibri"/>
                <a:cs typeface="Calibri"/>
              </a:rPr>
              <a:t>0%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8ABDAA4-4A5C-4B2B-B36C-46CC14E6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0051" y="1700784"/>
            <a:ext cx="872337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₹31.6 L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5D3EC1D-565F-4B93-AE4E-CF7F8747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388" y="1700784"/>
            <a:ext cx="775411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9A8B"/>
                </a:solidFill>
                <a:latin typeface="Calibri"/>
                <a:ea typeface="Calibri"/>
                <a:cs typeface="Calibri"/>
              </a:rPr>
              <a:t>+49%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753CC2A-CC69-481C-B921-39284DA3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97380"/>
            <a:ext cx="2229307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Semester system, one long summer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A5C70BA6-DAB0-4E07-AA2A-B7A70868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787" y="1897380"/>
            <a:ext cx="96926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72%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909184D-C619-44EA-B6C0-AA17EE8F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0051" y="1897380"/>
            <a:ext cx="872337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₹24.9 L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94C8D315-0C8D-4406-8A1A-9317B68F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388" y="1897380"/>
            <a:ext cx="775411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4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+17%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EAB044E8-73E7-4F07-A236-DD0906D1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23160"/>
            <a:ext cx="4846320" cy="93268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A2052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A7A358F-90C9-4F31-BB94-5C1C1AFF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78024"/>
            <a:ext cx="4663440" cy="822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THE 7-WEEK RULE, DERIVED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wind-down decision fires at   T − 21 days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ramp-up lead time              28 days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21 + 28 = 49 days = 7 weeks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a break shorter than 7 weeks cannot be wound down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at all: the two windows collide.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0854BD9-0BAD-4214-B5B7-3C7B9361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438144"/>
            <a:ext cx="48463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</a:pPr>
            <a:r>
              <a:rPr sz="660" b="0" i="1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This is why the site filter carries a calendar condition and not only a demand condition. Two campuses with identical annual downtime can differ by 40% in dead-zone cost purely on how that downtime is distributed.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F6E75440-FD4E-4E35-BC07-7D694FB3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913632"/>
            <a:ext cx="4846320" cy="786384"/>
          </a:xfrm>
          <a:prstGeom xmlns:a="http://schemas.openxmlformats.org/drawingml/2006/main" prst="roundRect">
            <a:avLst>
              <a:gd name="adj" fmla="val 9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86B9B84D-2939-40E1-85DE-E1E35A25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986784"/>
            <a:ext cx="462686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</a:pPr>
            <a:r>
              <a:rPr sz="6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THE SITE TEAM ACTUALLY CHECKS.  Pull the institution's published academic calendar. Mark every gap of 7 weeks or more — those are wind-downable and cost the base case. Mark every gap shorter than 7 weeks — those cannot be wound down and are charged at full fixed cost. A campus with one long summer beats a campus with the same total downtime split into four short breaks, and the difference is 29 points of dead-zone cost.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C456E6A2-FFF4-4B7D-BD21-2B96A2F5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868680"/>
            <a:ext cx="3200400" cy="2057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E2A63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6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WHAT IT CHANGES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A60397CD-F204-4BA5-A5FF-AD7B27F9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165860"/>
            <a:ext cx="211226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8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active months, base case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A8993596-02D6-45A5-9000-D443580A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165860"/>
            <a:ext cx="32004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8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8.5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A4388C56-A054-41CE-AB56-4658507D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39596"/>
            <a:ext cx="320040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5F00A840-0BD7-4B85-B3EA-E3DC9E8F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80744"/>
            <a:ext cx="211226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8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calendar surcharge σ = 12/m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428017A3-170B-4C9B-89CE-B048C8AD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80744"/>
            <a:ext cx="32004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8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1.412×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2131ECE7-5860-464E-8BCB-ADB8AD9B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554480"/>
            <a:ext cx="320040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E2AAF9DB-7396-4986-BF7A-3860A32A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595628"/>
            <a:ext cx="211226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8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do-nothing threshold 1/σ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58E25C58-E9AF-4143-9850-5C67CD9A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595628"/>
            <a:ext cx="32004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80" b="1" i="0">
                <a:solidFill>
                  <a:srgbClr val="FF9A8B"/>
                </a:solidFill>
                <a:latin typeface="Calibri"/>
                <a:ea typeface="Calibri"/>
                <a:cs typeface="Calibri"/>
              </a:rPr>
              <a:t>70.8%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0D7196D4-F779-4C6D-A66B-E5558FA4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769364"/>
            <a:ext cx="320040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CF21C361-DD3D-45F8-AD5C-B7EC216F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810512"/>
            <a:ext cx="211226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8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minimum breakable segment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4ACB61C5-7915-41B9-B004-D274BCE7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810512"/>
            <a:ext cx="32004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8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 weeks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6A226D3D-2871-42D3-8F19-667DBE9C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984248"/>
            <a:ext cx="320040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8DF76F3C-D8A9-40DA-AA0D-49B8771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25395"/>
            <a:ext cx="211226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8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shapes that cannot wind down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096C0C0A-9B9B-44B2-A4CB-16986CF5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25395"/>
            <a:ext cx="32004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80" b="1" i="0">
                <a:solidFill>
                  <a:srgbClr val="FF9A8B"/>
                </a:solidFill>
                <a:latin typeface="Calibri"/>
                <a:ea typeface="Calibri"/>
                <a:cs typeface="Calibri"/>
              </a:rPr>
              <a:t>2 of 4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613654FA-E723-4544-9B96-33DEDEAD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81428"/>
            <a:ext cx="32004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</a:pPr>
            <a:r>
              <a:rPr sz="64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surcharge and the threshold are the same constant read from two directions: σ prices the calendar into the cost base, and 1/σ is the share of term demand a node must recover to survive a break it cannot mitigate. The identity closing twice is the reason we treat 70.8% as a structural fact rather than a modelled output.</a:t>
            </a:r>
          </a:p>
        </p:txBody>
      </p:sp>
      <p:sp>
        <p:nvSpPr>
          <p:cNvPr id="49" name="Rounded Rectangle 48">
            <a:extLst xmlns:a="http://schemas.openxmlformats.org/drawingml/2006/main">
              <a:ext uri="{FF2B5EF4-FFF2-40B4-BE49-F238E27FC236}">
                <a16:creationId xmlns:a16="http://schemas.microsoft.com/office/drawing/2014/main" id="{15F25476-E9F9-4C6C-86E9-FF029D1A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035808"/>
            <a:ext cx="3200400" cy="113385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A2052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468A8349-AC2C-45A3-9CC1-49811B93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59" y="3090672"/>
            <a:ext cx="3017520" cy="1024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THE TWO WINDOWS, AND WHY THEY COLLIDE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T−21d  wind-down decision must fire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T−14d  rehire pool contacted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T+0    break begins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−28d   ramp-up must already be running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21 + 28 = 49 days of runway required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below that the decision and the ramp overlap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75C4A979-66AF-4C06-9CDC-37569ECA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261104"/>
            <a:ext cx="32004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620" b="0" i="1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Fragmentation is priced from published academic calendars, which is why every roadmap action on slide 8 is dated rather than volume-triggered.</a:t>
            </a:r>
          </a:p>
        </p:txBody>
      </p:sp>
    </p:spTree>
    <p:extLst>
      <p:ext uri="{BB962C8B-B14F-4D97-AF65-F5344CB8AC3E}">
        <p14:creationId xmlns:p14="http://schemas.microsoft.com/office/powerpoint/2010/main" val="1865816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1EE619A-1D9A-49A8-BAF1-3438F6B6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0896"/>
            <a:ext cx="6400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Examined and rejected — six inputs that would have made the case easier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87B7070-741D-4C3F-B134-7DBB653D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184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A-8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8F04C5E-4441-4DD0-9472-60E5220A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731520"/>
            <a:ext cx="832104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351A870-FEDA-4765-BB9E-F1A2A026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22960"/>
            <a:ext cx="8321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60" b="0" i="1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Each was in the corpus, each would have helped, and each failed a test on the same basis we applied to the inputs we kept.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4984687-F59F-4633-885D-BCCD9E4F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60704"/>
            <a:ext cx="2423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7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CRISIL per-tonne cold-storage rates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84C7543-E389-46DD-9472-9FC85A69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35024"/>
            <a:ext cx="2423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00" b="0" i="1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Would have given a sourced chiller cost.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B1C748A-523E-4797-B621-EBD8131D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060704"/>
            <a:ext cx="5394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The rate implies 41 tonnes of product inside a 3,100 sqft store. That is bulk agricultural storage, not an in-store chilled zone. Applying it would have priced a different asset.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FDE0F79-AE0F-4662-A7F9-5EBC8FE8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060704"/>
            <a:ext cx="3657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6FA0FF"/>
                </a:solidFill>
                <a:latin typeface="Calibri"/>
                <a:ea typeface="Calibri"/>
                <a:cs typeface="Calibri"/>
              </a:rPr>
              <a:t>[17]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ABDC203-BA5D-4DD4-872F-6DA2B24F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572768"/>
            <a:ext cx="832104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7059789-44D9-4B2A-9716-7625DC4C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641348"/>
            <a:ext cx="2423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7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UBS: 2.7 orders per rider-hour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E470821-CCCF-4FE8-BEEB-FCB8A782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915667"/>
            <a:ext cx="2423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00" b="0" i="1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Would have raised our last-mile cost and made the runner look better.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2ED3892-453B-4D92-8915-B88D9204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41348"/>
            <a:ext cx="5394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It is a FOOD DELIVERY productivity figure. Quick commerce batches; food delivery does not. We use J.P. Morgan's 4.0 orders/active hour for the same reason.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F5B9077-F8C6-4C05-9DB3-CFCC5197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641348"/>
            <a:ext cx="3657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6FA0FF"/>
                </a:solidFill>
                <a:latin typeface="Calibri"/>
                <a:ea typeface="Calibri"/>
                <a:cs typeface="Calibri"/>
              </a:rPr>
              <a:t>[12]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4F6B92E-A7A7-4CD8-BDF9-922B8D36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153411"/>
            <a:ext cx="832104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1F71EE1-0AFC-4915-91CE-D039B825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21991"/>
            <a:ext cx="2423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7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Netscribes market size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4CD9537-0BBC-4D4F-854B-88E4EED5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96311"/>
            <a:ext cx="2423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00" b="0" i="1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Would have given a headline TAM for the opening slide.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546AEE3-6CAB-4629-BD11-DE038D9D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21991"/>
            <a:ext cx="5394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Netscribes restated its own India quick-commerce market size by 59% within ten months. A number that moves that far in under a year cannot underwrite a capital decision.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A7E0849-6C55-4180-923C-27532E3F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221991"/>
            <a:ext cx="3657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6FA0FF"/>
                </a:solidFill>
                <a:latin typeface="Calibri"/>
                <a:ea typeface="Calibri"/>
                <a:cs typeface="Calibri"/>
              </a:rPr>
              <a:t>[20]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1BE801F-97B1-4DE0-982F-5AE0DF53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734055"/>
            <a:ext cx="832104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AEE1D54-8184-4FD2-B386-970628B1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802635"/>
            <a:ext cx="2423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7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Round 1's city asset turn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97454E7-2596-476E-993C-0D4F6F2E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076955"/>
            <a:ext cx="2423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00" b="0" i="1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Our own number, and it flattered the comparison.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6FDF6EE-0470-41AB-8226-F9085FFD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2635"/>
            <a:ext cx="5394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It mixed a net-basis numerator with a gross-basis denominator, which is why it came out well above the gross-basis figure. Withdrawn and not restated anywhere in this deck. The gross-basis city turn is 7.34×, and the campus node is 6.93× against it.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EFEA11B-7574-499F-B00C-3FF15931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802635"/>
            <a:ext cx="3657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6FA0FF"/>
                </a:solidFill>
                <a:latin typeface="Calibri"/>
                <a:ea typeface="Calibri"/>
                <a:cs typeface="Calibri"/>
              </a:rPr>
              <a:t>R1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347C646-21D9-48A4-9195-69FE77C6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314699"/>
            <a:ext cx="832104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46F7E66-42B4-4611-A0E3-1CCAF6CD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383279"/>
            <a:ext cx="2423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7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Starship UK as a campus analogue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92693AFC-9648-4A55-96F0-721348DC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657599"/>
            <a:ext cx="2423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00" b="0" i="1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Would have given a direct campus precedent with data.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585444D9-1411-4461-8466-8ED8A5B9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83279"/>
            <a:ext cx="5394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Different contract shape and a robot fleet with different unit economics. We use the US exit as evidence about CONTRACT SHAPE — seasonal and contract-driven versus 365-day urban — not as a demand analogue.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8971CA6E-42FB-419B-AB66-196A8601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383279"/>
            <a:ext cx="3657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6FA0FF"/>
                </a:solidFill>
                <a:latin typeface="Calibri"/>
                <a:ea typeface="Calibri"/>
                <a:cs typeface="Calibri"/>
              </a:rPr>
              <a:t>[15]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F90E6ED-533B-43F2-A640-9B0E6221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895343"/>
            <a:ext cx="832104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534D7C2F-4FF1-475D-9C97-64A8C6A2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963923"/>
            <a:ext cx="2423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7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Any simulated demand curve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65A89EA1-BF33-4339-9C8B-409E7C10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238243"/>
            <a:ext cx="2423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00" b="0" i="1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It is the standard move in this kind of analysis.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8314BBA0-819A-4707-8DAF-801117F2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63923"/>
            <a:ext cx="5394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We have no observed campus demand series to calibrate against, so a simulation would encode our own assumption and return it as a finding. We priced the calendar instead.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B93F0D32-A681-418A-8292-194A2491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963923"/>
            <a:ext cx="3657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580" b="1" i="0">
                <a:solidFill>
                  <a:srgbClr val="6FA0FF"/>
                </a:solidFill>
                <a:latin typeface="Calibri"/>
                <a:ea typeface="Calibri"/>
                <a:cs typeface="Calibri"/>
              </a:rPr>
              <a:t>—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59A4F21B-5046-4295-A023-B14BD2B4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475987"/>
            <a:ext cx="832104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D3952C3D-8369-4945-8D36-703253EC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590288"/>
            <a:ext cx="8321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Nothing on a content slide rests on any of the six.</a:t>
            </a:r>
          </a:p>
        </p:txBody>
      </p:sp>
    </p:spTree>
    <p:extLst>
      <p:ext uri="{BB962C8B-B14F-4D97-AF65-F5344CB8AC3E}">
        <p14:creationId xmlns:p14="http://schemas.microsoft.com/office/powerpoint/2010/main" val="120622480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B0EE8BF-291C-4F9A-A29A-E3E8A875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0896"/>
            <a:ext cx="6400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Literature screen — 47 records, 3 usable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FA3C5B0-6B65-450E-B8B4-E22B2847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184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A-9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9183DB3-69D1-4F77-8F88-40AF3158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731520"/>
            <a:ext cx="832104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CDF66E9-D611-4AC6-8218-C00E1087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68680"/>
            <a:ext cx="3977639" cy="2057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E2A63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6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THE SCREEN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54EEAEA-3928-40E2-BDCB-7AC42BF0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65860"/>
            <a:ext cx="262524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Scopus records screened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D400486-26CB-43B2-90B2-2AB6DDF5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65860"/>
            <a:ext cx="3977639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47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66DE072-9B70-4603-9E98-4950214C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48740"/>
            <a:ext cx="3977639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E3BFD25-F3C7-4242-8E98-745A6C4E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89888"/>
            <a:ext cx="262524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excluded: no campus/institutional setting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756F9A6-EEB9-4705-B85A-285EB6C3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89888"/>
            <a:ext cx="3977639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36549B0-0A21-4285-AB78-4666D536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572768"/>
            <a:ext cx="3977639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03642B7-12B8-4A5B-94E7-13BADBC5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613916"/>
            <a:ext cx="262524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excluded: no unit economics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A57793E-5CDB-4259-85D2-90C97951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613916"/>
            <a:ext cx="3977639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49B272E-E42A-4188-AC32-F2141252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796796"/>
            <a:ext cx="3977639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40A5A85-4EF6-4B20-A450-EDCB0F41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37944"/>
            <a:ext cx="262524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excluded: simulation with no observed base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EC0A306-6ACF-4D54-A2E7-3B228D9C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37944"/>
            <a:ext cx="3977639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755193A-22F7-48DE-89BD-82DD8B50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20824"/>
            <a:ext cx="3977639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7878AE6-3A6C-4245-A18A-FDDD5C7B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61972"/>
            <a:ext cx="262524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USABLE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FECCB1C-0433-47DA-A4D0-9086B46A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61972"/>
            <a:ext cx="3977639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 i="0">
                <a:solidFill>
                  <a:srgbClr val="7BD3A6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FED90EF-1485-4752-8D0E-108BF857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372868"/>
            <a:ext cx="3977639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</a:pPr>
            <a:r>
              <a:rPr sz="66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exclusion that removed the most papers is the third: a literature of simulated demand curves calibrated on nothing observable. It is the same objection we make to our own Round 1 instinct, which is why we state it here rather than borrowing the method.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048CE422-9486-406C-9016-D652FC18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868680"/>
            <a:ext cx="4114800" cy="2057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E2A63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6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WHAT THE THREE ACTUALLY GIVE US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95788E-9DC1-4C08-8034-61CB2084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147572"/>
            <a:ext cx="4114800" cy="11887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A2052"/>
          </a:solidFill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9AD5B2A-5248-43DD-B843-38D9BDD1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59" y="1202436"/>
            <a:ext cx="3931920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Kambli, Sinha &amp; Srinivas (2020)                    [18]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J. Hospitality &amp; Tourism Mgmt 43, 62–70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DOI 10.1016/j.jhtm.2020.02.008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labour reconfiguration beats capital substitution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in seasonal institutional foodservice — the finding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our fleet decision is built on, and the reason the</a:t>
            </a:r>
          </a:p>
          <a:p xmlns:a="http://schemas.openxmlformats.org/drawingml/2006/main">
            <a:pPr>
              <a:lnSpc>
                <a:spcPct val="104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onsolas"/>
                <a:ea typeface="Consolas"/>
                <a:cs typeface="Consolas"/>
              </a:rPr>
              <a:t>  gate leg is a labour class and not a vehicle.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3BE63AB-BBBF-443A-8FCF-1C3E7244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427732"/>
            <a:ext cx="4114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The other two are used only for framing and are not load-bearing: one on institutional catering seasonality, one on campus retail footfall. Neither supplies a number that enters the model, so neither is cited on a content slide. A paper that does not change a number does not earn a superscript.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85C946E-D5CF-4032-AD2A-1BB4A028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310128"/>
            <a:ext cx="83210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</a:pPr>
            <a:r>
              <a:rPr sz="74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ONE PAPER, LOAD-BEARING, CITED WHERE IT LOADS. Forty-four records were read and excluded on the criteria at left.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28B18B2C-3D0D-4E3E-B70D-E16A6836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877056"/>
            <a:ext cx="8321040" cy="603504"/>
          </a:xfrm>
          <a:prstGeom xmlns:a="http://schemas.openxmlformats.org/drawingml/2006/main" prst="roundRect">
            <a:avLst>
              <a:gd name="adj" fmla="val 9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64008" tIns="27432" rIns="64008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056D1E7-3FE2-4E64-AD64-AE7CB3A5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68496"/>
            <a:ext cx="8046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</a:pPr>
            <a:r>
              <a:rPr sz="64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Method: Scopus, quick commerce OR dark store OR last mile AND campus OR institutional OR seasonal, 2015–2026, English, peer-reviewed. Screened on title and abstract, then full text for the 11 that survived. The screen is reproducible from that string.</a:t>
            </a:r>
          </a:p>
        </p:txBody>
      </p:sp>
    </p:spTree>
    <p:extLst>
      <p:ext uri="{BB962C8B-B14F-4D97-AF65-F5344CB8AC3E}">
        <p14:creationId xmlns:p14="http://schemas.microsoft.com/office/powerpoint/2010/main" val="62176864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9509FF3-C3D6-4A75-927E-DF8108ED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0896"/>
            <a:ext cx="6400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Searched and did not find — seven inputs we went looking for and could not source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E88993F-F8F2-4E90-B9F9-08BB55B9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184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A-10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9D055D4-F54A-43D9-BEA5-E18AF14F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731520"/>
            <a:ext cx="832104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B93F316-7E6A-418C-BFC1-BB9A360A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22960"/>
            <a:ext cx="8321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60" b="0" i="1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Each of these would have replaced an assumption on A-3 with a sourced number. None exists in the public record we could reach.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D7B64AE-0DD0-4448-A042-4289EB86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42415"/>
            <a:ext cx="2788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8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kWh/day for a dark-store chiller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35C6399-C84E-46CC-9613-2822C45A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042415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1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Would have replaced the ₹9.50/kWh tariff assumption with a measured load.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A5D527B-E456-4AEF-BE0A-5DA92751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042415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Operators disclose utilities blended into a single line. No equipment-level figure is published.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BCC99BE-6E61-474C-8984-14A637F1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481328"/>
            <a:ext cx="832104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61421E6-9299-4056-AAE0-8D3407A5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540764"/>
            <a:ext cx="2788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8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Lease lock-in and notice terms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6FA0567-5CE1-408A-88F7-0F2C1996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540764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1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Would have priced the dormancy clause rather than asserting it can be negotiated.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C73BEFC-339A-41D2-8983-9A50E7EB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540764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No quick-commerce lease text is public. CRISIL covers warehousing, which is a different asset and tenor.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5711159-DBC1-4F77-8EA9-6CBC9BA4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979676"/>
            <a:ext cx="832104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5E7AE65-54B3-4898-93B3-9C834AFA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39112"/>
            <a:ext cx="2788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8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Any operator-disclosed batching multiple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582500C-2D2B-445E-97D9-8A0CFDF2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039112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1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Would have replaced our derived b(λ) with a reported one.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F0BFA3C-8A0B-48AF-B593-EC130A06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039112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Batching incidence is surveyed [12]; the multiple itself is not disclosed by any operator.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1FBA621-3961-47C1-BAC5-90F3643D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78024"/>
            <a:ext cx="832104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C249712-919F-4DCD-98E4-EC6C9CB3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537460"/>
            <a:ext cx="2788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8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Doorstep dwell time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098AB61-6C88-4003-ACBC-DA2DDF3A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537460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1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One of two unknowns in the trip identity. The other, batching, we solved.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5AD8FAE-C614-4022-B976-24626A82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537460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Measured in no public source. We test it across 0–0.5 km spread instead and show it is immaterial.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A6E1AB9-B16B-4630-A63E-B9E59E3C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76372"/>
            <a:ext cx="832104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689B94D-0A44-4338-98D0-1ECEADB2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035808"/>
            <a:ext cx="2788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8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Any vacation demand index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6C5B3B0-1B68-431E-BDC3-14CEDE60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035808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1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Would have replaced the 8–15% residual campus demand range with a curve.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44FB26E-4D1A-4B77-85F1-7FA2D1F5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035808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No Indian operator publishes seasonal demand by location type. Euromonitor has no education location type at all [14].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92E7FD9F-60F8-4465-819A-F0BE33FE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474720"/>
            <a:ext cx="832104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7A94A15A-B330-4BE0-94C5-73CDA3EE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534156"/>
            <a:ext cx="2788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8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Flipkart Minutes' own take rate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FA43C1F-3B76-4F16-8AFC-7F6443D6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534156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1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Would have removed our reliance on Blinkit's 19.41% as a proxy.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2D0BCB8C-B07D-4878-BA24-DE561AB2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534156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Not disclosed. We use the Blinkit figure and label it as a proxy everywhere it appears [8].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570C5C51-B1B9-407A-8431-2BF4A9E1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973068"/>
            <a:ext cx="832104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D39FBF8A-576F-4525-B82C-860B4A69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032504"/>
            <a:ext cx="2788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8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Campus-delivery contract text with a seasonal-abatement clause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BA7ACB58-6FB3-4CD1-9D34-639CF40E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4032504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1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Would have made the dormancy clause a precedent rather than a proposal.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E3134B57-1A13-4F69-A843-A935196F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032504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</a:pPr>
            <a:r>
              <a:rPr sz="620" b="0" i="0">
                <a:solidFill>
                  <a:srgbClr val="A9BEDF"/>
                </a:solidFill>
                <a:latin typeface="Calibri"/>
                <a:ea typeface="Calibri"/>
                <a:cs typeface="Calibri"/>
              </a:rPr>
              <a:t>UC Davis publishes the programme but not the agreement [16]. We propose the clause; we do not claim it exists.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B4C652AE-415E-46C5-AF1F-D1DDA124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471416"/>
            <a:ext cx="8321040" cy="5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tIns="9144" rIns="45720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B4868AF6-9A15-4FCC-A7CA-7CEF77B0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572000"/>
            <a:ext cx="8321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1" i="0">
                <a:solidFill>
                  <a:srgbClr val="FFC220"/>
                </a:solidFill>
                <a:latin typeface="Calibri"/>
                <a:ea typeface="Calibri"/>
                <a:cs typeface="Calibri"/>
              </a:rPr>
              <a:t>Seven gaps, named. Five of them are why A-3 still carries five assumptions.</a:t>
            </a:r>
          </a:p>
        </p:txBody>
      </p:sp>
    </p:spTree>
    <p:extLst>
      <p:ext uri="{BB962C8B-B14F-4D97-AF65-F5344CB8AC3E}">
        <p14:creationId xmlns:p14="http://schemas.microsoft.com/office/powerpoint/2010/main" val="1687689484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2026-08-29T19:42:28.7000000Z</dcterms:created>
  <dcterms:modified xsi:type="dcterms:W3CDTF">2026-08-29T19:42:28.7000000Z</dcterms:modified>
</coreProperties>
</file>