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5"/>
  </p:notesMasterIdLst>
  <p:sldIdLst>
    <p:sldId id="256" r:id="rId4"/>
    <p:sldId id="257" r:id="rId3"/>
    <p:sldId id="258" r:id="rId2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</p:sldIdLst>
  <p:sldSz cx="9144000" cy="5143500" type="screen16x9"/>
  <p:notesSz cx="6858000" cy="9144000"/>
  <p:embeddedFontLst>
    <p:embeddedFont>
      <p:font typeface="Inter" panose="02000503000000020004" pitchFamily="2" charset="0"/>
      <p:regular r:id="rId6"/>
      <p:bold r:id="rId7"/>
      <p:italic r:id="rId8"/>
      <p:boldItalic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432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15"/>
          <c:y val="0.055"/>
          <c:w val="0.87"/>
          <c:h val="0.7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ROCE, pre-tax</c:v>
                </c:pt>
              </c:strCache>
            </c:strRef>
          </c:tx>
          <c:dPt>
            <c:idx val="0"/>
            <c:spPr>
              <a:solidFill>
                <a:srgbClr val="DFE6F2"/>
              </a:solidFill>
              <a:ln>
                <a:noFill/>
              </a:ln>
            </c:spPr>
          </c:dPt>
          <c:dPt>
            <c:idx val="1"/>
            <c:spPr>
              <a:solidFill>
                <a:srgbClr val="B3261E"/>
              </a:solidFill>
              <a:ln>
                <a:noFill/>
              </a:ln>
            </c:spPr>
          </c:dPt>
          <c:dPt>
            <c:idx val="2"/>
            <c:spPr>
              <a:solidFill>
                <a:srgbClr val="0575E6"/>
              </a:solidFill>
              <a:ln>
                <a:noFill/>
              </a:ln>
            </c:spPr>
          </c:dPt>
          <c:dPt>
            <c:idx val="3"/>
            <c:spPr>
              <a:solidFill>
                <a:srgbClr val="157347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5A6785"/>
                        </a:solidFill>
                        <a:latin typeface="Calibri"/>
                      </a:rPr>
                      <a:t>-0.0%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B3261E"/>
                        </a:solidFill>
                        <a:latin typeface="Calibri"/>
                      </a:rPr>
                      <a:t>14.0%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0B1F3A"/>
                        </a:solidFill>
                        <a:latin typeface="Calibri"/>
                      </a:rPr>
                      <a:t>34.4%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157347"/>
                        </a:solidFill>
                        <a:latin typeface="Calibri"/>
                      </a:rPr>
                      <a:t>58.8%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underwritten
(breakeven)</c:v>
                </c:pt>
                <c:pt idx="1">
                  <c:v>basket 30%
volume -30%</c:v>
                </c:pt>
                <c:pt idx="2">
                  <c:v>basket 30%
non-grocery</c:v>
                </c:pt>
                <c:pt idx="3">
                  <c:v>basket 40%
non-grocery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</c:v>
                </c:pt>
                <c:pt idx="1">
                  <c:v>14.0</c:v>
                </c:pt>
                <c:pt idx="2">
                  <c:v>34.4</c:v>
                </c:pt>
                <c:pt idx="3">
                  <c:v>58.8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5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79456312"/>
        <c:axId val="33489208"/>
      </c:barChart>
      <c:catAx>
        <c:axId val="79456312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FE6F2"/>
            </a:solidFill>
          </a:ln>
        </c:spPr>
        <c:txPr>
          <a:bodyPr/>
          <a:lstStyle/>
          <a:p>
            <a:pPr>
              <a:defRPr sz="580">
                <a:solidFill>
                  <a:srgbClr val="0B1F3A"/>
                </a:solidFill>
                <a:latin typeface="Calibri"/>
              </a:defRPr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60.0"/>
          <c:min val="0.0"/>
        </c:scaling>
        <c:delete val="0"/>
        <c:axPos val="l"/>
        <c:majorGridlines>
          <c:spPr>
            <a:ln w="6350">
              <a:solidFill>
                <a:srgbClr val="DFE6F2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>
                <a:solidFill>
                  <a:srgbClr val="5A6785"/>
                </a:solidFill>
                <a:latin typeface="Calibri"/>
              </a:defRPr>
            </a:pPr>
          </a:p>
        </c:txPr>
        <c:crossAx val="79456312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95"/>
          <c:y val="0.045"/>
          <c:w val="0.56"/>
          <c:h val="0.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breakeven AOV</c:v>
                </c:pt>
              </c:strCache>
            </c:strRef>
          </c:tx>
          <c:dPt>
            <c:idx val="0"/>
            <c:spPr>
              <a:solidFill>
                <a:srgbClr val="5A6785"/>
              </a:solidFill>
              <a:ln>
                <a:noFill/>
              </a:ln>
            </c:spPr>
          </c:dPt>
          <c:dPt>
            <c:idx val="1"/>
            <c:spPr>
              <a:solidFill>
                <a:srgbClr val="5A6785"/>
              </a:solidFill>
              <a:ln>
                <a:noFill/>
              </a:ln>
            </c:spPr>
          </c:dPt>
          <c:dPt>
            <c:idx val="2"/>
            <c:spPr>
              <a:solidFill>
                <a:srgbClr val="5A6785"/>
              </a:solidFill>
              <a:ln>
                <a:noFill/>
              </a:ln>
            </c:spPr>
          </c:dPt>
          <c:dPt>
            <c:idx val="3"/>
            <c:spPr>
              <a:solidFill>
                <a:srgbClr val="B3261E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₹582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₹588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₹615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₹640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Fragmentation
SITE-SELECTABLE</c:v>
                </c:pt>
                <c:pt idx="1">
                  <c:v>Gig levy¹⁹
TABLED, NOT PASSED</c:v>
                </c:pt>
                <c:pt idx="2">
                  <c:v>Shrinkage
ALREADY NET OF IT</c:v>
                </c:pt>
                <c:pt idx="3">
                  <c:v>Volume −30%
THE UNKNOWN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582</c:v>
                </c:pt>
                <c:pt idx="1">
                  <c:v>588</c:v>
                </c:pt>
                <c:pt idx="2">
                  <c:v>615</c:v>
                </c:pt>
                <c:pt idx="3">
                  <c:v>640</c:v>
                </c:pt>
              </c:numCache>
            </c:numRef>
          </c:val>
        </c:ser>
        <c:dLbls>
          <c:numFmt formatCode="&quot;₹&quot;#,##0" sourceLinked="0"/>
          <c:txPr>
            <a:bodyPr/>
            <a:lstStyle/>
            <a:p>
              <a:pPr>
                <a:defRPr sz="60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79456312"/>
        <c:axId val="33489208"/>
      </c:barChart>
      <c:catAx>
        <c:axId val="79456312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520">
                <a:solidFill>
                  <a:srgbClr val="0B1F3A"/>
                </a:solidFill>
                <a:latin typeface="Calibri"/>
              </a:defRPr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780.0"/>
          <c:min val="560.0"/>
        </c:scaling>
        <c:delete val="0"/>
        <c:axPos val="b"/>
        <c:numFmt formatCode="&quot;₹&quot;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560">
                <a:solidFill>
                  <a:srgbClr val="5A6785"/>
                </a:solidFill>
                <a:latin typeface="Calibri"/>
              </a:defRPr>
            </a:pPr>
          </a:p>
        </c:txPr>
        <c:crossAx val="79456312"/>
        <c:crosses val="autoZero"/>
        <c:majorUnit val="4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the runner floor, 87/day</c:v>
                </c:pt>
              </c:strCache>
            </c:strRef>
          </c:tx>
          <c:spPr>
            <a:ln w="19050">
              <a:solidFill>
                <a:srgbClr val="FF9A8B"/>
              </a:solidFill>
            </a:ln>
          </c:spPr>
          <c:marker>
            <c:symbol val="circle"/>
            <c:size val="4"/>
            <c:spPr>
              <a:solidFill>
                <a:srgbClr val="FF9A8B"/>
              </a:solidFill>
              <a:ln>
                <a:solidFill>
                  <a:srgbClr val="FF9A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6.66</c:v>
                </c:pt>
                <c:pt idx="1">
                  <c:v>11.96</c:v>
                </c:pt>
                <c:pt idx="2">
                  <c:v>10.63</c:v>
                </c:pt>
                <c:pt idx="3">
                  <c:v>9.3</c:v>
                </c:pt>
                <c:pt idx="4">
                  <c:v>7.96</c:v>
                </c:pt>
                <c:pt idx="5">
                  <c:v>6.63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the store floor, 681/day</c:v>
                </c:pt>
              </c:strCache>
            </c:strRef>
          </c:tx>
          <c:spPr>
            <a:ln w="19050">
              <a:solidFill>
                <a:srgbClr val="A9BEDF"/>
              </a:solidFill>
            </a:ln>
          </c:spPr>
          <c:marker>
            <c:symbol val="circle"/>
            <c:size val="4"/>
            <c:spPr>
              <a:solidFill>
                <a:srgbClr val="A9BEDF"/>
              </a:solidFill>
              <a:ln>
                <a:solidFill>
                  <a:srgbClr val="A9BED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6.18</c:v>
                </c:pt>
                <c:pt idx="2">
                  <c:v>5.69</c:v>
                </c:pt>
                <c:pt idx="3">
                  <c:v>5.21</c:v>
                </c:pt>
                <c:pt idx="4">
                  <c:v>3.87</c:v>
                </c:pt>
                <c:pt idx="5">
                  <c:v>3.39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AT PLAN, one gate, 467/day</c:v>
                </c:pt>
              </c:strCache>
            </c:strRef>
          </c:tx>
          <c:spPr>
            <a:ln w="19050">
              <a:solidFill>
                <a:srgbClr val="FFC220"/>
              </a:solidFill>
            </a:ln>
          </c:spPr>
          <c:marker>
            <c:symbol val="circle"/>
            <c:size val="4"/>
            <c:spPr>
              <a:solidFill>
                <a:srgbClr val="FFC220"/>
              </a:solidFill>
              <a:ln>
                <a:solidFill>
                  <a:srgbClr val="FFC220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6.66</c:v>
                </c:pt>
                <c:pt idx="1">
                  <c:v>6.56</c:v>
                </c:pt>
                <c:pt idx="2">
                  <c:v>5.23</c:v>
                </c:pt>
                <c:pt idx="3">
                  <c:v>5.14</c:v>
                </c:pt>
                <c:pt idx="4">
                  <c:v>3.8</c:v>
                </c:pt>
                <c:pt idx="5">
                  <c:v>3.71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pooled upside, all 3 gates, 1,400/day</c:v>
                </c:pt>
              </c:strCache>
            </c:strRef>
          </c:tx>
          <c:spPr>
            <a:ln w="19050">
              <a:solidFill>
                <a:srgbClr val="7FD1AE"/>
              </a:solidFill>
            </a:ln>
          </c:spPr>
          <c:marker>
            <c:symbol val="circle"/>
            <c:size val="4"/>
            <c:spPr>
              <a:solidFill>
                <a:srgbClr val="7FD1AE"/>
              </a:solidFill>
              <a:ln>
                <a:solidFill>
                  <a:srgbClr val="7FD1A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6.66</c:v>
                </c:pt>
                <c:pt idx="1">
                  <c:v>6.15</c:v>
                </c:pt>
                <c:pt idx="2">
                  <c:v>5.23</c:v>
                </c:pt>
                <c:pt idx="3">
                  <c:v>4.72</c:v>
                </c:pt>
                <c:pt idx="4">
                  <c:v>3.8</c:v>
                </c:pt>
                <c:pt idx="5">
                  <c:v>2.88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2E5AA8"/>
            </a:solidFill>
          </a:ln>
        </c:spPr>
        <c:txPr>
          <a:bodyPr/>
          <a:lstStyle/>
          <a:p>
            <a:pPr>
              <a:defRPr sz="580">
                <a:solidFill>
                  <a:srgbClr val="A9BEDF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4.0"/>
          <c:min val="0.0"/>
        </c:scaling>
        <c:delete val="0"/>
        <c:axPos val="l"/>
        <c:majorGridlines>
          <c:spPr>
            <a:ln w="5080">
              <a:solidFill>
                <a:srgbClr val="2E5AA8"/>
              </a:solidFill>
            </a:ln>
          </c:spPr>
        </c:majorGridlines>
        <c:numFmt formatCode="&quot;₹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580">
                <a:solidFill>
                  <a:srgbClr val="A9BEDF"/>
                </a:solidFill>
                <a:latin typeface="Calibri"/>
              </a:defRPr>
            </a:pPr>
          </a:p>
        </c:txPr>
        <c:crossAx val="2118791784"/>
        <c:crosses val="autoZero"/>
        <c:majorUnit val="2.0"/>
      </c:valAx>
    </c:plotArea>
    <c:legend>
      <c:legendPos val="b"/>
      <c:layout/>
      <c:overlay val="0"/>
      <c:txPr>
        <a:bodyPr/>
        <a:lstStyle/>
        <a:p>
          <a:pPr>
            <a:defRPr sz="600">
              <a:solidFill>
                <a:srgbClr val="FFFFFF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620">
          <a:solidFill>
            <a:srgbClr val="A9BED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>
            <a:spLocks noGrp="1"/>
          </p:cNvSpPr>
          <p:nvPr>
            <p:ph type="title"/>
          </p:nvPr>
        </p:nvSpPr>
        <p:spPr>
          <a:xfrm>
            <a:off x="862225" y="471250"/>
            <a:ext cx="6373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Inter"/>
              <a:buChar char="●"/>
              <a:defRPr sz="2300" b="1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 b="1"/>
            </a:lvl2pPr>
            <a:lvl3pPr lvl="2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 b="1"/>
            </a:lvl3pPr>
            <a:lvl4pPr lvl="3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 b="1"/>
            </a:lvl4pPr>
            <a:lvl5pPr lvl="4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 b="1"/>
            </a:lvl5pPr>
            <a:lvl6pPr lvl="5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 b="1"/>
            </a:lvl6pPr>
            <a:lvl7pPr lvl="6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 b="1"/>
            </a:lvl7pPr>
            <a:lvl8pPr lvl="7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 b="1"/>
            </a:lvl8pPr>
            <a:lvl9pPr lvl="8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 b="1"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21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1">
  <p:cSld name="CAPTION_ONLY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1176475" y="2417100"/>
            <a:ext cx="6648300" cy="12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625475" y="920400"/>
            <a:ext cx="7893000" cy="36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4"/>
          <p:cNvSpPr txBox="1">
            <a:spLocks noGrp="1"/>
          </p:cNvSpPr>
          <p:nvPr>
            <p:ph type="title"/>
          </p:nvPr>
        </p:nvSpPr>
        <p:spPr>
          <a:xfrm>
            <a:off x="625475" y="920400"/>
            <a:ext cx="7893000" cy="36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  <a:defRPr sz="24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○"/>
              <a:defRPr sz="35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■"/>
              <a:defRPr sz="35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●"/>
              <a:defRPr sz="35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○"/>
              <a:defRPr sz="35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■"/>
              <a:defRPr sz="35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●"/>
              <a:defRPr sz="35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○"/>
              <a:defRPr sz="35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■"/>
              <a:defRPr sz="35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7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6" r:id="rId2"/>
    <p:sldLayoutId id="2147483657" r:id="rId3"/>
    <p:sldLayoutId id="2147483659" r:id="rId4"/>
    <p:sldLayoutId id="2147483660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ba25015-maker/flipkart-wired-x-campus-nod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hyperlink" Target="https://colab.research.google.com/github/mba25015-maker/flipkart-wired-x-campus-node/blob/main/notebooks/L1_Audit_Verification.ipynb" TargetMode="External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ocs.google.com/spreadsheets/d/1CEo9XOH5WeR8ZwHS0qF-ulBTGm0GlhUfNL8YzRGmyfM" TargetMode="External"/><Relationship Id="rId3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hyperlink" Target="https://colab.research.google.com/github/mba25015-maker/flipkart-wired-x-campus-node/blob/main/notebooks/L2_Dead_Zone_Solver.ipynb" TargetMode="External"/><Relationship Id="rId4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lab.research.google.com/github/mba25015-maker/flipkart-wired-x-campus-node/blob/main/notebooks/L5_Fulfilment_Model.ipynb" TargetMode="External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Relationship Id="rId3" Type="http://schemas.openxmlformats.org/officeDocument/2006/relationships/hyperlink" Target="https://colab.research.google.com/github/mba25015-maker/flipkart-wired-x-campus-node/blob/main/notebooks/L5_Fulfilment_Model.ipynb" TargetMode="External"/><Relationship Id="rId4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lab.research.google.com/github/mba25015-maker/flipkart-wired-x-campus-node/blob/main/notebooks/L5_Fulfilment_Model.ipynb" TargetMode="Externa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hyperlink" Target="https://colab.research.google.com/github/mba25015-maker/flipkart-wired-x-campus-node/blob/main/notebooks/L6_Basket_Regression.ipynb" TargetMode="External"/><Relationship Id="rId4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hyperlink" Target="https://colab.research.google.com/github/mba25015-maker/flipkart-wired-x-campus-node/blob/main/notebooks/L3_Return_Model.ipynb" TargetMode="External"/><Relationship Id="rId4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hyperlink" Target="https://colab.research.google.com/github/mba25015-maker/flipkart-wired-x-campus-node/blob/main/notebooks/L4_District_Screen.ipynb" TargetMode="External"/><Relationship Id="rId4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51760" y="3858768"/>
            <a:ext cx="38404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</a:pPr>
            <a:r>
              <a:rPr sz="2000" b="1" i="0">
                <a:solidFill>
                  <a:srgbClr val="0D1F5C"/>
                </a:solidFill>
                <a:latin typeface="Calibri"/>
              </a:rPr>
              <a:t>ANAVRIN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05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where does the cost case break?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Enter on a cluster-plus-catchment node: 94% of a city store's asset productivity, at a site chosen so the break is survivable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One node serves a 3–6 college cluster together with its adjacent non-student catchment. We price the academic calendar into where the node is sited rather than into how it is run. 90-day build, one pilot, ₹324 lakh of capital employed.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35024"/>
            <a:ext cx="2615184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595628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1595628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1 pilot node, 3–6 college cluster, non-metro Tier-1/2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1819656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UNDERWRITE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1819656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campus demand + ≥569/day uncontested adjacent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043684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FLEET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" y="2043684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gig to the gate, institution runner inside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2267712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2267712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dynamic batch, 6-min cap or 12 orders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491740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BREAK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2491740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repurpose the catchment; the node never closes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715768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2715768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go/no-go at day 90 on 4 instrumented metrics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958084"/>
            <a:ext cx="26151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Replicable across 111 districts on the same screen.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54680" y="1335024"/>
            <a:ext cx="274320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NOT A COST PROBLEM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1335024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54680" y="1604772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cost ladder moves the requirement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80" y="1604772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B3261E"/>
                </a:solidFill>
                <a:latin typeface="Calibri"/>
              </a:rPr>
              <a:t>70.8% → 48.6%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54680" y="1769364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54680" y="1801368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and stops, short of closing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1801368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B3261E"/>
                </a:solidFill>
                <a:latin typeface="Calibri"/>
              </a:rPr>
              <a:t>48.6 pts unfunded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54680" y="1965960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54680" y="1997964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dead-zone burn, no levers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1997964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₹31.6 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54680" y="2162556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54680" y="2194560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relocate instead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2194560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₹89 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2359151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54680" y="2391156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network basket vs required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4680" y="2391156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₹450 → ₹573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54680" y="2555747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54680" y="2587751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of the base that flexes at 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54680" y="2587751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71.2%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0" y="1335024"/>
            <a:ext cx="269748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A SITE-SELECTION PROBLEM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1335024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40" y="1604772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districts clearing the screen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1604772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111 of 765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1769364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0" y="1801368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asset turn, campus : city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40" y="1801368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6.93× / 7.34× = 0.944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35040" y="1965960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35040" y="1997964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across the observed range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0" y="1997964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0.90 – 1.00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2162556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35040" y="2194560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ROCE at a 30% non-grocery basket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35040" y="2194560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34.4%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2359151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5040" y="2391156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holding vs relocating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2391156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24% of one move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0" y="2555747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35040" y="2587751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screened for incumbent presence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0" y="2587751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9 clean · 22 contested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3200400"/>
            <a:ext cx="832104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THE ASK, AND WHAT IT RETURNS  ·  ONE NODE, FIVE-YEAR LIFE, EVERY FIGURE SOLVED FROM THE MODEL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0B1F3A"/>
                </a:solidFill>
                <a:latin typeface="Calibri"/>
              </a:rPr>
              <a:t>CAPITAL EMPLOYED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₹324 L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capex ₹235 L + working capital ₹89 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3355848"/>
            <a:ext cx="36576" cy="47548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491740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157347"/>
                </a:solidFill>
                <a:latin typeface="Calibri"/>
              </a:rPr>
              <a:t>ROCE, 30% BASKET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34.4%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and the 40% external benchmark at AOV ₹755, on a basket inside the 30–40% range Swiggy discloses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91740" y="3355848"/>
            <a:ext cx="36576" cy="475488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572000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157347"/>
                </a:solidFill>
                <a:latin typeface="Calibri"/>
              </a:rPr>
              <a:t>PAYBACK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25 mo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against a 56-month franchised-store benchmark¹¹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3355848"/>
            <a:ext cx="36576" cy="475488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652259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157347"/>
                </a:solidFill>
                <a:latin typeface="Calibri"/>
              </a:rPr>
              <a:t>IRR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34.4%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31%–35% across a 2–6 month ramp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52259" y="3355848"/>
            <a:ext cx="36576" cy="475488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1480" y="3858768"/>
            <a:ext cx="832104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0" i="1">
                <a:solidFill>
                  <a:srgbClr val="B3261E"/>
                </a:solidFill>
                <a:latin typeface="Calibri"/>
              </a:rPr>
              <a:t>LIMIT, COMPUTED: at a 30% basket with volume −30% the node returns 14.0% and pays back in 62 months — longer than its 60-month life. Volume is the day-90 gate.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4005072"/>
            <a:ext cx="8321040" cy="310896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A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64008" tIns="27432" bIns="27432"/>
          <a:lstStyle/>
          <a:p>
            <a:pPr algn="ctr">
              <a:lnSpc>
                <a:spcPct val="92000"/>
              </a:lnSpc>
            </a:pPr>
            <a:r>
              <a:rPr sz="620" b="1" i="0">
                <a:solidFill>
                  <a:srgbClr val="8A5F00"/>
                </a:solidFill>
                <a:latin typeface="Calibri"/>
              </a:rPr>
              <a:t>NOT FIRST   </a:t>
            </a:r>
            <a:r>
              <a:rPr sz="620" b="0" i="0">
                <a:solidFill>
                  <a:srgbClr val="0B1F3A"/>
                </a:solidFill>
                <a:latin typeface="Calibri"/>
              </a:rPr>
              <a:t>Swiggy: student rewards with college canteens and hostels, Toing (AOV &lt;₹200, ~50 cities), a Young India Skills University MoU²⁰˒²¹. Blinkit: in-airport with Adani at CSMIA²¹. Zepto: Express Prints ₹2/page, ~285 stores²¹. </a:t>
            </a:r>
            <a:r>
              <a:rPr sz="620" b="1" i="0">
                <a:solidFill>
                  <a:srgbClr val="0B1F3A"/>
                </a:solidFill>
                <a:latin typeface="Calibri"/>
              </a:rPr>
              <a:t>None of the three underwrites a node on the cluster itself.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Site the node on the cluster, price the break as a filter, </a:t>
            </a:r>
            <a:r>
              <a:rPr sz="800" b="1" i="0">
                <a:solidFill>
                  <a:srgbClr val="FFC220"/>
                </a:solidFill>
                <a:latin typeface="Calibri"/>
              </a:rPr>
              <a:t>and enter the 111 districts where both hold.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1,2,4,5,6,10,20,21  ·  every figure asserted in A1  ·  derivations A5–A7  ·  return model A6b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05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if we enter, what breaks?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Six in ten Indian colleges are rural and metros run 19% over sustainable capacity: a smaller market than it looks, and an emptier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Both figures come from institutional registers rather than demand forecasts. The first cuts our own addressable universe by 61%. The second is why we still recommend entry.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8321040" cy="402336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64008" tIns="27432" bIns="27432"/>
          <a:lstStyle/>
          <a:p>
            <a:pPr algn="ctr">
              <a:lnSpc>
                <a:spcPct val="93000"/>
              </a:lnSpc>
            </a:pPr>
            <a:r>
              <a:rPr sz="640" b="1" i="0">
                <a:solidFill>
                  <a:srgbClr val="B3261E"/>
                </a:solidFill>
                <a:latin typeface="Calibri"/>
              </a:rPr>
              <a:t>THE SEGMENT HAS ALREADY KILLED AN OPERATOR   </a:t>
            </a:r>
            <a:r>
              <a:rPr sz="660" b="0" i="0">
                <a:solidFill>
                  <a:srgbClr val="0B1F3A"/>
                </a:solidFill>
                <a:latin typeface="Calibri"/>
              </a:rPr>
              <a:t>Jun 2026: Starship Technologies exited ALL US higher education after 8 years and 60+ campuses, withdrawing ~1,200 robots¹⁵. CEO Ahti Heinla: </a:t>
            </a:r>
            <a:r>
              <a:rPr sz="660" b="0" i="1">
                <a:solidFill>
                  <a:srgbClr val="0B1F3A"/>
                </a:solidFill>
                <a:latin typeface="Calibri"/>
              </a:rPr>
              <a:t>“campus and grocery are fundamentally different operations: one is seasonal and contract-driven, the other is a 365-day urban business.” </a:t>
            </a:r>
            <a:r>
              <a:rPr sz="660" b="1" i="0">
                <a:solidFill>
                  <a:srgbClr val="0B1F3A"/>
                </a:solidFill>
                <a:latin typeface="Calibri"/>
              </a:rPr>
              <a:t>Starship lost 365-day utilisation to an 8.5-month calendar, the ratio quantified on slide 4. The campuses stayed served: Avride took them over on a national foodservice master agreement. The failure was in the contract shape, not in campus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28800"/>
            <a:ext cx="406908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UNIVERSE NARROWS   ·   AISHE REGISTER, 28-8-2026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828800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17" name="Picture 16" descr="universe_n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71115"/>
            <a:ext cx="4069080" cy="13036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3506724"/>
            <a:ext cx="4069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10" b="0" i="0">
                <a:solidFill>
                  <a:srgbClr val="5A6785"/>
                </a:solidFill>
                <a:latin typeface="Calibri"/>
              </a:rPr>
              <a:t>54,014 colleges → 21,000 urban (39.4%) → 17,805 urban and non-metro, of which 1,897 are urban high-propensity standalones. Register count [6], not the 2023-24 report count [7]; the two instruments are never mixed.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828800"/>
            <a:ext cx="406908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DENSIFICATION WALL   ·   ONE QUARTER OF ADDITIONS</a:t>
            </a:r>
          </a:p>
        </p:txBody>
      </p:sp>
      <p:pic>
        <p:nvPicPr>
          <p:cNvPr id="20" name="Picture 19" descr="metro_squee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187" y="2080260"/>
            <a:ext cx="3067585" cy="1417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63440" y="3515868"/>
            <a:ext cx="4069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10" b="0" i="0">
                <a:solidFill>
                  <a:srgbClr val="5A6785"/>
                </a:solidFill>
                <a:latin typeface="Calibri"/>
              </a:rPr>
              <a:t>900 stores bought 152 new pin codes — 5.9 per pin code, so nine in ten went where an operator already served. Of 6,693 stores across five operators, only 2,393 sit outside the metros. Store density per urban college: metro 1.35 against non-metro 0.13 — 10.0× headroom where the archetype actually sits.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913632"/>
            <a:ext cx="8321040" cy="347472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2000"/>
              </a:lnSpc>
            </a:pPr>
            <a:r>
              <a:rPr sz="630" b="1" i="0">
                <a:solidFill>
                  <a:srgbClr val="8A5F00"/>
                </a:solidFill>
                <a:latin typeface="Calibri"/>
              </a:rPr>
              <a:t>AND THE SEGMENT IS UNCOUNTED   </a:t>
            </a:r>
            <a:r>
              <a:rPr sz="630" b="0" i="0">
                <a:solidFill>
                  <a:srgbClr val="0B1F3A"/>
                </a:solidFill>
                <a:latin typeface="Calibri"/>
              </a:rPr>
              <a:t>Euromonitor's Indian consumer-foodservice taxonomy has no education or institutional location type, and its household typology has no hostel, PG or shared-student category — students fall into “Other”, never broken out¹⁴. In the standard dataset this micro-market is not small. It is absent.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913632"/>
            <a:ext cx="41148" cy="347472"/>
          </a:xfrm>
          <a:prstGeom prst="rect">
            <a:avLst/>
          </a:prstGeom>
          <a:solidFill>
            <a:srgbClr val="8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We narrow our own addressable market and still recommend entry.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The question is where, and at what return.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5,6,7,14,15  ·  full screen A7  ·  register vs report note A2  ·  the brief’s three segments priced, and which the base case underwrites, on A-5c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05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D1 · THE DEAD ZONE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if cost cannot close it, what does?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71.2% of the fixed base flexes, and flexing all of it still leaves the node needing 48.6% of term demand from a break that delivers none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Fixed base ₹902,000/month¹ — a Tier-1/2 store, confirmed from the rent band in the same report. Robust across that band: ₹871,000–₹917,500, width 5.2%.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2788920" cy="1024128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362456"/>
            <a:ext cx="262432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TWO LINES, ONE CONSTANT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499616"/>
            <a:ext cx="2624327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σ = 12 / m = 12 / 8.5 = 1.412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 calendar surcharge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r* = F_break / (30 · V · CM)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 at breakeven CM, r* = 1/σ = 70.8%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/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F fixed ₹/mo · V term orders/day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CM contribution ₹/order · m active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7744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0B1F3A"/>
                </a:solidFill>
                <a:latin typeface="Calibri"/>
              </a:rPr>
              <a:t>The do-nothing threshold is the calendar surcharge inverted. One constant, reached independently from two directions.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2706624"/>
            <a:ext cx="27889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WHAT THE BASE IS MADE OF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862072"/>
            <a:ext cx="670948" cy="182880"/>
          </a:xfrm>
          <a:prstGeom prst="rect">
            <a:avLst/>
          </a:prstGeom>
          <a:solidFill>
            <a:srgbClr val="8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24%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2428" y="2862072"/>
            <a:ext cx="1159473" cy="18288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42%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1901" y="2862072"/>
            <a:ext cx="155647" cy="182880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97549" y="2862072"/>
            <a:ext cx="802850" cy="182880"/>
          </a:xfrm>
          <a:prstGeom prst="rect">
            <a:avLst/>
          </a:prstGeom>
          <a:solidFill>
            <a:srgbClr val="5A67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29%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054096"/>
            <a:ext cx="67094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rent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428" y="3054096"/>
            <a:ext cx="1159473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staff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1901" y="3054096"/>
            <a:ext cx="155647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util.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97549" y="3054096"/>
            <a:ext cx="80285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19125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B3261E"/>
                </a:solidFill>
                <a:latin typeface="Calibri"/>
              </a:rPr>
              <a:t>‘Other fixed’ ₹259,660 (29%) is a residual we allocated from JM's blended ₹100/sqft line: the one allocated line in the stack, bracketed by the 5.2% band above, and it persists through the break.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1316736"/>
            <a:ext cx="251460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COST LADDER  ·  EVERY LEVER, PULLED IN ORDER OF SIZE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3756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30" name="Picture 29" descr="lever_ladder_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549908"/>
            <a:ext cx="2514600" cy="107272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337560" y="2775204"/>
            <a:ext cx="2514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We priced the cost answer first and to exhaustion: four levers, largest first, each on the same base. Together they cut the requirement 31% — 70.8% to 48.6% — and then stop. The shaded band is the residual no lever reaches.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3456432"/>
            <a:ext cx="278892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FLEX ENVELOPE  ·  WHAT MOVES, HOW FAST, AT WHAT COST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456432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69874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of the base that flexes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369874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157347"/>
                </a:solidFill>
                <a:latin typeface="Calibri"/>
              </a:rPr>
              <a:t>71.2%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803904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83590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truly fixed, flexes never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383590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B3261E"/>
                </a:solidFill>
                <a:latin typeface="Calibri"/>
              </a:rPr>
              <a:t>28.8%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941064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97306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notice to flex · lead to restore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97306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7 wks · 28 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078224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11022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cost to restore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11022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₹2.62 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310128"/>
            <a:ext cx="53949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EVERY LEVER, WITH ITS PRICE, ITS NOTICE PERIOD AND WHETHER IT COMES 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3465576"/>
            <a:ext cx="80924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LEVER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46804" y="3465576"/>
            <a:ext cx="917143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REQUIREMENT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63947" y="3465576"/>
            <a:ext cx="80924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CUTS IT BY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73191" y="3465576"/>
            <a:ext cx="593445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DEAD ZONE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6636" y="3465576"/>
            <a:ext cx="647395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NOTICE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14032" y="3465576"/>
            <a:ext cx="161848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REVERSIBLE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37560" y="3593591"/>
            <a:ext cx="5394960" cy="126187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37560" y="3607308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Labour flex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46804" y="3607308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70.8% → 59.1%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63947" y="3607308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+11.8 pp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73191" y="3607308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₹21.6 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6636" y="3607308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7 weeks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14032" y="3607308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157347"/>
                </a:solidFill>
                <a:latin typeface="Calibri"/>
              </a:rPr>
              <a:t>yes, on a 28-day rehire lead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37560" y="3742639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Cold rightsize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46804" y="3742639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59.1% → 57.0%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63947" y="3742639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+2.0 pp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73191" y="3742639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₹21.2 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6636" y="3742639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7 weeks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14032" y="3742639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157347"/>
                </a:solidFill>
                <a:latin typeface="Calibri"/>
              </a:rPr>
              <a:t>yes, capex already sunk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3864254"/>
            <a:ext cx="5394960" cy="126187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37560" y="3877970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Small format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46804" y="3877970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57.0% → 48.6%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63947" y="3877970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+8.4 pp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73191" y="3877970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₹18.5 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66636" y="3877970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at fit-out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14032" y="3877970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B3261E"/>
                </a:solidFill>
                <a:latin typeface="Calibri"/>
              </a:rPr>
              <a:t>no — chosen once, in W3–6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37560" y="4013301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Repurpose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46804" y="4013301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48.6% → 48.6%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63947" y="4013301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0.0 pp · demand-side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73191" y="4013301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₹0.0 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66636" y="4013301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10 days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14032" y="4013301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157347"/>
                </a:solidFill>
                <a:latin typeface="Calibri"/>
              </a:rPr>
              <a:t>yes, radius and SKU swap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37560" y="4169663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40" b="0" i="0">
                <a:solidFill>
                  <a:srgbClr val="5A6785"/>
                </a:solidFill>
                <a:latin typeface="Calibri"/>
              </a:rPr>
              <a:t>Three of the four reverse, and the one that does not is a fit-out decision taken before the node opens, so no lever locks the node in mid-season. Notice periods come from the 7-week wind-down rule and the A-4 playbook triggers.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989320" y="1316736"/>
            <a:ext cx="274320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SOLVER   ·   BEST = REPURPOSE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989320" y="1559052"/>
            <a:ext cx="2743200" cy="1481328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62472" y="1613916"/>
            <a:ext cx="2615184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70" b="1" i="0">
                <a:solidFill>
                  <a:srgbClr val="0B1F3A"/>
                </a:solidFill>
                <a:latin typeface="Consolas"/>
              </a:rPr>
              <a:t>minimise dead-zone cash burn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s.t. reactivation lead ≥ 28 d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SLA avg ≤ 27.1 min at peak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revocation ≥ 513 orders/day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no calendar-indexed lease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7-week wind-down rule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/>
            </a:r>
          </a:p>
          <a:p>
            <a:pPr>
              <a:lnSpc>
                <a:spcPct val="102000"/>
              </a:lnSpc>
            </a:pPr>
            <a:r>
              <a:rPr sz="570" b="1" i="0">
                <a:solidFill>
                  <a:srgbClr val="0B1F3A"/>
                </a:solidFill>
                <a:latin typeface="Consolas"/>
              </a:rPr>
              <a:t>STRATEGY        ₹ 3.5mo   RESID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DO_NOTHING     31.6 L    70.8%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LABOUR_FLEX    21.6 L    59.1%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COLD_RIGHTSIZE 21.2 L    57.0%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SMALL_FORMAT   18.5 L    48.6%</a:t>
            </a:r>
          </a:p>
          <a:p>
            <a:pPr>
              <a:lnSpc>
                <a:spcPct val="102000"/>
              </a:lnSpc>
            </a:pPr>
            <a:r>
              <a:rPr sz="570" b="1" i="0">
                <a:solidFill>
                  <a:srgbClr val="0B1F3A"/>
                </a:solidFill>
                <a:latin typeface="Consolas"/>
              </a:rPr>
              <a:t>REPURPOSE*      0.0 L    48.6%  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30769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* Not a cost configuration: it runs the small-format base and fills 48.6% from adjacent catchment. Residual campus population supplies only 8–15%.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Cost levers are exhausted at 48.6% and a break delivers zero. </a:t>
            </a:r>
            <a:r>
              <a:rPr sz="800" b="1" i="0">
                <a:solidFill>
                  <a:srgbClr val="FFC220"/>
                </a:solidFill>
                <a:latin typeface="Calibri"/>
              </a:rPr>
              <a:t>The gap has to be filled by demand — which makes it a siting decision, not an operating one.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1,11,17,18  ·  last mile ₹17.6/order derived on slide 6  ·  solver and constraints A4  ·  fixed-base derivation A5  ·  Physicswallah ~850bps calendar swing [11]; Kambli 2020 labour-beats-capital [18]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so which sites supply the density?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Density buys back the calendar: 6.93× against a city store's 7.34× — and the node clears the 40% external ROCE benchmark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Asset turn is the turnover leg of ROCE. The campus node clears that leg at 94% of a city store; the margin leg is what the basket lever has to buy. Two legs, one identity, in the external benchmark's metric.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4937760" cy="512064"/>
          </a:xfrm>
          <a:prstGeom prst="roundRect">
            <a:avLst>
              <a:gd name="adj" fmla="val 8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0B1F3A"/>
                </a:solidFill>
                <a:latin typeface="Calibri"/>
              </a:rPr>
              <a:t>(1,400 / 1,050) × (8.5 / 12)  =  </a:t>
            </a:r>
            <a:r>
              <a:rPr sz="1100" b="1" i="0">
                <a:solidFill>
                  <a:srgbClr val="157347"/>
                </a:solidFill>
                <a:latin typeface="Calibri"/>
              </a:rPr>
              <a:t>1.333</a:t>
            </a:r>
            <a:r>
              <a:rPr sz="1100" b="1" i="0">
                <a:solidFill>
                  <a:srgbClr val="0B1F3A"/>
                </a:solidFill>
                <a:latin typeface="Calibri"/>
              </a:rPr>
              <a:t> × </a:t>
            </a:r>
            <a:r>
              <a:rPr sz="1100" b="1" i="0">
                <a:solidFill>
                  <a:srgbClr val="B3261E"/>
                </a:solidFill>
                <a:latin typeface="Calibri"/>
              </a:rPr>
              <a:t>0.708</a:t>
            </a:r>
            <a:r>
              <a:rPr sz="1100" b="1" i="0">
                <a:solidFill>
                  <a:srgbClr val="0B1F3A"/>
                </a:solidFill>
                <a:latin typeface="Calibri"/>
              </a:rPr>
              <a:t>  =  </a:t>
            </a:r>
            <a:r>
              <a:rPr sz="1500" b="1" i="0">
                <a:solidFill>
                  <a:srgbClr val="8A5F00"/>
                </a:solidFill>
                <a:latin typeface="Calibri"/>
              </a:rPr>
              <a:t>0.944</a:t>
            </a:r>
          </a:p>
          <a:p>
            <a:pPr algn="ctr"/>
            <a:r>
              <a:rPr sz="600" b="1" i="0">
                <a:solidFill>
                  <a:srgbClr val="157347"/>
                </a:solidFill>
                <a:latin typeface="Calibri"/>
              </a:rPr>
              <a:t>density </a:t>
            </a:r>
            <a:r>
              <a:rPr sz="600" b="0" i="0">
                <a:solidFill>
                  <a:srgbClr val="5A6785"/>
                </a:solidFill>
                <a:latin typeface="Calibri"/>
              </a:rPr>
              <a:t>+33.3%    </a:t>
            </a:r>
            <a:r>
              <a:rPr sz="600" b="1" i="0">
                <a:solidFill>
                  <a:srgbClr val="B3261E"/>
                </a:solidFill>
                <a:latin typeface="Calibri"/>
              </a:rPr>
              <a:t>calendar </a:t>
            </a:r>
            <a:r>
              <a:rPr sz="600" b="0" i="0">
                <a:solidFill>
                  <a:srgbClr val="5A6785"/>
                </a:solidFill>
                <a:latin typeface="Calibri"/>
              </a:rPr>
              <a:t>−29.2%    </a:t>
            </a:r>
            <a:r>
              <a:rPr sz="600" b="1" i="0">
                <a:solidFill>
                  <a:srgbClr val="0B1F3A"/>
                </a:solidFill>
                <a:latin typeface="Calibri"/>
              </a:rPr>
              <a:t>dead zone costs </a:t>
            </a:r>
            <a:r>
              <a:rPr sz="600" b="0" i="0">
                <a:solidFill>
                  <a:srgbClr val="5A6785"/>
                </a:solidFill>
                <a:latin typeface="Calibri"/>
              </a:rPr>
              <a:t>5.6 points of asset productivity once density offsets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883664"/>
            <a:ext cx="49377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IF 1,400 ORDERS/DAY IS WRONG  ·  THE RATIO IS LINEAR IN THROUGHPUT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1,000/day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0B1F3A"/>
                </a:solidFill>
                <a:latin typeface="Calibri"/>
              </a:rPr>
              <a:t>0.675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1,200/day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0B1F3A"/>
                </a:solidFill>
                <a:latin typeface="Calibri"/>
              </a:rPr>
              <a:t>0.810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036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FFFFFF"/>
                </a:solidFill>
                <a:latin typeface="Calibri"/>
              </a:rPr>
              <a:t>1,400/day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FFFFFF"/>
                </a:solidFill>
                <a:latin typeface="Calibri"/>
              </a:rPr>
              <a:t>0.944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1,482/day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8A5F00"/>
                </a:solidFill>
                <a:latin typeface="Calibri"/>
              </a:rPr>
              <a:t>1.000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4323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5A6785"/>
                </a:solidFill>
                <a:latin typeface="Calibri"/>
              </a:rPr>
              <a:t>Blinkit's own observed nine-quarter range is 1,334–1,487 orders/day². Across all of it the node runs 0.90–1.00. Parity needs 1,482/day = q_city × σ, which is 99.7% of the observed maximum. At 1,000/day the ratio is 0.67 and the density argument weakens.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798064"/>
            <a:ext cx="4937760" cy="841248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" y="2843784"/>
            <a:ext cx="47731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THE IDENTITY THE BENCHMARK IS SET 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2980944"/>
            <a:ext cx="477316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ROCE = EBIT/CE = (EBIT/NOV) × (NOV/CE)   [DuPont]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                margin leg   turnover leg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     = 4.74% × 8.44× = 40%  at AOV ₹755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AOV* = (ROCE·CE + F·12)/(τ·N) + c/τ    closed form, no 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1316736"/>
            <a:ext cx="320040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ROCE BY SCENARIO   ·   AGAINST ETERNAL'S OWN HURDLE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5532120" y="1568196"/>
          <a:ext cx="3200400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6" name="Connector 25"/>
          <p:cNvCxnSpPr/>
          <p:nvPr/>
        </p:nvCxnSpPr>
        <p:spPr>
          <a:xfrm>
            <a:off x="5900166" y="1968550"/>
            <a:ext cx="2784347" cy="0"/>
          </a:xfrm>
          <a:prstGeom prst="line">
            <a:avLst/>
          </a:prstGeom>
          <a:ln w="15875">
            <a:solidFill>
              <a:srgbClr val="FFC22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918453" y="1845106"/>
            <a:ext cx="146304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B57F00"/>
                </a:solidFill>
                <a:latin typeface="Calibri"/>
              </a:rPr>
              <a:t>hurdle 40%  ·  Eternal, Jan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291236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AOV for ROCE = 0 (breakeven)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291236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₹571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32120" y="306324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309524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AOV for the 40% hurdle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309524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₹755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324612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327812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premium over breakeven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327812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B3261E"/>
                </a:solidFill>
                <a:latin typeface="Calibri"/>
              </a:rPr>
              <a:t>₹184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32120" y="342900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2120" y="346100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non-grocery mix it implies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346100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32.3% of GOV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32120" y="361188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2120" y="364388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vs the disclosed 30–40% 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364388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30–40%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3712463"/>
            <a:ext cx="4937760" cy="530352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3000"/>
              </a:lnSpc>
            </a:pPr>
            <a:r>
              <a:rPr sz="590" b="1" i="0">
                <a:solidFill>
                  <a:srgbClr val="B3261E"/>
                </a:solidFill>
                <a:latin typeface="Calibri"/>
              </a:rPr>
              <a:t>TWO ASSET TURNS, BOTH CORRECT — ALWAYS QUOTE THE BASIS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The 6.93× above is a like-for-like comparison at a COMMON AOV (₹450), which is what isolates density × calendar. The DuPont leg (8.44×) is the node's own turnover at its achieved AOV on capital employed including working capital. Quoting either without its basis throughout, which is why the two figures reconcile.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Breakeven was never the hurdle.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₹571 earns zero on ₹324 lakh; ₹755 earns 40%, and the site supplies the throughput either figure needs.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1,2,4,8,10,11  ·  ROCE model and DuPont reconciliation A6b  ·  throughput sensitivity A6  ·  capital build A5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SITE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can we operate inside a gate?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The calendar becomes a filter: 569 orders/day of uncontested adjacent demand, 111 districts of 765 — and we disqualified 72% of our own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The filter binds on access revocation (513/day), not on break-period solvency (471/day), so it is set at the higher of the two. A node that survives losing the campus survives the break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2788920" cy="969264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362456"/>
            <a:ext cx="262432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THE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499616"/>
            <a:ext cx="262432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D_adj ≥ max(D_solvency, D_revocation) / (1−κ)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κ = contested share of the adjacent catchment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κ=0%   → 569/day      κ=25% → 758/day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κ=10%  → 632/day      κ=44% → 1,015/day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/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7-WEEK RULE, derived:  21d + 28d = 49d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22576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5A6785"/>
                </a:solidFill>
                <a:latin typeface="Calibri"/>
              </a:rPr>
              <a:t>Only the METRO five-operator overlap (44%) is published⁵, so the requirement is a band and we quote the band. Wind-down (T−21d) and ramp-up (28d) collide below 7 weeks, so a shorter break segment cannot be wound down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1316736"/>
            <a:ext cx="260604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SCREEN, AND THEN OUR OWN LIST</a:t>
            </a:r>
          </a:p>
        </p:txBody>
      </p:sp>
      <p:pic>
        <p:nvPicPr>
          <p:cNvPr id="19" name="Picture 18" descr="district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559052"/>
            <a:ext cx="2606040" cy="9737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37560" y="256032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765 → 111 on four criteria, then screened for incumbent presence: 9 uncontested, 22 contested, 80 stacked.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1316736"/>
            <a:ext cx="265176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RANKED CANDIDATES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1568196"/>
            <a:ext cx="106070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DISTRICT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1464" y="1568196"/>
            <a:ext cx="79552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6992" y="1568196"/>
            <a:ext cx="39776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URB COL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4756" y="1568196"/>
            <a:ext cx="39776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INCUMB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1696212"/>
            <a:ext cx="265176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1709928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Khordha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1464" y="1709928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Odisha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36992" y="1709928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4756" y="1709928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1879092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Kalaburagi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41464" y="1879092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Karnataka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36992" y="187909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229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4756" y="187909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31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2034540"/>
            <a:ext cx="265176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0482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Belagavi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41464" y="2048256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Karnataka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36992" y="2048256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190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4756" y="2048256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22174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Visakhapatnam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41464" y="2217420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Andhra Prad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6992" y="2217420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4756" y="2217420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18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2372868"/>
            <a:ext cx="265176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2386584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Dharwad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41464" y="2386584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Karnataka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36992" y="2386584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4756" y="2386584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2615184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0B1F3A"/>
                </a:solidFill>
                <a:latin typeface="Calibri"/>
              </a:rPr>
              <a:t>CONVERGENCE: Karnataka and Odisha were chosen at state level off residential intensity and hostel occupancy. The district register, pulled later from a different table, first. Two tables, pulled at different times, agreeing.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2944368"/>
            <a:ext cx="4754880" cy="658368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4000"/>
              </a:lnSpc>
            </a:pPr>
            <a:r>
              <a:rPr sz="590" b="1" i="0">
                <a:solidFill>
                  <a:srgbClr val="B3261E"/>
                </a:solidFill>
                <a:latin typeface="Calibri"/>
              </a:rPr>
              <a:t>WHAT THIS FLAG CANNOT DO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Expected incumbent stores = urban colleges × non-metro store density, so ‘uncontested’ is arithmetically ‘6–7 urban colleges’: the 9 clean districts are the 9 smallest, sitting on the screen's own floor. The flag ranks candidates; siting still runs the cluster test. Contestedness and cluster density trade off directly — there is no large empty district, and the plan does not need one: </a:t>
            </a:r>
            <a:r>
              <a:rPr sz="590" b="1" i="0">
                <a:solidFill>
                  <a:srgbClr val="0B1F3A"/>
                </a:solidFill>
                <a:latin typeface="Calibri"/>
              </a:rPr>
              <a:t>campus demand inside the gate is uncontested by construction, and what this screen prices is the adjacent half.</a:t>
            </a:r>
          </a:p>
          <a:p>
            <a:pPr>
              <a:lnSpc>
                <a:spcPct val="94000"/>
              </a:lnSpc>
            </a:pPr>
            <a:r>
              <a:rPr sz="570" b="0" i="1">
                <a:solidFill>
                  <a:srgbClr val="5A6785"/>
                </a:solidFill>
                <a:latin typeface="Calibri"/>
              </a:rPr>
              <a:t>The register also carries no enrolment⁶, so district student counts are imputed off state ratios⁷ and labelled as such.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2944368"/>
            <a:ext cx="3383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CALENDAR SHAPE  ·  WHY THE 7-WEEK CONDITION SITS IN THE FILTER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49240" y="308152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Contiguous (model's current as  ·  100% wind-downable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9240" y="308152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₹21.3 L   +0%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3186684"/>
            <a:ext cx="33832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49240" y="321868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Typical  ·  53% wind-downable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9240" y="321868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5A6785"/>
                </a:solidFill>
                <a:latin typeface="Calibri"/>
              </a:rPr>
              <a:t>₹27.5 L   +29%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3323844"/>
            <a:ext cx="33832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9240" y="335584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Fragmented  ·  0% wind-downable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49240" y="335584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₹31.6 L   +49%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49240" y="3461003"/>
            <a:ext cx="33832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40" y="349300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Semester system, one long summ  ·  72% wind-downable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49240" y="349300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5A6785"/>
                </a:solidFill>
                <a:latin typeface="Calibri"/>
              </a:rPr>
              <a:t>₹24.9 L   +17%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3657600"/>
            <a:ext cx="3383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" b="0" i="1">
                <a:solidFill>
                  <a:srgbClr val="5A6785"/>
                </a:solidFill>
                <a:latin typeface="Calibri"/>
              </a:rPr>
              <a:t>Priced in full on A-7b.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3657600"/>
            <a:ext cx="832104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THE SCREEN, DRAWN  ·  EVERY STEP IS A REGISTER FIELD, NOT A JUDGEMENT</a:t>
            </a:r>
          </a:p>
        </p:txBody>
      </p:sp>
      <p:sp>
        <p:nvSpPr>
          <p:cNvPr id="66" name="Chevron 65"/>
          <p:cNvSpPr/>
          <p:nvPr/>
        </p:nvSpPr>
        <p:spPr>
          <a:xfrm>
            <a:off x="411480" y="3794760"/>
            <a:ext cx="1700784" cy="274320"/>
          </a:xfrm>
          <a:prstGeom prst="chevron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0B1F3A"/>
                </a:solidFill>
                <a:latin typeface="Calibri"/>
              </a:rPr>
              <a:t>72,352  </a:t>
            </a:r>
            <a:r>
              <a:rPr sz="540" b="0" i="0">
                <a:solidFill>
                  <a:srgbClr val="0B1F3A"/>
                </a:solidFill>
                <a:latin typeface="Calibri"/>
              </a:rPr>
              <a:t>institutions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AISHE register</a:t>
            </a:r>
          </a:p>
        </p:txBody>
      </p:sp>
      <p:sp>
        <p:nvSpPr>
          <p:cNvPr id="68" name="Chevron 67"/>
          <p:cNvSpPr/>
          <p:nvPr/>
        </p:nvSpPr>
        <p:spPr>
          <a:xfrm>
            <a:off x="2057400" y="3794760"/>
            <a:ext cx="1700784" cy="274320"/>
          </a:xfrm>
          <a:prstGeom prst="chevron">
            <a:avLst/>
          </a:prstGeom>
          <a:solidFill>
            <a:srgbClr val="BD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0B1F3A"/>
                </a:solidFill>
                <a:latin typeface="Calibri"/>
              </a:rPr>
              <a:t>54,014  </a:t>
            </a:r>
            <a:r>
              <a:rPr sz="540" b="0" i="0">
                <a:solidFill>
                  <a:srgbClr val="0B1F3A"/>
                </a:solidFill>
                <a:latin typeface="Calibri"/>
              </a:rPr>
              <a:t>colleges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4884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colleges only</a:t>
            </a:r>
          </a:p>
        </p:txBody>
      </p:sp>
      <p:sp>
        <p:nvSpPr>
          <p:cNvPr id="70" name="Chevron 69"/>
          <p:cNvSpPr/>
          <p:nvPr/>
        </p:nvSpPr>
        <p:spPr>
          <a:xfrm>
            <a:off x="3703320" y="3794760"/>
            <a:ext cx="1700784" cy="274320"/>
          </a:xfrm>
          <a:prstGeom prst="chevron">
            <a:avLst/>
          </a:prstGeom>
          <a:solidFill>
            <a:srgbClr val="869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21,000  </a:t>
            </a:r>
            <a:r>
              <a:rPr sz="540" b="0" i="0">
                <a:solidFill>
                  <a:srgbClr val="FFFFFF"/>
                </a:solidFill>
                <a:latin typeface="Calibri"/>
              </a:rPr>
              <a:t>urban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94759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urban flag</a:t>
            </a:r>
          </a:p>
        </p:txBody>
      </p:sp>
      <p:sp>
        <p:nvSpPr>
          <p:cNvPr id="72" name="Chevron 71"/>
          <p:cNvSpPr/>
          <p:nvPr/>
        </p:nvSpPr>
        <p:spPr>
          <a:xfrm>
            <a:off x="5349240" y="3794760"/>
            <a:ext cx="1700784" cy="274320"/>
          </a:xfrm>
          <a:prstGeom prst="chevron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111  </a:t>
            </a:r>
            <a:r>
              <a:rPr sz="540" b="0" i="0">
                <a:solidFill>
                  <a:srgbClr val="FFFFFF"/>
                </a:solidFill>
                <a:latin typeface="Calibri"/>
              </a:rPr>
              <a:t>districts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4068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four criteria</a:t>
            </a:r>
          </a:p>
        </p:txBody>
      </p:sp>
      <p:sp>
        <p:nvSpPr>
          <p:cNvPr id="74" name="Chevron 73"/>
          <p:cNvSpPr/>
          <p:nvPr/>
        </p:nvSpPr>
        <p:spPr>
          <a:xfrm>
            <a:off x="6995160" y="3794760"/>
            <a:ext cx="1700784" cy="274320"/>
          </a:xfrm>
          <a:prstGeom prst="chevron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0B1F3A"/>
                </a:solidFill>
                <a:latin typeface="Calibri"/>
              </a:rPr>
              <a:t>2  </a:t>
            </a:r>
            <a:r>
              <a:rPr sz="540" b="0" i="0">
                <a:solidFill>
                  <a:srgbClr val="0B1F3A"/>
                </a:solidFill>
                <a:latin typeface="Calibri"/>
              </a:rPr>
              <a:t>districts, 6 sites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8660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cluster test, W1–2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Site chosen, break survivable, revocation hedged.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Now the node has to run inside a gate that an incumbent cannot pass.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5,6,7  ·  111-district screen A7  ·  fragmentation A7b  ·  revocation and solvency thresholds A4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0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OPERATING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does it clear the hurdle?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Gate batching cuts last mile from ₹42 to ₹17.6 an order while modelled SLA stays within 27.1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Cost per order is lowest at exam-night peak, and the fastest state is average demand, not peak: speed and cost are different curves. We treat the fleet as a labour class and the SLA as a batching rule, and together they produce the ₹17.6 per order that slide 3 depends 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362456"/>
            <a:ext cx="262432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TRIP AND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499616"/>
            <a:ext cx="26243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t_trip = 2·(d/v) + b·τ         trip minutes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C/order = (w/60)·t_trip / b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city leg   w = ₹168/ACTIVE hr   (gig)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gate leg   w = ₹72/ROSTERED hr  (employed)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  ratio 2.33× ; on UBS's anchor 1.60×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b(λ) = min(K, ⌈λ·W/60⌉)   W=6 min, K=12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Little's Law  L = λ·W  on the gate queue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45059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0B1F3A"/>
                </a:solidFill>
                <a:latin typeface="Calibri"/>
              </a:rPr>
              <a:t>Cost per order falls linearly in batch and rises linearly in the wage of the class serving the leg. Only the in-gate leg can change that class, so the gate is the decision and the vehicle follows from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2852928"/>
            <a:ext cx="27889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LABOUR CLASS  ·  FIVE COSTED PARAMETERS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008376"/>
            <a:ext cx="117134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CLASS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2826" y="3008376"/>
            <a:ext cx="36255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FIX/d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5386" y="3008376"/>
            <a:ext cx="41833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₹/ord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3724" y="3008376"/>
            <a:ext cx="41833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₹/hr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2062" y="3008376"/>
            <a:ext cx="41833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UTIL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136391"/>
            <a:ext cx="2788920" cy="123443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150108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GIG · city leg, to the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2826" y="3150108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5386" y="3150108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0B1F3A"/>
                </a:solidFill>
                <a:latin typeface="Calibri"/>
              </a:rPr>
              <a:t>42.06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3724" y="3150108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168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2062" y="3150108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40%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3282696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GIG · JM non-metro anchor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2826" y="3282696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45386" y="3282696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0B1F3A"/>
                </a:solidFill>
                <a:latin typeface="Calibri"/>
              </a:rPr>
              <a:t>43.96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63724" y="3282696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176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2062" y="3282696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36%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401568"/>
            <a:ext cx="2788920" cy="123443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415284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GIG · same in-gate leg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2826" y="3415284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5386" y="3415284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0B1F3A"/>
                </a:solidFill>
                <a:latin typeface="Calibri"/>
              </a:rPr>
              <a:t>6.66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63724" y="3415284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168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2062" y="3415284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547872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RUNNER · in-gate, at capacity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82826" y="3547872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45386" y="3547872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2.85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63724" y="3547872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82062" y="3547872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3730752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store floor · 48.6% of term volume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" y="3730752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681/day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831335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3863339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runner floor · below it the gate is gig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" y="3863339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8A5F00"/>
                </a:solidFill>
                <a:latin typeface="Calibri"/>
              </a:rPr>
              <a:t>87/day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4032504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70" b="0" i="0">
                <a:solidFill>
                  <a:srgbClr val="5A6785"/>
                </a:solidFill>
                <a:latin typeface="Calibri"/>
              </a:rPr>
              <a:t>Rows 3 and 4 are the SAME leg, like-for-like. The 87/day threshold and the per-gate roster at plan (2 runners at each of 3 gates, 6 in all) are solved against every alternative mix on A-5b, where pooling is priced as an upside.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337560" y="1316736"/>
            <a:ext cx="265176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SLA  ·  BATCH WAIT FALLS AS DEMAND RISES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1577340"/>
            <a:ext cx="74249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STATE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80052" y="1577340"/>
            <a:ext cx="50383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ORD/HR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83887" y="1577340"/>
            <a:ext cx="39776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BATCH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81651" y="1577340"/>
            <a:ext cx="45079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SLA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32450" y="1577340"/>
            <a:ext cx="55686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₹/ORD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1705356"/>
            <a:ext cx="265176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37560" y="171907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0" i="0">
                <a:solidFill>
                  <a:srgbClr val="5A6785"/>
                </a:solidFill>
                <a:latin typeface="Calibri"/>
              </a:rPr>
              <a:t>Trough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80052" y="171907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5A6785"/>
                </a:solidFill>
                <a:latin typeface="Calibri"/>
              </a:rPr>
              <a:t>6.5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83887" y="171907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5A6785"/>
                </a:solidFill>
                <a:latin typeface="Calibr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81651" y="171907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5A6785"/>
                </a:solidFill>
                <a:latin typeface="Calibri"/>
              </a:rPr>
              <a:t>25.7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32450" y="171907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B3261E"/>
                </a:solidFill>
                <a:latin typeface="Calibri"/>
              </a:rPr>
              <a:t>54.5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37560" y="187909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0" i="0">
                <a:solidFill>
                  <a:srgbClr val="0B1F3A"/>
                </a:solidFill>
                <a:latin typeface="Calibri"/>
              </a:rPr>
              <a:t>Average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80052" y="187909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0B1F3A"/>
                </a:solidFill>
                <a:latin typeface="Calibri"/>
              </a:rPr>
              <a:t>25.9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83887" y="187909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81651" y="187909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0B1F3A"/>
                </a:solidFill>
                <a:latin typeface="Calibri"/>
              </a:rPr>
              <a:t>21.6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32450" y="187909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29.0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37560" y="2025395"/>
            <a:ext cx="265176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37560" y="203911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Peak 4×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080052" y="203911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103.7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83887" y="203911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81651" y="203911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27.1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32450" y="203911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157347"/>
                </a:solidFill>
                <a:latin typeface="Calibri"/>
              </a:rPr>
              <a:t>8.5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7560" y="219913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Exam 6×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80052" y="219913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155.6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83887" y="219913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81651" y="219913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27.1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32450" y="219913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157347"/>
                </a:solidFill>
                <a:latin typeface="Calibri"/>
              </a:rPr>
              <a:t>7.6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37560" y="23088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A 4× spike needs 1.4× the runners, because batch size absorbs it before headcount does. 62.7% of orders fall in the peak band, which is why the volume-weighted cost is ₹17.6 and not the ₹29.0 an average-hour calculation gives. The in-gate leg is FLAT at ₹3.36 across all four states, because a rostered runner is paid whether volume arrives or not: every rupee of the swing is the gig city leg.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37560" y="2802636"/>
            <a:ext cx="26517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MODE  ·  IN-GATE ₹/ORDER BY BATCH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37560" y="2958084"/>
            <a:ext cx="121980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MODE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57369" y="2958084"/>
            <a:ext cx="47731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n=1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34686" y="2958084"/>
            <a:ext cx="47731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n=3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2003" y="2958084"/>
            <a:ext cx="47731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n=12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337560" y="3086100"/>
            <a:ext cx="2651760" cy="141732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337560" y="3099816"/>
            <a:ext cx="121980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Petrol 2W (incumbent)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57369" y="3099816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28.3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34686" y="3099816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14.0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12003" y="3099816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37560" y="3250692"/>
            <a:ext cx="121980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Cycle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57369" y="3250692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18.6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34686" y="3250692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8.4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12003" y="3250692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37560" y="3387852"/>
            <a:ext cx="2651760" cy="141732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37560" y="3401568"/>
            <a:ext cx="121980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E-cart, stationed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57369" y="3401568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15.4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34686" y="3401568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12003" y="3401568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157347"/>
                </a:solidFill>
                <a:latin typeface="Calibri"/>
              </a:rPr>
              <a:t>4.1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26480" y="1316736"/>
            <a:ext cx="260604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PARTNERSHIP  ·  PRECEDENT AND SCOPE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12648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26480" y="1586484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UC Davis, per package¹⁶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126480" y="1586484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$2.00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26480" y="1741932"/>
            <a:ext cx="260604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126480" y="1773936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packages per stop vs a truck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26480" y="1773936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12 vs 3 (4×)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26480" y="1929384"/>
            <a:ext cx="260604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26480" y="1961388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same-day rate, year one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26480" y="1961388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99.6%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26480" y="2116836"/>
            <a:ext cx="260604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126480" y="2148840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our fee band, floor to ceiling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26480" y="2148840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₹9.6 – ₹29.2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126480" y="23545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64008" tIns="27432" bIns="27432"/>
          <a:lstStyle/>
          <a:p>
            <a:pPr algn="ctr">
              <a:lnSpc>
                <a:spcPct val="92000"/>
              </a:lnSpc>
            </a:pPr>
            <a:r>
              <a:rPr sz="580" b="1" i="0">
                <a:solidFill>
                  <a:srgbClr val="8A5F00"/>
                </a:solidFill>
                <a:latin typeface="Calibri"/>
              </a:rPr>
              <a:t>SCOPE IT AS CONTINUOUS CIRCUITS  </a:t>
            </a:r>
            <a:r>
              <a:rPr sz="580" b="0" i="0">
                <a:solidFill>
                  <a:srgbClr val="0B1F3A"/>
                </a:solidFill>
                <a:latin typeface="Calibri"/>
              </a:rPr>
              <a:t>rather than as the parcel desk's accumulate-and-sort round. The institution supplies labour and access on a roster; it does not supply an accumulation service. Get that wrong in the licence and the service level fails even where the economics hold.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126480" y="2354580"/>
            <a:ext cx="41148" cy="566928"/>
          </a:xfrm>
          <a:prstGeom prst="rect">
            <a:avLst/>
          </a:prstGeom>
          <a:solidFill>
            <a:srgbClr val="8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126480" y="2976372"/>
            <a:ext cx="26060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70" b="0" i="0">
                <a:solidFill>
                  <a:srgbClr val="B3261E"/>
                </a:solidFill>
                <a:latin typeface="Calibri"/>
              </a:rPr>
              <a:t>11 minutes is a marketing claim, not an operating standard. Walmart's own CEO says &lt;13¹³, Euromonitor 15–20¹⁴, our 35-store field survey median 15 with 9% at ≤10³. JPM's table shows the two 10-minute operators did not batch¹¹.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337560" y="3529584"/>
            <a:ext cx="53949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FLEET MIX BY DEMAND STATE  ·  THE GIG LEG SCALES 1:1 WITH VOLUME, THE IN-GATE LEG SCALES 4× ON 1.4× HEADCOUNT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37560" y="3657600"/>
            <a:ext cx="107899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DEMAND STATE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16552" y="3657600"/>
            <a:ext cx="161848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GIG RIDERS TO THE GATE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035040" y="3657600"/>
            <a:ext cx="161848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RUNNERS INSIDE THE GATE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653527" y="3657600"/>
            <a:ext cx="107899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GIG : RUNNER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337560" y="3785616"/>
            <a:ext cx="5394960" cy="105156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337560" y="37993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Trough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16552" y="37993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1.6  → 2 on the pool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0" y="37993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1.22  → roster 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653527" y="37993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1.3 : 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37560" y="39136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Average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416552" y="39136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6.5  → 7 on the pool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035040" y="39136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2.68  → roster 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653527" y="39136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2.4 : 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337560" y="4014216"/>
            <a:ext cx="5394960" cy="105156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337560" y="40279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Peak 4×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16552" y="40279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25.9  → 26 on the pool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35040" y="40279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3.66  → roster 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53527" y="40279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8A5F00"/>
                </a:solidFill>
                <a:latin typeface="Calibri"/>
              </a:rPr>
              <a:t>7.1 : 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337560" y="41422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Exam 6×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16552" y="41422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38.9  → 39 on the pool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035040" y="41422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5.06  → roster 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653527" y="41422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8A5F00"/>
                </a:solidFill>
                <a:latin typeface="Calibri"/>
              </a:rPr>
              <a:t>7.7 : 1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The operating model is a labour-class decision and a queueing rule.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Both are low-cost and reversible decisions on a structurally committed node, and together they produce the ₹17.6 the dead-zone case depends on.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1,3,11,12,13,14,16  ·  trip identity and volume weighting A5  ·  labour-class provenance A2  ·  SLA × access-regime matrix A4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1176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FINANCIALS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what breaks it, and when would we know?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One node returns 34% on ₹324 lakh at a 30% non-grocery basket, and 40% at ₹755 — inside the 30–40% non-grocery range disclosed by Swiggy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The basket is fitted to the one disclosed quarterly series in which an Indian operator actually lifted AOV. AOV = 11.28·x + 391, R² = 0.918, n = 4 quarters¹⁰.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3977639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ONE NODE, ONE YEAR   ·   ₹ LAKH</a:t>
            </a:r>
          </a:p>
        </p:txBody>
      </p:sp>
      <p:pic>
        <p:nvPicPr>
          <p:cNvPr id="15" name="Picture 14" descr="pnl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68" y="1568196"/>
            <a:ext cx="3006462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1480" y="298094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capex, midpoint of the band²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980944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₹235 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118103"/>
            <a:ext cx="3977639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150108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working capital at 14 NWC days⁸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150108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₹89 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87268"/>
            <a:ext cx="3977639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319272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capital employed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319272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₹324 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456432"/>
            <a:ext cx="3977639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488436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cash conversion cycle⁹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3488436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-47 days — supplier-funded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1316736"/>
            <a:ext cx="201168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BASKET LADDER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29" name="Picture 28" descr="basket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090" y="1559052"/>
            <a:ext cx="1605498" cy="107899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72000" y="2665476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₹450 → ₹525 on term-start durables → ₹573 at 24.3% non-grocery, from 20% today. The 40% hurdle needs 32.3% — still inside the stated 30–40% ceiling, with +7.7 pts of headroom.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1316736"/>
            <a:ext cx="196596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RETURNS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1586484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breakeven AOV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1586484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₹571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1732788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1764792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hurdle AOV, pre-tax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1764792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₹755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66560" y="1911095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1943100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post-tax at 25.17%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1943100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5A6785"/>
                </a:solidFill>
                <a:latin typeface="Calibri"/>
              </a:rPr>
              <a:t>₹817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2089403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2121408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IRR, 5-yr, 3-mo ramp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2121408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34.4%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66560" y="2267711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0" y="2299715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ramp 2 – 6 months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2299715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5A6785"/>
                </a:solidFill>
                <a:latin typeface="Calibri"/>
              </a:rPr>
              <a:t>35% – 31%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66560" y="2446019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0" y="2478023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node life anchor¹¹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2478023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5A6785"/>
                </a:solidFill>
                <a:latin typeface="Calibri"/>
              </a:rPr>
              <a:t>56 mo payback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3255264"/>
            <a:ext cx="41605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SCENARIOS  ·  ALL ON INPUTS ALREADY PRICED ELSEWHERE IN THE DECK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3410712"/>
            <a:ext cx="166420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SCENARIO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3410712"/>
            <a:ext cx="49926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AOV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35470" y="3410712"/>
            <a:ext cx="54086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MARGIN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76338" y="3410712"/>
            <a:ext cx="45765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TURN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3995" y="3410712"/>
            <a:ext cx="49926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ROCE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33257" y="3410712"/>
            <a:ext cx="49926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PAYBACK mo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0" y="3538727"/>
            <a:ext cx="416052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0" y="3552444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Underwritten (AOV at breakeven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8" y="3552444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₹571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35470" y="3552444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-0.00%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76338" y="3552444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6.38×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33995" y="3552444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B3261E"/>
                </a:solidFill>
                <a:latin typeface="Calibri"/>
              </a:rPr>
              <a:t>-0.0%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33257" y="3552444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B3261E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3712463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Basket at 30% non-grocery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36208" y="371246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₹729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35470" y="3712463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4.22%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76338" y="3712463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8.15×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33995" y="371246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34.4%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33257" y="371246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25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3858768"/>
            <a:ext cx="416052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0" y="3872483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Basket at 40% non-grocery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36208" y="387248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₹842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35470" y="3872483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6.25%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76338" y="3872483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9.41×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33995" y="387248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157347"/>
                </a:solidFill>
                <a:latin typeface="Calibri"/>
              </a:rPr>
              <a:t>58.8%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33257" y="387248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157347"/>
                </a:solidFill>
                <a:latin typeface="Calibri"/>
              </a:rPr>
              <a:t>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0" y="4032503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Basket at 30%, volume -30%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403250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₹729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35470" y="4032503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2.46%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76338" y="4032503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5.71×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33995" y="403250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B3261E"/>
                </a:solidFill>
                <a:latin typeface="Calibri"/>
              </a:rPr>
              <a:t>14.0%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3257" y="403250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B3261E"/>
                </a:solidFill>
                <a:latin typeface="Calibri"/>
              </a:rPr>
              <a:t>62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11480" y="3712463"/>
            <a:ext cx="3977639" cy="548640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4000"/>
              </a:lnSpc>
            </a:pPr>
            <a:r>
              <a:rPr sz="590" b="1" i="0">
                <a:solidFill>
                  <a:srgbClr val="B3261E"/>
                </a:solidFill>
                <a:latin typeface="Calibri"/>
              </a:rPr>
              <a:t>THE LIMIT, COMPUTED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At a 30% basket with volume −30%, ROCE falls to 14.0% and payback runs to 62 months — longer than the 60 months the node's own life is anchored on. </a:t>
            </a:r>
            <a:r>
              <a:rPr sz="590" b="1" i="0">
                <a:solidFill>
                  <a:srgbClr val="0B1F3A"/>
                </a:solidFill>
                <a:latin typeface="Calibri"/>
              </a:rPr>
              <a:t>Under that combination the node does not pay back within its life, which is why the day-90 gate measures volume before anything else.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0" y="4178808"/>
            <a:ext cx="41605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40" b="0" i="0">
                <a:solidFill>
                  <a:srgbClr val="5A6785"/>
                </a:solidFill>
                <a:latin typeface="Calibri"/>
              </a:rPr>
              <a:t>Second lever, unused in the base case: Minutes' free-delivery threshold is ₹149 — the market's lowest (Instamart ₹199, Blinkit ₹499), and already inside Minutes' control.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The node clears the benchmark on a basket mix inside a disclosed industry range — a scenario boundary, not a Flipkart commitment.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One dependency binds: term volume. The first 90 days are built to measure it.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2,4,8,9,10,11  ·  NPV at 12% / 15% [analytical discount-rate sensitivities; no Flipkart WACC is disclosed]: ₹158 L / ₹129 L  ·  P&amp;L, capital and ROCE derivation A6b  ·  basket fit A6  ·  working-capital constructs A5  ·  scenarios A3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117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07792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ROADMAP, RISK,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90 days to a measured go/no-go: four workstreams, four instrumented metrics, and one dependency that can stop the rollout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Every action fires on a calendar date rather than on observed volume: semester demand steps, it does not ramp. The gate metrics are Round 1's metric architecture, now doing the job it was designed for.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498348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90 DAYS   ·   WORKSTREAM × WEEK, WITH OWNERS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577340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SITE &amp; LICENCE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696212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Contracts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577340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W1–2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9696" y="1577340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shortlist 6 sites in 2 districts, uncontested-catchment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1709928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W3–5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9696" y="1709928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campus licence + DORMANCY CLAUSE in supplier terms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1842516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1842516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sign; publish the academic calendar into the ops calendar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997964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025396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NODE 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144268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Cluster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2025396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W3–6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39696" y="2025396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fit-out 2,000 sqft small-format, one chilled zone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2157984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W7–9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9696" y="2157984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hire 25 store staff; 4-week lead on the rehire pool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322576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350008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FLEET &amp; PARTNER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2468880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Fleet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2350008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W5–8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39696" y="2350008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institution runner agreement, per-parcel fee, SLA-linked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2482596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W8–10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39696" y="2482596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e-cart circuits mapped, OTP chain of custody live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647188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674620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COMMERCIAL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2793492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Category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0" y="2674620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W6–9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39696" y="2674620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non-grocery mix to 25%: durables, accessories, print, BPC, OTC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2807208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W10–12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39696" y="2807208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campus free-delivery threshold test vs the ₹149 network floor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2971800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017520"/>
            <a:ext cx="49834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1">
                <a:solidFill>
                  <a:srgbClr val="B3261E"/>
                </a:solidFill>
                <a:latin typeface="Calibri"/>
              </a:rPr>
              <a:t>Ramp-up cannot be gradual: semester-start demand STEPS, so every ramp action is dated off the published academic calendar.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32120" y="1316736"/>
            <a:ext cx="320040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DAY-90 GATE   ·   ROUND 1's METRICS, INSTRUMENTED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3212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32120" y="1568196"/>
            <a:ext cx="217627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GATE METRIC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08392" y="1568196"/>
            <a:ext cx="102412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THRESHOLD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32120" y="1696212"/>
            <a:ext cx="320040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32120" y="1709928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Peak-to-Trough Demand Ratio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08392" y="1709928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&gt; 4.0×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32120" y="1879092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Gate-Drop Consolidation Ratio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08392" y="1879092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≥ 3.0×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32120" y="2034540"/>
            <a:ext cx="320040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32120" y="2048256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Term-Weighted CM + Break Runway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08392" y="2048256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≥ 1.0×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32120" y="2217420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Calendar-Linked Labour Share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8392" y="2217420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≥ 50%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32120" y="2450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B3261E"/>
                </a:solidFill>
                <a:latin typeface="Calibri"/>
              </a:rPr>
              <a:t>Volume is the first read: at 1,000 orders/day the asset-turn ratio is 0.67 and at −30% the node does not pay back within its life. Measure it before capital goes to node two.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32120" y="2798064"/>
            <a:ext cx="32004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PRICED SHOCKS  ·  AGAINST THE ₹573 BREAKEVEN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5532120" y="2953512"/>
          <a:ext cx="3200400" cy="1005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63" name="Connector 62"/>
          <p:cNvCxnSpPr/>
          <p:nvPr/>
        </p:nvCxnSpPr>
        <p:spPr>
          <a:xfrm>
            <a:off x="6902964" y="2998774"/>
            <a:ext cx="0" cy="784556"/>
          </a:xfrm>
          <a:prstGeom prst="line">
            <a:avLst/>
          </a:prstGeom>
          <a:ln w="9525">
            <a:solidFill>
              <a:srgbClr val="0D1F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628644" y="2884474"/>
            <a:ext cx="548640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₹573 base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427429" y="2998774"/>
            <a:ext cx="0" cy="784556"/>
          </a:xfrm>
          <a:prstGeom prst="line">
            <a:avLst/>
          </a:prstGeom>
          <a:ln w="15875">
            <a:solidFill>
              <a:srgbClr val="FFC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72565" y="2884474"/>
            <a:ext cx="1188720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" b="1" i="0">
                <a:solidFill>
                  <a:srgbClr val="B57F00"/>
                </a:solidFill>
                <a:latin typeface="Calibri"/>
              </a:rPr>
              <a:t>₹637 · a 30% basket reaches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32120" y="3954780"/>
            <a:ext cx="3200400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" b="0" i="1">
                <a:solidFill>
                  <a:srgbClr val="5A6785"/>
                </a:solidFill>
                <a:latin typeface="Calibri"/>
              </a:rPr>
              <a:t>Axis starts at ₹560 — the argument is distance to the basket line, not to zero.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32120" y="4023360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40" b="0" i="0">
                <a:solidFill>
                  <a:srgbClr val="5A6785"/>
                </a:solidFill>
                <a:latin typeface="Calibri"/>
              </a:rPr>
              <a:t>Coverage is a lift from Minutes' own post-occasion basket: 30% non-grocery reaches ₹637, 40% reaches ₹750. Three of four sit inside ₹637. Only volume is genuinely open: the levy is tabled, shrinkage is bounded and already netted, and fragmentation is chosen at siting. One binding dependency rather than four. Owners: volume Cluster ops at day 90 · levy Contracts · shrinkage Store · fragmentation Site.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3712463"/>
            <a:ext cx="4983480" cy="530352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8A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3000"/>
              </a:lnSpc>
            </a:pPr>
            <a:r>
              <a:rPr sz="590" b="1" i="0">
                <a:solidFill>
                  <a:srgbClr val="8A5F00"/>
                </a:solidFill>
                <a:latin typeface="Calibri"/>
              </a:rPr>
              <a:t>THREE CONCESSIONS, STATED UP FRONT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11 minutes is a marketing claim, and we do not price it (slide 6). The industry relocates rather than mothballs, and we never proposed mothballing: holding costs 24% of one move. We are not first, and slide 1 names all three incumbents. None of them underwrites a node on the cluster itself.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Approve one pilot node, ₹324 lakh of capital employed, and a day-90 gate on four metrics.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If volume clears, node two is a site-selection decision we have already made 111 times.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8,13,19,20,21  ·  shock derivations A5  ·  assumption ledger A3  ·  fragmentation A7b  ·  playbook triggers and owners A4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188720"/>
            <a:ext cx="8321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Appendix · the verification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81051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A9BEDF"/>
                </a:solidFill>
                <a:latin typeface="Calibri"/>
              </a:rPr>
              <a:t>Every figure on the eight content slides is produced by code in a public repository, and checked by five scripts that anyone can run in a browser in under a minute.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7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C220"/>
                </a:solidFill>
                <a:latin typeface="Calibri"/>
              </a:rPr>
              <a:t>366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assertions in audit.py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model against itself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5688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85415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FA0FF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85415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HANDOFF figures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5415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numbers doc against the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39896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9624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FA0FF"/>
                </a:solidFill>
                <a:latin typeface="Calibri"/>
              </a:rPr>
              <a:t>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9624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spec figures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9624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slide copy against the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4103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13831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7BD3A6"/>
                </a:solidFill>
                <a:latin typeface="Calibri"/>
              </a:rPr>
              <a:t>183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3831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deck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1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BUILT .pptx against the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68312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7BD3A6"/>
                </a:solidFill>
                <a:latin typeface="Calibri"/>
              </a:rPr>
              <a:t>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artefact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workbook, notebooks and manifest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703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  <a:latin typeface="Calibri"/>
              </a:rPr>
              <a:t>Each of the five is a command with an output. The outputs follow on A-1.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069080"/>
            <a:ext cx="8321040" cy="310896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64008" tIns="27432" bIns="27432"/>
          <a:lstStyle/>
          <a:p>
            <a:pPr algn="ctr"/>
            <a:r>
              <a:rPr sz="740" b="1" i="0">
                <a:solidFill>
                  <a:srgbClr val="FFC220"/>
                </a:solidFill>
                <a:latin typeface="Calibri"/>
              </a:rPr>
              <a:t>THE REPOSITORY   </a:t>
            </a:r>
            <a:r>
              <a:rPr sz="740" b="0" i="0">
                <a:solidFill>
                  <a:srgbClr val="FFFFFF"/>
                </a:solidFill>
                <a:latin typeface="Calibri"/>
                <a:hlinkClick r:id="rId2"/>
              </a:rPr>
              <a:t>github.com/mba25015-maker/flipkart-wired-x-campus-node</a:t>
            </a:r>
            <a:r>
              <a:rPr sz="740" b="0" i="0">
                <a:solidFill>
                  <a:srgbClr val="A9BEDF"/>
                </a:solidFill>
                <a:latin typeface="Calibri"/>
              </a:rPr>
              <a:t>   ·   public, no login, six runnable notebooks   ·   paid analyst PDFs deliberately excluded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Every number is asserted in code, and the check reopens the built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1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96112"/>
            <a:ext cx="4114800" cy="1579664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617720" y="2530640"/>
            <a:ext cx="41148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A9BEDF"/>
                </a:solidFill>
                <a:latin typeface="Calibri"/>
              </a:rPr>
              <a:t>audit.py — the model checked against itself, 366 assertions</a:t>
            </a:r>
          </a:p>
        </p:txBody>
      </p:sp>
      <p:pic>
        <p:nvPicPr>
          <p:cNvPr id="7" name="Picture 6" descr="S2_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166" y="2786672"/>
            <a:ext cx="3801907" cy="1298448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617720" y="4139984"/>
            <a:ext cx="4114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FFC220"/>
                </a:solidFill>
                <a:latin typeface="Calibri"/>
              </a:rPr>
              <a:t>verify_deck.py opens the BUILT PowerPoint, pulls every run of text and every chart value out of it, and checks the slides against the model. A figure that drifts between model and deck fails here even when audit.py passes. It also asserts absence: no superseded Round 1 figure, no placeholder text, no banned attribution wording, no stale verification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896112"/>
            <a:ext cx="3977639" cy="56692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7840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BD3A6"/>
                </a:solidFill>
                <a:latin typeface="Calibri"/>
              </a:rPr>
              <a:t>366 / 366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99669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  <a:latin typeface="Calibri"/>
              </a:rPr>
              <a:t>audit.py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16128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model vs itself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536192"/>
            <a:ext cx="3977639" cy="56692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1848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BD3A6"/>
                </a:solidFill>
                <a:latin typeface="Calibri"/>
              </a:rPr>
              <a:t>183 / 183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63677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  <a:latin typeface="Calibri"/>
              </a:rPr>
              <a:t>verify_deck.py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180136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built slides vs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176272"/>
            <a:ext cx="3977639" cy="56692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25856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C220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227685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  <a:latin typeface="Calibri"/>
              </a:rPr>
              <a:t>headline figures typed by hand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244144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every value imported from the model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871216"/>
            <a:ext cx="3977639" cy="129844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926080"/>
            <a:ext cx="37947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REPRODUCE IT IN UNDER A MINUTE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081528"/>
            <a:ext cx="3794759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$ git clone flipkart-wired-x-campus-node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$ python3 Model/run_all.py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audit.py                  366 / 366   model vs itself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verify_docs.py              31 / 31   HANDOFF vs model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verify_spec.py              79 / 79   spec vs model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verify_deck.py            183 / 183   built slides vs model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verify_artifacts.py         23 / 23   workbook, notebooks, manifest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one command, five layers, nonzero exit on any failure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187952"/>
            <a:ext cx="2788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A9BEDF"/>
                </a:solidFill>
                <a:latin typeface="Calibri"/>
              </a:rPr>
              <a:t>The notebook below runs the first of the five in a browser.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38912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4"/>
              </a:rPr>
              <a:t>RUN IT — colab.research.google.com/github/mba2501…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416052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27" name="Picture 26" descr="L1_Audit_Verification_QR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41879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Source register — twenty-two numbered citations, tiered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A9BEDF"/>
                </a:solidFill>
                <a:latin typeface="Calibri"/>
              </a:rPr>
              <a:t>Superscripts on the content slides index this table. Tier: T1 company filing, regulator, statute or direct institutional source  ·  T2 broker, analyst or reputable media  ·  D our own field data  ·  A peer-reviewed.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6070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06070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JM Financial, Eternal model — dark-store cost stack Ex.12/13; tier rent bands Ex.5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8" y="106070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25880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76172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1376172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JM Financial Ex.29 — Blinkit orders/day/store, nine quarters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1376172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41348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69163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169163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JM Financial Ex.33 + 35-store field survey — non-metro multiple, delivery times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169163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5681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00710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" y="200710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TechCrunch, 22 Aug 2026 — Minutes AOV ₹400–500, Flipkart internal, confirmed by the reporter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00710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272284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322576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2322576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Bernstein via Economic Times, 18 Jul 2026 — store counts, pin codes, five-operator overlap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87368" y="2322576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58775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63804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263804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AISHE institution register, as on 28-8-2026 — 54,014 colleges, urban/rural flag, district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7368" y="263804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90321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953511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" y="2953511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AISHE 2023-24 report — enrolment, hostel occupancy. DIFFERENT INSTRUMENT from [6]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87368" y="2953511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218687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26897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" y="326897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Eternal / Blinkit FY26 disclosures — take rate 19.41%, ₹29.4/order, shrinkage, NWC days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8" y="326897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3415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58444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" y="358444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Zepto, MCA-filed audited consolidated accounts — 13 days inventory, ~60 days payables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87368" y="358444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849623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899915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" y="3899915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Swiggy Instamart quarterly disclosures — non-grocery share vs AOV; the 30–40% ceiling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87368" y="3899915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416509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4215383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2376" y="4215383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J.P. Morgan quick-commerce channel work — 4.0 orders/active hour, sub-2km leg, rider cost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7368" y="4215383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48055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17720" y="106070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28616" y="106070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UBS Evidence Lab rider survey, n=100, Nov–Dec 2025 — batching incidence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3608" y="106070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17720" y="1325880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17720" y="1376172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28616" y="1376172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Walmart Q1 FY27 earnings call, 21 May 2026 — &gt;800 MFCs, &lt;13 minutes, &gt;30 cities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93608" y="1376172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17720" y="1641348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17720" y="169163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8616" y="169163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Euromonitor International — Consumer Foodservice by Location in India, Mar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93608" y="169163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17720" y="195681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17720" y="200710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28616" y="200710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Food On Demand, 10 Jun 2026 — Starship exit; Avride–Chartwells master agreement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93608" y="200710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617720" y="2272284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17720" y="2322576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28616" y="2322576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UC Davis Finance, Operations &amp; Administration — Last Mile Initiative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93608" y="2322576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17720" y="258775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17720" y="263804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28616" y="263804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CRISIL — warehousing occupier contracts, fixed-cost share, power tariffs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93608" y="263804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17720" y="290321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17720" y="2953511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28616" y="2953511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Kambli, Sinha &amp; Srinivas (2020), J. Hosp. &amp; Tourism Mgmt 43, 62–70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93608" y="2953511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A9BEDF"/>
                </a:solidFill>
                <a:latin typeface="Calibri"/>
              </a:rPr>
              <a:t>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617720" y="3218687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17720" y="326897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28616" y="326897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Parliamentary Standing Committee, 201st report, 7 Aug 2026 — gig social-security levy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93608" y="326897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17720" y="353415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617720" y="358444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28616" y="358444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Netscribes / Elara via EMIS — Flipkart festive hubs; Swiggy student programme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93608" y="358444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17720" y="3849623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17720" y="3899915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28616" y="3899915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Company announcements — Zepto Express Prints, Blinkit–Adani CSMIA, Swiggy YISU MoU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93608" y="3899915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17720" y="416509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617720" y="4215383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28616" y="4215383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VOC 2026 consumer survey, n=1,002 — Gen Z consumption occasions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93608" y="4215383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FFC220"/>
                </a:solidFill>
                <a:latin typeface="Calibri"/>
              </a:rPr>
              <a:t>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617720" y="448055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4572000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FF9A8B"/>
                </a:solidFill>
                <a:latin typeface="Calibri"/>
              </a:rPr>
              <a:t>[6] and [7] are never mixed: a count from one, an enrolment from the other.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617720" y="4498848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2"/>
              </a:rPr>
              <a:t>RUN IT — docs.google.com/spreadsheets/d/1CEo9XOH5…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16367" y="4270248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97" name="Picture 96" descr="A2_Source_Register_QR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4297680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Assumption ledger — twelve down to five: two point estimates, three solved-across ranges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41248"/>
            <a:ext cx="416052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RESOLVED, AND 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201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Rider working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573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11201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₹26,500/mo ÷ (21 orders/day × D) = ₹44 → D = 28.7 days; on Round 1's ₹42, D = 30.0. Both inside a plausible gig roster.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224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73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Runner 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145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SOURCED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15773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8h day / 48h week under the Shops and Establishments Acts. Statutory, not assumed.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796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345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Drop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1717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COLLAPSED + TESTED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1952" y="20345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One parameter, shelf:room ratio. ₹9.5 → ₹7.3 per order across 1.00 → 0.10. The conclusion holds across the whole plausible range.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4368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4917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In-cluster spread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6289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NEUTRALISED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24917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0 → 0.5 km/drop moves cost per order by under ₹1. Immaterial.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8940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9489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Four reactivation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0861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NEUTRALISED IN ONE MOVE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29489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Wind-down saves ₹13.05 L against a ₹2.62 L reactivation estimate. Reactivation would have to be 5.0× our estimate before winding down stops being worth doing.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512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54880" y="841248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WHAT REMAINS ASSUMED, STATED PLAINLY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1120140"/>
            <a:ext cx="2307031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ASSUMPTION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1911" y="112014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6544" y="1120140"/>
            <a:ext cx="71597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FORM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1263700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1280160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LT commercial electricity tariff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1911" y="128016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₹9.50/kWh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6544" y="1280160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A9BEDF"/>
                </a:solidFill>
                <a:latin typeface="Calibri"/>
              </a:rPr>
              <a:t>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1476756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Doorstep / in-cluster dwell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61911" y="1476756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2.0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6544" y="1476756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A9BEDF"/>
                </a:solidFill>
                <a:latin typeface="Calibri"/>
              </a:rPr>
              <a:t>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1656892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0" y="1673352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Residual campus demand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61911" y="1673352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8–15%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6544" y="1673352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7BD3A6"/>
                </a:solidFill>
                <a:latin typeface="Calibri"/>
              </a:rPr>
              <a:t>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0" y="1869948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Fixed-core share of store area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61911" y="1869948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30–60%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6544" y="1869948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7BD3A6"/>
                </a:solidFill>
                <a:latin typeface="Calibri"/>
              </a:rPr>
              <a:t>range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880" y="2050084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0" y="2066544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Demand profile, peak × hours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61911" y="2066544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4× · 4/8/6h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6544" y="2066544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7BD3A6"/>
                </a:solidFill>
                <a:latin typeface="Calibri"/>
              </a:rPr>
              <a:t>range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2157984"/>
            <a:ext cx="397763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Three of the five are RANGES the model is solved across, not point estimates. The fifth is a parameter our own Round 1 metric architecture was built to measure once live data exists. Dwell is one of two unknowns in the trip identity; the other — batching — is solved from it.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54880" y="2651760"/>
            <a:ext cx="3977639" cy="96012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0" y="2706624"/>
            <a:ext cx="3794759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E-CART, PRICED — the contradiction closed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capex      ₹/order   one campus gate, 14,000 orders/mo, 60-mo life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150,000      0.18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250,000      0.30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350,000      0.42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capex at which it would add ₹1/order:  ₹840,000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3675887"/>
            <a:ext cx="39776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C220"/>
                </a:solidFill>
                <a:latin typeface="Calibri"/>
              </a:rPr>
              <a:t>An e-cart would have to cost ₹8.4 lakh before it registered against a ₹17.6/order total. The no-vehicle-capex argument survives, now quantified rather than asserted.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133087"/>
            <a:ext cx="8321040" cy="384048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00" b="1" i="0">
                <a:solidFill>
                  <a:srgbClr val="FFC220"/>
                </a:solidFill>
                <a:latin typeface="Calibri"/>
              </a:rPr>
              <a:t>FIVE INPUTS REMAIN, AND NONE CAN CHANGE THE DECISION. Two are point estimates, three are ranges the model is solved across — different categories, so we name them separately. That is a stronger position than sourcing them badly, and it is the move Round 1 used on campus AOV.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The dead-zone solver — five strategies, four constraints, one basis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3_solver_repur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96112"/>
            <a:ext cx="4114800" cy="1056596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617720" y="20075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A9BEDF"/>
                </a:solidFill>
                <a:latin typeface="Calibri"/>
              </a:rPr>
              <a:t>solver.py output. BEST = REPURPOSE is the solver's answer under the constraints below, not a preference applied afterwards.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2336756"/>
            <a:ext cx="41148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WHY REPURPOSE WINS, IN ONE LINE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615648"/>
            <a:ext cx="131673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6" y="2615648"/>
            <a:ext cx="98755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DEAD ZONE, 3.5 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22008" y="2615648"/>
            <a:ext cx="181051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WHAT IT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2759209"/>
            <a:ext cx="4114800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775668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DO_NOTHING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775668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₹31.6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8" y="2775668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70.8% residual, no 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53976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LABOUR_FLEX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2953976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₹21.6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8" y="2953976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flexes 71.2% of the base, stops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3115825"/>
            <a:ext cx="4114800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3132284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COLD_RIGHTSIZE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4456" y="3132284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₹21.2 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3132284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chiller only; rent persists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310592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SMALL_FORMAT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34456" y="3310592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₹18.5 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3310592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2,000 sqft; best cost answer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472441"/>
            <a:ext cx="4114800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488900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REPURPOSE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34456" y="3488900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₹0.0 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2008" y="3488900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not a cost configuration at 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3639776"/>
            <a:ext cx="4114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REPURPOSE runs the SMALL_FORMAT base and fills 48.6% of it from adjacent catchment. It is the only row that is a demand answer rather than a cost answer, which is why cost levers alone cannot reach 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896112"/>
            <a:ext cx="3977639" cy="132588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950976"/>
            <a:ext cx="37947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PROGRAM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106424"/>
            <a:ext cx="3794759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minimise dead-zone cash burn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subject to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reactivation lead time  ≥ 28 days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average SLA at peak     ≤ 27.1 min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revocation survival     ≥ 513 orders/day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no calendar-indexed lease exists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wind-down needs          ≥ 7 weeks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one basis throughout: GROSS order value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2359152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PLAYBOOK — WHAT FIRES, WHEN, AND WHO OWNS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2638044"/>
            <a:ext cx="63642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TRIGGER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902" y="2638044"/>
            <a:ext cx="246613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14039" y="2638044"/>
            <a:ext cx="8750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OWNER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781604"/>
            <a:ext cx="3977639" cy="175564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79806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T−21d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7902" y="279806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Wind-down decision fires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4039" y="279806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Cluster 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298094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T−14d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7902" y="298094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Rehire pool contacted, 4-week lead starts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14039" y="298094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Store mgr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147364"/>
            <a:ext cx="3977639" cy="175564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16382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T−10d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7902" y="316382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Catchment repurpose: radius and SKU swap live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14039" y="316382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Category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334670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T−7d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7902" y="334670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Chilled zone rightsized; supplier dormancy invoked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4039" y="334670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Contracts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513124"/>
            <a:ext cx="3977639" cy="175564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352958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T−5d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902" y="352958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Runner roster suspended; gig-only gate leg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14039" y="352958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Fleet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3785615"/>
            <a:ext cx="39776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9A8B"/>
                </a:solidFill>
                <a:latin typeface="Calibri"/>
              </a:rPr>
              <a:t>Every trigger is a calendar date off the published academic calendar, never an observed-volume threshold. Semester demand steps; it does not ramp, so a volume trigger fires too late by construction.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38912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10128" y="416052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8" name="Picture 57" descr="L2_Dead_Zone_Solver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879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Derivations — the cost base, the trip, and the working capital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41248"/>
            <a:ext cx="4160520" cy="118872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397763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COST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3977639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FIXED BASE  ₹9.02 L/month  [1, Ex.12/13]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rent 24.1%   staff 41.6%   util+cold 5.5%   other 28.8%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tier identified from the Ex.5 rent band, not assumed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band ₹8.71–9.18 L, width 5.2% — conclusion holds across it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'other fixed' is a residual off JM's blended ₹100/sqft line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and is the one allocated line in the stack. It persists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through the break, which is why it is stated 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121408"/>
            <a:ext cx="4160520" cy="129844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76272"/>
            <a:ext cx="397763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TRIP AND THE 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3977639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t_trip = 2·(d/v) + b·τ                trip minutes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C/order = (w/60)·t_trip / b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city leg  w = ₹168 per ACTIVE hour   (gig)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gate leg  w = ₹72 per ROSTERED hour  (employed)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b(λ) = min(K, ⌈λ·W/60⌉)   W = 6 min, K = 12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Little's Law  L = λ·W  on the gate queue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volume weighting: 62.7% of orders fall in the peak band,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so ₹17.6 — not the ₹28.9 an average hour would give.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841248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WORKING CAPITAL — THREE CONSTRUCTS, ONE ADOPTED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120140"/>
            <a:ext cx="20683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CONSTRUCT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23252" y="112014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7886" y="112014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263700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280160"/>
            <a:ext cx="20683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FFFFFF"/>
                </a:solidFill>
                <a:latin typeface="Calibri"/>
              </a:rPr>
              <a:t>NWC days × NOV  [8]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3252" y="128016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₹88.9 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7886" y="128016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ADOPTED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1476756"/>
            <a:ext cx="20683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12-day steady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3252" y="1476756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FFFFFF"/>
                </a:solidFill>
                <a:latin typeface="Calibri"/>
              </a:rPr>
              <a:t>₹76.2 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7886" y="1476756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A9BEDF"/>
                </a:solidFill>
                <a:latin typeface="Calibri"/>
              </a:rPr>
              <a:t>sensitivity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656892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1673352"/>
            <a:ext cx="20683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COGS × 18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3252" y="1673352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FF9A8B"/>
                </a:solidFill>
                <a:latin typeface="Calibri"/>
              </a:rPr>
              <a:t>₹116.4 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7886" y="1673352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9A8B"/>
                </a:solidFill>
                <a:latin typeface="Calibri"/>
              </a:rPr>
              <a:t>REJECTED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1833372"/>
            <a:ext cx="397763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The COGS construct is rejected because it double-counts supplier funding: Zepto's audited accounts show 13 days of inventory against ~60 days of payables, a −47-day cash conversion cycle [9]. Inventory is supplier-funded, so charging it again to working capital overstates capital employed by 31%.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0" y="2121408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FOUR PRICED SHOCKS, AS DERIVED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2400300"/>
            <a:ext cx="159105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SHOCK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0030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BREAKEVEN AOV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00569" y="2400300"/>
            <a:ext cx="143195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BASIS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2543860"/>
            <a:ext cx="3977639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0320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9A8B"/>
                </a:solidFill>
                <a:latin typeface="Calibri"/>
              </a:rPr>
              <a:t>Volume −30%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256032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₹640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00569" y="2560320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thinner base absorption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2738627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Shrinkage, upper bound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2738627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FFFFFF"/>
                </a:solidFill>
                <a:latin typeface="Calibri"/>
              </a:rPr>
              <a:t>₹615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00569" y="2738627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1.8% of NOV [8]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900476"/>
            <a:ext cx="3977639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0" y="2916935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Gig social-security levy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2916935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FFFFFF"/>
                </a:solidFill>
                <a:latin typeface="Calibri"/>
              </a:rPr>
              <a:t>₹588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00569" y="2916935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201st report [19]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3095243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Calendar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3095243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FFFFFF"/>
                </a:solidFill>
                <a:latin typeface="Calibri"/>
              </a:rPr>
              <a:t>₹582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00569" y="3095243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shape, not length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346704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C220"/>
                </a:solidFill>
                <a:latin typeface="Calibri"/>
              </a:rPr>
              <a:t>Shrinkage is an UPPER BOUND. The cost stack was calibrated on a reported contribution figure already net of shrinkage, so charging it again double-counts. It is carried at its maximum for completeness.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3493008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Cost per order falls linearly in batch size and rises linearly in the wage of the labour class serving the leg. Only the in-gate leg can change that class — which is why the gate, and not the vehicle, is the decision.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3895344"/>
            <a:ext cx="4160520" cy="402336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3959352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FFC220"/>
                </a:solidFill>
                <a:latin typeface="Calibri"/>
              </a:rPr>
              <a:t>TWO UNKNOWNS IN THE TRIP IDENTITY, AND WE SOLVED ONE. Batching is solved from the queue; dwell is not, so it is on A-3 as an assumption and A-10 as a gap.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4425696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2"/>
              </a:rPr>
              <a:t>RUN IT — colab.research.google.com/github/mba2501…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10128" y="4197096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1" name="Picture 50" descr="L5_Fulfilment_Model_QR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4224528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Fleet mix, optimised — solved per gate, with pooling priced as an upside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A-5b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A9BEDF"/>
                </a:solidFill>
                <a:latin typeface="Calibri"/>
              </a:rPr>
              <a:t>The mix is a decision variable, not a description. α is the share of in-gate orders on rostered runners; the rest rides gig on the same leg. A node serves 3 campus gates, so the roster is solved at ONE gate (467/day) and aggregated — pooling across gates is priced below as an upside, not assumed.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42415"/>
            <a:ext cx="3977639" cy="129844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37947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52728"/>
            <a:ext cx="3794759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minimise  C(α,V) = [ R(α)·577 + (1−α)·V·₹6.66 ] / V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R(α) = ⌈ αV / 202 ⌉        runners are integers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A runner costs ₹577 whether volume arrives or not, so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the LAST runner is only worth rostering if the volume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left for it clears the breakeven. Hence a closed form: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R* = ⌊ V/202 ⌋ ; add one iff residual ≥ 87, else gig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9572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A9BEDF"/>
                </a:solidFill>
                <a:latin typeface="Calibri"/>
              </a:rPr>
              <a:t>Checked against a 2,001-point search at every volume from 50 to 1,600 a day: the closed form is never beaten. Asserted in audit.py.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743200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ROSTER, BY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003804"/>
            <a:ext cx="103418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5666" y="3003804"/>
            <a:ext cx="63642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RUNNERS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2088" y="3003804"/>
            <a:ext cx="63642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8511" y="3003804"/>
            <a:ext cx="8353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₹/ORDER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3815" y="3003804"/>
            <a:ext cx="8353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VS ALL-GIG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147364"/>
            <a:ext cx="3977639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163824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87/day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5666" y="316382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2088" y="316382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8511" y="3163824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₹6.63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3815" y="3163824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332988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227/day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5666" y="3332988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2088" y="3332988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18511" y="3332988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₹3.27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3815" y="3332988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51%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485692"/>
            <a:ext cx="3977639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502152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467/day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5666" y="3502152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2088" y="3502152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87%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8511" y="3502152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₹3.36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3815" y="3502152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49%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3671315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1,400/day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5666" y="3671315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82088" y="3671315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100%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18511" y="3671315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₹2.88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3815" y="3671315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57%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17720" y="1042415"/>
            <a:ext cx="4114800" cy="230428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4681728" y="1078992"/>
          <a:ext cx="3986784" cy="2231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4617720" y="3401568"/>
            <a:ext cx="41148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FFC220"/>
                </a:solidFill>
                <a:latin typeface="Calibri"/>
              </a:rPr>
              <a:t>COST PER ORDER ON THE IN-GATE LEG, AGAINST THE RUNNER SHARE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17720" y="3566160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At the plan's gate volume the optimum is α = 87%, not 100%.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3698748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A9BEDF"/>
                </a:solidFill>
                <a:latin typeface="Calibri"/>
              </a:rPr>
              <a:t>2 runners at each of 3 gates, ₹3.36 an order, 49% under all-gig. The residual 13% rides gig rather than stranding a third runner.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3858768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At the store floor, the optimum is 89%, not 100%.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3991355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A9BEDF"/>
                </a:solidFill>
                <a:latin typeface="Calibri"/>
              </a:rPr>
              <a:t>The fourth runner would sit idle, so the residual rides gig. Roster to the whole runner, top up.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4151376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At the runner floor the curve is U-shaped.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17720" y="4283964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A9BEDF"/>
                </a:solidFill>
                <a:latin typeface="Calibri"/>
              </a:rPr>
              <a:t>Partial rostering is the WORST option there: either one runner or none.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17720" y="4443984"/>
            <a:ext cx="4114800" cy="457200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7BD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36592" y="4489704"/>
            <a:ext cx="387705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7000"/>
              </a:lnSpc>
            </a:pPr>
            <a:r>
              <a:rPr sz="590" b="0" i="0">
                <a:solidFill>
                  <a:srgbClr val="FFFFFF"/>
                </a:solidFill>
                <a:latin typeface="Calibri"/>
              </a:rPr>
              <a:t>POOLING IS AN UPSIDE, NOT THE PLAN. One dispatch pool across all 3 gates solves to 7 runners at α = 100% and ₹2.88 — ₹0.48 an order better, because integer runners fill more fully in one queue. It assumes cross-gate repositioning at no time cost, which we have not validated, so the base case stays per-gate and the pilot's movement test is what would promote it.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3895344"/>
            <a:ext cx="3977639" cy="384048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0352" y="3941063"/>
            <a:ext cx="37490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7000"/>
              </a:lnSpc>
            </a:pPr>
            <a:r>
              <a:rPr sz="600" b="0" i="0">
                <a:solidFill>
                  <a:srgbClr val="FFFFFF"/>
                </a:solidFill>
                <a:latin typeface="Calibri"/>
              </a:rPr>
              <a:t>THE BLOCK SHELF, PRICED. A door drop costs ₹4.66 an order on the same circuit against ₹2.85 to a block-level shelf. The licence clause on slide 6 is worth ₹1.80 an order.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452628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10128" y="429768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3" name="Picture 52" descr="L5_Fulfilment_Model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32511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The brief’s three micro-markets — what is priced, and what the base case underwrites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A-5c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1">
                <a:solidFill>
                  <a:srgbClr val="A9BEDF"/>
                </a:solidFill>
                <a:latin typeface="Calibri"/>
              </a:rPr>
              <a:t>The brief names three segments — high-density clusters around major university campuses, student hostels, and paying-guest accommodation. All three are modelled here. Two are underwritten in the base case and one is not, and the difference is demand evidence, not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52144"/>
            <a:ext cx="484632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LAST-MILE COST BY GEOMETRY  ·  ROWS 1–4 AT ONE COMMON BATCH, SO THE COLUMN ISOLATES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431036"/>
            <a:ext cx="203545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SEGMENT AND SERVICE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6934" y="1431036"/>
            <a:ext cx="67848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TRIP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5419" y="1431036"/>
            <a:ext cx="775411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₹/ORDER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0830" y="1431036"/>
            <a:ext cx="13569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74596"/>
            <a:ext cx="4846320" cy="180136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591056"/>
            <a:ext cx="203545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30" b="0" i="0">
                <a:solidFill>
                  <a:srgbClr val="FFFFFF"/>
                </a:solidFill>
                <a:latin typeface="Calibri"/>
              </a:rPr>
              <a:t>Standard 2–3 km residential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6934" y="1591056"/>
            <a:ext cx="6784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18.0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5419" y="1591056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FFFFFF"/>
                </a:solidFill>
                <a:latin typeface="Calibri"/>
              </a:rPr>
              <a:t>₹42.06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1591056"/>
            <a:ext cx="135696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778508"/>
            <a:ext cx="203545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30" b="0" i="0">
                <a:solidFill>
                  <a:srgbClr val="FFFFFF"/>
                </a:solidFill>
                <a:latin typeface="Calibri"/>
              </a:rPr>
              <a:t>Campus gate-drop, no runner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6934" y="1778508"/>
            <a:ext cx="6784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18.2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5419" y="1778508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FF9A8B"/>
                </a:solidFill>
                <a:latin typeface="Calibri"/>
              </a:rPr>
              <a:t>₹42.65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0830" y="1778508"/>
            <a:ext cx="135696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FF9A8B"/>
                </a:solidFill>
                <a:latin typeface="Calibri"/>
              </a:rPr>
              <a:t>geometry alone is DEARER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1949500"/>
            <a:ext cx="4846320" cy="180136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1965960"/>
            <a:ext cx="203545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30" b="0" i="0">
                <a:solidFill>
                  <a:srgbClr val="FFFFFF"/>
                </a:solidFill>
                <a:latin typeface="Calibri"/>
              </a:rPr>
              <a:t>Urban PG cluster, doorstep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6934" y="1965960"/>
            <a:ext cx="6784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11.5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5419" y="1965960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FFFFFF"/>
                </a:solidFill>
                <a:latin typeface="Calibri"/>
              </a:rPr>
              <a:t>₹26.87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0830" y="1965960"/>
            <a:ext cx="135696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FFC220"/>
                </a:solidFill>
                <a:latin typeface="Calibri"/>
              </a:rPr>
              <a:t>Phase 2 · demand not underwritten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153412"/>
            <a:ext cx="203545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30" b="0" i="0">
                <a:solidFill>
                  <a:srgbClr val="FFFFFF"/>
                </a:solidFill>
                <a:latin typeface="Calibri"/>
              </a:rPr>
              <a:t>PG cluster, common-drop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6934" y="2153412"/>
            <a:ext cx="6784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10.2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5419" y="2153412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FFFFFF"/>
                </a:solidFill>
                <a:latin typeface="Calibri"/>
              </a:rPr>
              <a:t>₹23.95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00830" y="2153412"/>
            <a:ext cx="135696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FFC220"/>
                </a:solidFill>
                <a:latin typeface="Calibri"/>
              </a:rPr>
              <a:t>Phase 2 · scenario, site-dependent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324404"/>
            <a:ext cx="4846320" cy="180136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340864"/>
            <a:ext cx="203545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30" b="1" i="0">
                <a:solidFill>
                  <a:srgbClr val="FFC220"/>
                </a:solidFill>
                <a:latin typeface="Calibri"/>
              </a:rPr>
              <a:t>Campus + hostel, CONSOLIDATED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6934" y="2340864"/>
            <a:ext cx="6784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25419" y="2340864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7BD3A6"/>
                </a:solidFill>
                <a:latin typeface="Calibri"/>
              </a:rPr>
              <a:t>₹17.61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00830" y="2340864"/>
            <a:ext cx="135696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7BD3A6"/>
                </a:solidFill>
                <a:latin typeface="Calibri"/>
              </a:rPr>
              <a:t>BASE CASE · the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267004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30" b="0" i="1">
                <a:solidFill>
                  <a:srgbClr val="FF9A8B"/>
                </a:solidFill>
                <a:latin typeface="Calibri"/>
              </a:rPr>
              <a:t>THE LAST ROW IS NOT THE SAME QUANTITY AS THE OTHER FOUR, AND THAT IS THE POINT. Rows 1–4 price a single trip at one common batch, so they compare geometry against geometry. Row 5 prices the plan: a city leg batched to demand plus a rostered in-gate runner. It is quoted with its basis wherever it appears, and it is never set against a PG figure as though the two were like-for-like.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3200400"/>
            <a:ext cx="4846320" cy="1042415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255264"/>
            <a:ext cx="4663440" cy="932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WHERE THE ADVANTAGE COMES FROM — IT IS NOT THE GATE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campus gate trip, unconsolidated      ₹ 42.65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standard residential, same basis      ₹ 42.06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the gate is +1.4% on geometry ALONE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city leg, batched and volume-weighted ₹ 14.25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in-gate leg, rostered runner          ₹  3.36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THE PLAN                              ₹ 17.61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32120" y="1152144"/>
            <a:ext cx="32004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POSITION WE ARE TAKING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1440180"/>
            <a:ext cx="32004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7BD3A6"/>
                </a:solidFill>
                <a:latin typeface="Calibri"/>
              </a:rPr>
              <a:t>PHASE 1 — WHAT THE BASE CASE UNDERWRITES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1604772"/>
            <a:ext cx="32004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30" b="0" i="0">
                <a:solidFill>
                  <a:srgbClr val="FFFFFF"/>
                </a:solidFill>
                <a:latin typeface="Calibri"/>
              </a:rPr>
              <a:t>Phase 1 is underwritten solely on institutional hostel demand inside multi-college clusters — residents behind a gate, reached through one common drop and a runner. PG demand is EXCLUDED from base-case volumes, so no ROCE, payback, breakeven or cluster figure in this deck depends on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32120" y="2354580"/>
            <a:ext cx="32004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FFC220"/>
                </a:solidFill>
                <a:latin typeface="Calibri"/>
              </a:rPr>
              <a:t>PHASE 2 — THE PG ADJACENCY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2519172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30" b="0" i="0">
                <a:solidFill>
                  <a:srgbClr val="FFFFFF"/>
                </a:solidFill>
                <a:latin typeface="Calibri"/>
              </a:rPr>
              <a:t>PGs sit tighter to campus than a standard zone, so they are geometrically CHEAPER to reach than the benchmark. What is missing is demand evidence: the AISHE register carries no PG count, so density is unmeasured, and whether a given block supports a common drop is a site question. PGs are therefore a Phase-2 adjacency, subject to pilot validation of density and common-drop feasibility.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32120" y="3127248"/>
            <a:ext cx="3200400" cy="603504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41848" y="3191256"/>
            <a:ext cx="298094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7000"/>
              </a:lnSpc>
            </a:pPr>
            <a:r>
              <a:rPr sz="610" b="0" i="0">
                <a:solidFill>
                  <a:srgbClr val="FFC220"/>
                </a:solidFill>
                <a:latin typeface="Calibri"/>
              </a:rPr>
              <a:t>WHAT WOULD PROMOTE IT. Two additions to the pilot, neither needing new capital: a count of managed PG beds inside the served radius, and one common-drop trial at a PG block with a reception desk or locker bank. Until both read through, PG volume stays out of the plan and out of every number on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3822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1">
                <a:solidFill>
                  <a:srgbClr val="A9BEDF"/>
                </a:solidFill>
                <a:latin typeface="Calibri"/>
              </a:rPr>
              <a:t>Every figure on this page is computed by cost_stack.segment_cpo() and sla.cost_legs(), and asserted in audit.py. None of it is typed.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443984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2"/>
              </a:rPr>
              <a:t>RUN IT — colab.research.google.com/github/mba2501…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10128" y="4215384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47" name="Picture 46" descr="L5_Fulfilment_Model_QR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4242816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Basis proof, and the basket — why the identity closing exactly is 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A-6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41248"/>
            <a:ext cx="4160520" cy="123444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397763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BASIS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3977639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CONTRIBUTION IDENTITY, ON A GROSS BASIS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take rate            19.41%  of GOV        [8]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AOV                  ₹694                  [8]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revenue per order    ₹134.7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itemised cost stack  ₹93.0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unallocated residual ₹12.3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model contribution   ₹29.4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REPORTED contribution ₹29.4               [8]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difference            ₹0.0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39696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 i="0">
                <a:solidFill>
                  <a:srgbClr val="FFFFFF"/>
                </a:solidFill>
                <a:latin typeface="Calibri"/>
              </a:rPr>
              <a:t>A mixed basis cannot land on a reported figure. If we had built the stack on net order value and compared it to a gross-basis disclosure, the identity would miss by roughly the take rate — about ₹26 an order. It closes to zero, which is the only external check available on a cost stack we assembled ourselves.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743200"/>
            <a:ext cx="4160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9A8B"/>
                </a:solidFill>
                <a:latin typeface="Calibri"/>
              </a:rPr>
              <a:t>Round 1 quoted a city asset turn on a mixed basis. That figure is withdrawn — see A-8. Every turnover figure in this deck is gross, and the basis is named wherever it appears.</a:t>
            </a:r>
          </a:p>
        </p:txBody>
      </p:sp>
      <p:pic>
        <p:nvPicPr>
          <p:cNvPr id="10" name="Picture 9" descr="S6_basket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841248"/>
            <a:ext cx="3977639" cy="1105649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754880" y="2001761"/>
            <a:ext cx="3977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A9BEDF"/>
                </a:solidFill>
                <a:latin typeface="Calibri"/>
              </a:rPr>
              <a:t>basket.py — the one disclosed quarterly series in which an Indian operator actually lifted AOV by shifting non-grocery mix [10].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312657"/>
            <a:ext cx="3977639" cy="786384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367521"/>
            <a:ext cx="37947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AOV = 11.28·x + 390.9      x = non-grocery % of GOV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R² = 0.918     n = 4 quarters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LIMITATION, STATED: four points. We show the fit rather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than describe it, because four points shown honestly beat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a lifting rate asserted with no source at 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55264"/>
            <a:ext cx="4160520" cy="914400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32841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20" b="1" i="0">
                <a:solidFill>
                  <a:srgbClr val="FFC220"/>
                </a:solidFill>
                <a:latin typeface="Calibri"/>
              </a:rPr>
              <a:t>TWO WAYS TO READ THIS LINE, AND THE DECK USES BOTH — always with the basis named. As a LEVEL: 11.28x + 390.9 gives ₹729 at a 30% mix, which is the AOV the ROCE scenarios on slide 7 are computed at. As an ANCHORED DELTA from Minutes' own post-occasion basket (₹525): ₹637 at 30%, which is what the shock-coverage test on slide 8 measures against.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13632"/>
            <a:ext cx="3931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1">
                <a:solidFill>
                  <a:srgbClr val="A9BEDF"/>
                </a:solidFill>
                <a:latin typeface="Calibri"/>
              </a:rPr>
              <a:t>Different quantities, both correct. Each is quoted with its basis wherever it appears.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315968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4087368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19" name="Picture 18" descr="L6_Basket_Regression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14800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Return on capital — the closed form, and the two asset turns reconciled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A-6b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4_roce_hur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841248"/>
            <a:ext cx="3383280" cy="1497414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349240" y="2393526"/>
            <a:ext cx="3383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A9BEDF"/>
                </a:solidFill>
                <a:latin typeface="Calibri"/>
              </a:rPr>
              <a:t>roce.py — solved in closed form, not searched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259469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DAY-COUNT NOTE: the ₹571 breakeven ties to the ₹573 D2 spine within ₹2.14. The gap is a convention — a 365-day year here against 12 × 30-day months there. Asserted and left visible rather than smoothed away, because a reader who reconciles the two will find it anyway.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841248"/>
            <a:ext cx="4754880" cy="1078992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896112"/>
            <a:ext cx="45720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IDENTITY THE BENCHMARK IS SET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51560"/>
            <a:ext cx="457200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ROCE = EBIT/CE = (EBIT/NOV) × (NOV/CE)        [DuPont]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                 margin leg    turnover leg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   = 4.74% × 8.44×  =  40%   at AOV ₹755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AOV* = (ROCE·CE + F·12)/(τ·N) + c/τ      closed form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 no search, no goal-seek, one line of algebra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011680"/>
            <a:ext cx="475488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CAPITAL EMPLOYED, AND WHAT IT RETURNS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72284"/>
            <a:ext cx="31382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9700" y="2272284"/>
            <a:ext cx="16166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415844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432304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capex, midpoint of the band 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9700" y="2432304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₹235.0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583180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working capital, 14 NWC days [8]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9700" y="2583180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₹88.9 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717596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734056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FFFFFF"/>
                </a:solidFill>
                <a:latin typeface="Calibri"/>
              </a:rPr>
              <a:t>capital employed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9700" y="2734056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₹323.9 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2884932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AOV for ROCE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9700" y="2884932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₹571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019348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035808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AOV for the 40% hurdle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9700" y="3035808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₹755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186684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A9BEDF"/>
                </a:solidFill>
                <a:latin typeface="Calibri"/>
              </a:rPr>
              <a:t>post-tax at 25.17%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9700" y="3186684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₹817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321100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337560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IRR, 5-year life, 3-month ramp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49700" y="3337560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34.4%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3488436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A9BEDF"/>
                </a:solidFill>
                <a:latin typeface="Calibri"/>
              </a:rPr>
              <a:t>NPV at 12% / 15% [analytical sensitivities]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9700" y="3488436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₹157.6 L / ₹128.9 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3694176"/>
            <a:ext cx="4754880" cy="530352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7" y="3758184"/>
            <a:ext cx="45354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TWO ASSET TURNS, BOTH CORRECT.  6.93× is like-for-like at a COMMON AOV ₹450 — it isolates density × calendar and is the slide-4 quantity. 8.44× is the node's own turnover at its achieved AOV on capital employed including working capital — the DuPont leg. Always quote the basis.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4370832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10128" y="4142232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38" name="Picture 37" descr="L3_Return_Model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69664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District register and screen — 765 districts, four criteria, 111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A-7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5_aishe_distri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41248"/>
            <a:ext cx="3977639" cy="1442737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11480" y="2338849"/>
            <a:ext cx="3977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A9BEDF"/>
                </a:solidFill>
                <a:latin typeface="Calibri"/>
              </a:rPr>
              <a:t>aishe_district.py — the register is per-institution and carries the urban/rural flag and the district. Every row is an institution.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649745"/>
            <a:ext cx="3977639" cy="100584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704609"/>
            <a:ext cx="379475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SCREEN, IN ORDER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72,352 institutions  →  54,014 colleges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urban flag           →  21,000 urban (39.4%)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non-metro            →  17,805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≥ 5 urban colleges + Tier-1/2 + no metro overlap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                     →  111 of 765 districts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841248"/>
            <a:ext cx="41148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TOP CANDIDATES, AND THE FLAG THAT DISQUALIFIED MOST OF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101852"/>
            <a:ext cx="1399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DISTRICT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6752" y="1101852"/>
            <a:ext cx="11521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8896" y="1101852"/>
            <a:ext cx="8229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URBAN COLLEGES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1856" y="1101852"/>
            <a:ext cx="7406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PROXIMITY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1245412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261872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Khordha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1261872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Odisha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8896" y="1261872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1856" y="1261872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1431036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Kalaburagi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1431036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431036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229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1856" y="1431036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1583740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1600200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Belagavi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16752" y="1600200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1600200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91856" y="1600200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1769364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Visakhapatnam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16752" y="1769364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Andhra Prades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1769364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133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1769364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7720" y="1922068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1938528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Dharwad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16752" y="1938528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1938528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91856" y="1938528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2107692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Dakshina Kannada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16752" y="2107692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68896" y="2107692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91856" y="2107692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17720" y="2260396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17720" y="2276856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Mysuru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6752" y="2276856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68896" y="2276856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91856" y="2276856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17720" y="2446020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Bidar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2446020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8896" y="2446020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148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91856" y="2446020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17720" y="2598724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17720" y="2615184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Vijayapura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16752" y="2615184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2615184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91856" y="2615184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17720" y="2784348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Raichur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16752" y="2784348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68896" y="2784348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91856" y="2784348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17720" y="3035808"/>
            <a:ext cx="4114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CONTESTEDNESS: 9 uncontested, 22 contested, 80 stacked. Expected incumbent stores = urban colleges × non-metro store density, so 'uncontested' is arithmetically 'the smallest districts on the screen's own floor'. The flag ranks candidates; siting runs the cluster test. It disqualified 72% of our own shortlist.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17720" y="3712463"/>
            <a:ext cx="4114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FF9A8B"/>
                </a:solidFill>
                <a:latin typeface="Calibri"/>
              </a:rPr>
              <a:t>The register carries no enrolment [6], so district student counts are imputed off state ratios [7] and labelled as imputed everywhere they appear. Two instruments, never mixed.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1480" y="438912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8" y="416052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63" name="Picture 62" descr="L4_District_Screen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879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Calendar fragmentation — the shape of the break, not its 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A-7b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68680"/>
            <a:ext cx="484632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FOUR CALENDAR SHAPES, PRICED ON THE SAME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7572"/>
            <a:ext cx="222930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CALENDAR SHAPE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787" y="1147572"/>
            <a:ext cx="9692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WIND-DOWNABLE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0051" y="1147572"/>
            <a:ext cx="872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DEAD ZONE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2388" y="1147572"/>
            <a:ext cx="775411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vs 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1132"/>
            <a:ext cx="4846320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07592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Contiguous (model's current assump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787" y="1307592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0051" y="1307592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₹21.3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2388" y="1307592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+0%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504188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Typical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787" y="1504188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53%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0051" y="1504188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₹27.5 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2388" y="1504188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+29%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684324"/>
            <a:ext cx="4846320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1700784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Fragmented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40787" y="1700784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9A8B"/>
                </a:solidFill>
                <a:latin typeface="Calibri"/>
              </a:rPr>
              <a:t>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0051" y="1700784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₹31.6 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2388" y="1700784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9A8B"/>
                </a:solidFill>
                <a:latin typeface="Calibri"/>
              </a:rPr>
              <a:t>+49%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1897380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Semester system, one long summer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0787" y="1897380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0051" y="1897380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₹24.9 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2388" y="1897380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+17%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2423160"/>
            <a:ext cx="4846320" cy="93268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478024"/>
            <a:ext cx="466344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7-WEEK RULE, DERIVED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wind-down decision fires at   T − 21 days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ramp-up lead time              28 days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21 + 28 = 49 days = 7 weeks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a break shorter than 7 weeks cannot be wound down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at all: the two windows collide.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3438144"/>
            <a:ext cx="48463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60" b="0" i="1">
                <a:solidFill>
                  <a:srgbClr val="FFC220"/>
                </a:solidFill>
                <a:latin typeface="Calibri"/>
              </a:rPr>
              <a:t>This is why the site filter carries a calendar condition and not only a demand condition. Two campuses with identical annual downtime can differ by 40% in dead-zone cost purely on how that downtime is distributed.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913632"/>
            <a:ext cx="4846320" cy="786384"/>
          </a:xfrm>
          <a:prstGeom prst="roundRect">
            <a:avLst>
              <a:gd name="adj" fmla="val 9000"/>
            </a:avLst>
          </a:prstGeom>
          <a:noFill/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3986784"/>
            <a:ext cx="462686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WHAT THE SITE TEAM ACTUALLY CHECKS.  Pull the institution's published academic calendar. Mark every gap of 7 weeks or more — those are wind-downable and cost the base case. Mark every gap shorter than 7 weeks — those cannot be wound down and are charged at full fixed cost. A campus with one long summer beats a campus with the same total downtime split into four short breaks, and the difference is 29 points of dead-zone cost.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32120" y="868680"/>
            <a:ext cx="32004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WHAT IT CHANGES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1165860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active months, base case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1165860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FFFF"/>
                </a:solidFill>
                <a:latin typeface="Calibri"/>
              </a:rPr>
              <a:t>8.5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32120" y="1339596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2120" y="1380744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calendar surcharge σ = 12/m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1380744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C220"/>
                </a:solidFill>
                <a:latin typeface="Calibri"/>
              </a:rPr>
              <a:t>1.412×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32120" y="1554480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2120" y="1595628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do-nothing threshold 1/σ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1595628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9A8B"/>
                </a:solidFill>
                <a:latin typeface="Calibri"/>
              </a:rPr>
              <a:t>70.8%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32120" y="1769364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32120" y="1810512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minimum breakable segment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1810512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FFFF"/>
                </a:solidFill>
                <a:latin typeface="Calibri"/>
              </a:rPr>
              <a:t>7 weeks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32120" y="1984248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32120" y="2025395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shapes that cannot wind down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32120" y="2025395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9A8B"/>
                </a:solidFill>
                <a:latin typeface="Calibri"/>
              </a:rPr>
              <a:t>2 of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2281428"/>
            <a:ext cx="32004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The surcharge and the threshold are the same constant read from two directions: σ prices the calendar into the cost base, and 1/σ is the share of term demand a node must recover to survive a break it cannot mitigate. The identity closing twice is the reason we treat 70.8% as a structural fact rather than a modelled output.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32120" y="3035808"/>
            <a:ext cx="3200400" cy="1133856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23559" y="3090672"/>
            <a:ext cx="3017520" cy="10241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TWO WINDOWS, AND WHY THEY COLLIDE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T−21d  wind-down decision must fire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T−14d  rehire pool contacted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T+0    break begins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−28d   ramp-up must already be running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21 + 28 = 49 days of runway required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below that the decision and the ramp overlap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32120" y="4261104"/>
            <a:ext cx="32004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A9BEDF"/>
                </a:solidFill>
                <a:latin typeface="Calibri"/>
              </a:rPr>
              <a:t>Fragmentation is priced from published academic calendars, which is why every roadmap action on slide 8 is dated rather than volume-triggered.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Examined and rejected — six inputs that would have made the case easier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A-8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0" i="1">
                <a:solidFill>
                  <a:srgbClr val="A9BEDF"/>
                </a:solidFill>
                <a:latin typeface="Calibri"/>
              </a:rPr>
              <a:t>Each was in the corpus, each would have helped, and each failed a test on the same basis we applied to the inputs we kept.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60704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CRISIL per-tonne cold-storage rates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335024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given a sourced chiller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6070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The rate implies 41 tonnes of product inside a 3,100 sqft store. That is bulk agricultural storage, not an in-store chilled zone. Applying it would have priced a different asset.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060704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[17]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572768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6413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UBS: 2.7 orders per rider-hour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15667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raised our last-mile cost and made the runner look better.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64134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It is a FOOD DELIVERY productivity figure. Quick commerce batches; food delivery does not. We use J.P. Morgan's 4.0 orders/active hour for the same reason.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641348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[12]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153411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221991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Netscribes market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496311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given a headline TAM for the opening slide.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221991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Netscribes restated its own India quick-commerce market size by 59% within ten months. A number that moves that far in under a year cannot underwrite a capital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21991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[20]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734055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802635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Round 1's city asset 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076955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Our own number, and it flattered the comparison.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802635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It mixed a net-basis numerator with a gross-basis denominator, which is why it came out well above the gross-basis figure. Withdrawn and not restated anywhere in this deck. The gross-basis city turn is 7.34×, and the campus node is 6.93× against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802635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R1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14699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383279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Starship UK as a campus analogue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657599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given a direct campus precedent with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383279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Different contract shape and a robot fleet with different unit economics. We use the US exit as evidence about CONTRACT SHAPE — seasonal and contract-driven versus 365-day urban — not as a demand analogue.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3383279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[15]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895343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963923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Any simulated demand curve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238243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It is the standard move in this kind of analysis.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396392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We have no observed campus demand series to calibrate against, so a simulation would encode our own assumption and return it as a finding. We priced the calendar instead.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963923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475987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590288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FFC220"/>
                </a:solidFill>
                <a:latin typeface="Calibri"/>
              </a:rPr>
              <a:t>Nothing on a content slide rests on any of the six.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Literature screen — 47 records, 3 usable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A-9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68680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65860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Scopus records screened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65860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FFFFFF"/>
                </a:solidFill>
                <a:latin typeface="Calibri"/>
              </a:rPr>
              <a:t>47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48740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excluded: no campus/institutional setting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389888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A9BEDF"/>
                </a:solidFill>
                <a:latin typeface="Calibri"/>
              </a:rPr>
              <a:t>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72768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3916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excluded: no unit economics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13916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A9BEDF"/>
                </a:solidFill>
                <a:latin typeface="Calibri"/>
              </a:rPr>
              <a:t>14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796796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837944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excluded: simulation with no observed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837944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A9BEDF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020824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061972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USABLE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061972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7BD3A6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372868"/>
            <a:ext cx="39776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60" b="0" i="0">
                <a:solidFill>
                  <a:srgbClr val="FFFFFF"/>
                </a:solidFill>
                <a:latin typeface="Calibri"/>
              </a:rPr>
              <a:t>The exclusion that removed the most papers is the third: a literature of simulated demand curves calibrated on nothing observable. It is the same objection we make to our own Round 1 instinct, which is why we state it here rather than borrowing the method.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868680"/>
            <a:ext cx="41148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WHAT THE THREE ACTUALLY GIVE 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147572"/>
            <a:ext cx="4114800" cy="118872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59" y="1202436"/>
            <a:ext cx="393192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Kambli, Sinha &amp; Srinivas (2020)                    [18]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J. Hospitality &amp; Tourism Mgmt 43, 62–70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DOI 10.1016/j.jhtm.2020.02.008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labour reconfiguration beats capital substitution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in seasonal institutional foodservice — the finding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our fleet decision is built on, and the reason the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gate leg is a labour class and not a vehicle.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427732"/>
            <a:ext cx="4114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The other two are used only for framing and are not load-bearing: one on institutional catering seasonality, one on campus retail footfall. Neither supplies a number that enters the model, so neither is cited on a content slide. A paper that does not change a number does not earn a superscript.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310128"/>
            <a:ext cx="83210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740" b="1" i="0">
                <a:solidFill>
                  <a:srgbClr val="FFC220"/>
                </a:solidFill>
                <a:latin typeface="Calibri"/>
              </a:rPr>
              <a:t>ONE PAPER, LOAD-BEARING, CITED WHERE IT LOADS. Forty-four records were read and excluded on the criteria at left.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877056"/>
            <a:ext cx="8321040" cy="603504"/>
          </a:xfrm>
          <a:prstGeom prst="roundRect">
            <a:avLst>
              <a:gd name="adj" fmla="val 9000"/>
            </a:avLst>
          </a:prstGeom>
          <a:noFill/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968496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Method: Scopus, quick commerce OR dark store OR last mile AND campus OR institutional OR seasonal, 2015–2026, English, peer-reviewed. Screened on title and abstract, then full text for the 11 that survived. The screen is reproducible from that string.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Searched and did not find — seven inputs we went looking for and could not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0" i="1">
                <a:solidFill>
                  <a:srgbClr val="A9BEDF"/>
                </a:solidFill>
                <a:latin typeface="Calibri"/>
              </a:rPr>
              <a:t>Each of these would have replaced an assumption on A-3 with a sourced number. None exists in the public record we could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42415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kWh/day for a dark-store chiller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042415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replaced the ₹9.50/kWh tariff assumption with a measured 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042415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Operators disclose utilities blended into a single line. No equipment-level figure is published.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81328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40764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Lease lock-in and notice terms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54076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priced the dormancy clause rather than asserting it can be negotiated.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4076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No quick-commerce lease text is public. CRISIL covers warehousing, which is a different asset and tenor.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79676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39112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Any operator-disclosed batching multiple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039112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replaced our derived b(λ) with a reported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039112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Batching incidence is surveyed [12]; the multiple itself is not disclosed by any operator.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478024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53746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Doorstep dwell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53746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One of two unknowns in the trip identity. The other, batching, we solved.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53746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Measured in no public source. We test it across 0–0.5 km spread instead and show it is immaterial.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976372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035808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Any vacation demand index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3035808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replaced the 8–15% residual campus demand range with a curve.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035808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No Indian operator publishes seasonal demand by location type. Euromonitor has no education location type at all [14].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74720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534156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Flipkart Minutes' own take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3534156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removed our reliance on Blinkit's 19.41% as a proxy.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3534156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Not disclosed. We use the Blinkit figure and label it as a proxy everywhere it appears [8].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973068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032504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Campus-delivery contract text with a seasonal-abatement clause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403250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made the dormancy clause a precedent rather than a proposal.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03250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UC Davis publishes the programme but not the agreement [16]. We propose the clause; we do not claim it exists.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471416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57200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FFC220"/>
                </a:solidFill>
                <a:latin typeface="Calibri"/>
              </a:rPr>
              <a:t>Seven gaps, named. Five of them are why A-3 still carries five assumptions.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0</Words>
  <Application>Microsoft Macintosh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Inter</vt:lpstr>
      <vt:lpstr>Arial</vt:lpstr>
      <vt:lpstr>Simple Light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ABHISHEK DUBEY</cp:lastModifiedBy>
  <cp:revision>4</cp:revision>
  <dcterms:modified xsi:type="dcterms:W3CDTF">2026-08-29T06:28:13Z</dcterms:modified>
</cp:coreProperties>
</file>